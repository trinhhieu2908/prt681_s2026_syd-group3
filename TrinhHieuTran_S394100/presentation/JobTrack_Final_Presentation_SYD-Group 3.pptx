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4"/>
  </p:notesMasterIdLst>
  <p:sldIdLst>
    <p:sldId id="256" r:id="rId5"/>
    <p:sldId id="275" r:id="rId6"/>
    <p:sldId id="257" r:id="rId7"/>
    <p:sldId id="258" r:id="rId8"/>
    <p:sldId id="276" r:id="rId9"/>
    <p:sldId id="259" r:id="rId10"/>
    <p:sldId id="260" r:id="rId11"/>
    <p:sldId id="261" r:id="rId12"/>
    <p:sldId id="263" r:id="rId13"/>
    <p:sldId id="277" r:id="rId14"/>
    <p:sldId id="278" r:id="rId15"/>
    <p:sldId id="265" r:id="rId16"/>
    <p:sldId id="266" r:id="rId17"/>
    <p:sldId id="267" r:id="rId18"/>
    <p:sldId id="271" r:id="rId19"/>
    <p:sldId id="273" r:id="rId20"/>
    <p:sldId id="279" r:id="rId21"/>
    <p:sldId id="280" r:id="rId22"/>
    <p:sldId id="26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573" autoAdjust="0"/>
  </p:normalViewPr>
  <p:slideViewPr>
    <p:cSldViewPr snapToGrid="0" snapToObjects="1">
      <p:cViewPr varScale="1">
        <p:scale>
          <a:sx n="85" d="100"/>
          <a:sy n="85" d="100"/>
        </p:scale>
        <p:origin x="2496" y="176"/>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US" sz="1300" b="1">
                <a:solidFill>
                  <a:srgbClr val="211B42"/>
                </a:solidFill>
              </a:rPr>
              <a:t>Conversion by platform (%)</a:t>
            </a:r>
          </a:p>
        </c:rich>
      </c:tx>
      <c:overlay val="0"/>
    </c:title>
    <c:autoTitleDeleted val="0"/>
    <c:plotArea>
      <c:layout/>
      <c:barChart>
        <c:barDir val="bar"/>
        <c:grouping val="clustered"/>
        <c:varyColors val="1"/>
        <c:ser>
          <c:idx val="0"/>
          <c:order val="0"/>
          <c:tx>
            <c:strRef>
              <c:f>Sheet1!$B$1</c:f>
              <c:strCache>
                <c:ptCount val="1"/>
                <c:pt idx="0">
                  <c:v>Reached interview (%)</c:v>
                </c:pt>
              </c:strCache>
            </c:strRef>
          </c:tx>
          <c:spPr>
            <a:solidFill>
              <a:srgbClr val="197566"/>
            </a:solidFill>
          </c:spPr>
          <c:invertIfNegative val="1"/>
          <c:dLbls>
            <c:spPr>
              <a:noFill/>
              <a:ln>
                <a:noFill/>
              </a:ln>
              <a:effectLst/>
            </c:spPr>
            <c:txPr>
              <a:bodyPr/>
              <a:lstStyle/>
              <a:p>
                <a:pPr>
                  <a:defRPr sz="1100" b="1">
                    <a:solidFill>
                      <a:srgbClr val="2B2D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Referral</c:v>
                </c:pt>
                <c:pt idx="1">
                  <c:v>Indeed</c:v>
                </c:pt>
                <c:pt idx="2">
                  <c:v>LinkedIn</c:v>
                </c:pt>
                <c:pt idx="3">
                  <c:v>SEEK</c:v>
                </c:pt>
                <c:pt idx="4">
                  <c:v>Company Website</c:v>
                </c:pt>
              </c:strCache>
            </c:strRef>
          </c:cat>
          <c:val>
            <c:numRef>
              <c:f>Sheet1!$B$2:$B$6</c:f>
              <c:numCache>
                <c:formatCode>General</c:formatCode>
                <c:ptCount val="5"/>
                <c:pt idx="0">
                  <c:v>62</c:v>
                </c:pt>
                <c:pt idx="1">
                  <c:v>59</c:v>
                </c:pt>
                <c:pt idx="2">
                  <c:v>56</c:v>
                </c:pt>
                <c:pt idx="3">
                  <c:v>50</c:v>
                </c:pt>
                <c:pt idx="4">
                  <c:v>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3AF-4955-96D0-98532955CBDD}"/>
            </c:ext>
          </c:extLst>
        </c:ser>
        <c:ser>
          <c:idx val="1"/>
          <c:order val="1"/>
          <c:tx>
            <c:strRef>
              <c:f>Sheet1!$C$1</c:f>
              <c:strCache>
                <c:ptCount val="1"/>
                <c:pt idx="0">
                  <c:v>Reached offer (%)</c:v>
                </c:pt>
              </c:strCache>
            </c:strRef>
          </c:tx>
          <c:spPr>
            <a:solidFill>
              <a:srgbClr val="211B42"/>
            </a:solidFill>
          </c:spPr>
          <c:invertIfNegative val="1"/>
          <c:dLbls>
            <c:spPr>
              <a:noFill/>
              <a:ln>
                <a:noFill/>
              </a:ln>
              <a:effectLst/>
            </c:spPr>
            <c:txPr>
              <a:bodyPr/>
              <a:lstStyle/>
              <a:p>
                <a:pPr>
                  <a:defRPr sz="1100" b="1">
                    <a:solidFill>
                      <a:srgbClr val="2B2D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Referral</c:v>
                </c:pt>
                <c:pt idx="1">
                  <c:v>Indeed</c:v>
                </c:pt>
                <c:pt idx="2">
                  <c:v>LinkedIn</c:v>
                </c:pt>
                <c:pt idx="3">
                  <c:v>SEEK</c:v>
                </c:pt>
                <c:pt idx="4">
                  <c:v>Company Website</c:v>
                </c:pt>
              </c:strCache>
            </c:strRef>
          </c:cat>
          <c:val>
            <c:numRef>
              <c:f>Sheet1!$C$2:$C$6</c:f>
              <c:numCache>
                <c:formatCode>General</c:formatCode>
                <c:ptCount val="5"/>
                <c:pt idx="0">
                  <c:v>19</c:v>
                </c:pt>
                <c:pt idx="1">
                  <c:v>12</c:v>
                </c:pt>
                <c:pt idx="2">
                  <c:v>12</c:v>
                </c:pt>
                <c:pt idx="3">
                  <c:v>0</c:v>
                </c:pt>
                <c:pt idx="4">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3AF-4955-96D0-98532955CBD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9DB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2B2D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Pooja · about 30 seconds</a:t>
            </a:r>
          </a:p>
          <a:p>
            <a:endParaRPr/>
          </a:p>
          <a:p>
            <a:r>
              <a:t>Here's our team and what each of us did.</a:t>
            </a:r>
          </a:p>
          <a:p>
            <a:endParaRPr/>
          </a:p>
          <a:p>
            <a:r>
              <a:t>I covered business analysis, report and data analysis, and QA: I updated the BRD and SRS to version 2.0, built the dataset and Power BI model, created the status transition and traceability matrices, built the automated tests, and wrote the User Manual.</a:t>
            </a:r>
          </a:p>
          <a:p>
            <a:endParaRPr/>
          </a:p>
          <a:p>
            <a:r>
              <a:t>Hieu was our Developer and Database Administrator: he built the React frontend and the API, designed the PostgreSQL database, set up S3 document storage, and he'll run the live demo.</a:t>
            </a:r>
          </a:p>
          <a:p>
            <a:endParaRPr/>
          </a:p>
          <a:p>
            <a:r>
              <a:t>Prince was our Tester and executed the manual test cases.</a:t>
            </a:r>
          </a:p>
          <a:p>
            <a:endParaRPr/>
          </a:p>
          <a:p>
            <a:r>
              <a:t>I'll start with the requirements.</a:t>
            </a:r>
          </a:p>
          <a:p>
            <a:endParaRPr/>
          </a:p>
          <a:p>
            <a:r>
              <a:t>[Click]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40E4A-438F-20EB-EADF-45A669969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28F76-5DB7-389A-9B06-680E4C0621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2A6B12D-B2A0-EEC8-F9A7-EBDB93EA65D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993CA8C-8112-23EA-34C3-A6E1FFFDD5E7}"/>
              </a:ext>
            </a:extLst>
          </p:cNvPr>
          <p:cNvSpPr>
            <a:spLocks noGrp="1"/>
          </p:cNvSpPr>
          <p:nvPr>
            <p:ph type="sldNum" sz="quarter" idx="5"/>
          </p:nvPr>
        </p:nvSpPr>
        <p:spPr/>
      </p:sp>
    </p:spTree>
    <p:extLst>
      <p:ext uri="{BB962C8B-B14F-4D97-AF65-F5344CB8AC3E}">
        <p14:creationId xmlns:p14="http://schemas.microsoft.com/office/powerpoint/2010/main" val="125324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F34CF-2E8B-E9B0-2267-D93A43337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A289C-2077-11CF-F0D3-8E87E317FD8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55B2287-6BEF-1FF5-7907-07C08BA88CF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E3945CB-89FC-C3D1-6A43-C7EA40598F13}"/>
              </a:ext>
            </a:extLst>
          </p:cNvPr>
          <p:cNvSpPr>
            <a:spLocks noGrp="1"/>
          </p:cNvSpPr>
          <p:nvPr>
            <p:ph type="sldNum" sz="quarter" idx="5"/>
          </p:nvPr>
        </p:nvSpPr>
        <p:spPr/>
      </p:sp>
    </p:spTree>
    <p:extLst>
      <p:ext uri="{BB962C8B-B14F-4D97-AF65-F5344CB8AC3E}">
        <p14:creationId xmlns:p14="http://schemas.microsoft.com/office/powerpoint/2010/main" val="2369719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4714D-91DB-42DF-8626-9D68014A174E}"/>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B9E369C4-E61B-4BAA-9A53-7E89719EF3F7}"/>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20904F3C-3FD9-4D54-8256-66C691A0805E}"/>
              </a:ext>
            </a:extLst>
          </p:cNvPr>
          <p:cNvSpPr>
            <a:spLocks noGrp="1"/>
          </p:cNvSpPr>
          <p:nvPr>
            <p:ph type="dt" idx="10"/>
          </p:nvPr>
        </p:nvSpPr>
        <p:spPr/>
        <p:txBody>
          <a:bodyPr/>
          <a:lstStyle/>
          <a:p>
            <a:fld id="{319CC865-6D52-E54D-B382-345C402D5468}" type="datetime1">
              <a:t>10/13/26</a:t>
            </a:fld>
            <a:endParaRPr/>
          </a:p>
        </p:txBody>
      </p:sp>
      <p:sp>
        <p:nvSpPr>
          <p:cNvPr id="5" name="Footer Placeholder 4">
            <a:extLst>
              <a:ext uri="{FF2B5EF4-FFF2-40B4-BE49-F238E27FC236}">
                <a16:creationId xmlns:a16="http://schemas.microsoft.com/office/drawing/2014/main" id="{7DEE77F5-5E74-4CBA-AA7F-C5E6AC53DE20}"/>
              </a:ext>
            </a:extLst>
          </p:cNvPr>
          <p:cNvSpPr>
            <a:spLocks noGrp="1"/>
          </p:cNvSpPr>
          <p:nvPr>
            <p:ph type="ftr" idx="11"/>
          </p:nvPr>
        </p:nvSpPr>
        <p:spPr/>
        <p:txBody>
          <a:bodyPr/>
          <a:lstStyle/>
          <a:p>
            <a:r>
              <a:t>Fotter to add</a:t>
            </a:r>
          </a:p>
        </p:txBody>
      </p:sp>
      <p:sp>
        <p:nvSpPr>
          <p:cNvPr id="6" name="Slide Number Placeholder 5">
            <a:extLst>
              <a:ext uri="{FF2B5EF4-FFF2-40B4-BE49-F238E27FC236}">
                <a16:creationId xmlns:a16="http://schemas.microsoft.com/office/drawing/2014/main" id="{B8BF8E0D-C787-468C-81CB-E880B40AD19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E7A04-837C-4D46-BB92-EA7007454608}"/>
              </a:ext>
            </a:extLst>
          </p:cNvPr>
          <p:cNvSpPr>
            <a:spLocks noGrp="1"/>
          </p:cNvSpPr>
          <p:nvPr>
            <p:ph type="title"/>
          </p:nvPr>
        </p:nvSpPr>
        <p:spPr>
          <a:xfrm>
            <a:off x="457200" y="626722"/>
            <a:ext cx="8229600" cy="883382"/>
          </a:xfrm>
        </p:spPr>
        <p:txBody>
          <a:bodyPr/>
          <a:lstStyle/>
          <a:p>
            <a:r>
              <a:t>Click to edit Master title style</a:t>
            </a:r>
          </a:p>
        </p:txBody>
      </p:sp>
      <p:sp>
        <p:nvSpPr>
          <p:cNvPr id="3" name="Content Placeholder 2">
            <a:extLst>
              <a:ext uri="{FF2B5EF4-FFF2-40B4-BE49-F238E27FC236}">
                <a16:creationId xmlns:a16="http://schemas.microsoft.com/office/drawing/2014/main" id="{51BD9587-3C63-43A7-8CE6-908A1C6D74B8}"/>
              </a:ext>
            </a:extLst>
          </p:cNvPr>
          <p:cNvSpPr>
            <a:spLocks noGrp="1"/>
          </p:cNvSpPr>
          <p:nvPr>
            <p:ph idx="1"/>
          </p:nvPr>
        </p:nvSpPr>
        <p:spPr>
          <a:xfrm>
            <a:off x="457200" y="1643866"/>
            <a:ext cx="8229600" cy="448229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C6D89D5-9707-4C11-A3B1-6E75E3415EA3}"/>
              </a:ext>
            </a:extLst>
          </p:cNvPr>
          <p:cNvSpPr>
            <a:spLocks noGrp="1"/>
          </p:cNvSpPr>
          <p:nvPr>
            <p:ph type="dt" idx="10"/>
          </p:nvPr>
        </p:nvSpPr>
        <p:spPr/>
        <p:txBody>
          <a:bodyPr/>
          <a:lstStyle/>
          <a:p>
            <a:fld id="{A8B0D8D5-D149-2545-BAF4-79F9494FE907}" type="datetime1">
              <a:t>10/13/26</a:t>
            </a:fld>
            <a:endParaRPr/>
          </a:p>
        </p:txBody>
      </p:sp>
      <p:sp>
        <p:nvSpPr>
          <p:cNvPr id="5" name="Footer Placeholder 4">
            <a:extLst>
              <a:ext uri="{FF2B5EF4-FFF2-40B4-BE49-F238E27FC236}">
                <a16:creationId xmlns:a16="http://schemas.microsoft.com/office/drawing/2014/main" id="{4FD3E4C3-6244-4E16-B48A-00CB51E72E46}"/>
              </a:ext>
            </a:extLst>
          </p:cNvPr>
          <p:cNvSpPr>
            <a:spLocks noGrp="1"/>
          </p:cNvSpPr>
          <p:nvPr>
            <p:ph type="ftr" idx="11"/>
          </p:nvPr>
        </p:nvSpPr>
        <p:spPr/>
        <p:txBody>
          <a:bodyPr/>
          <a:lstStyle/>
          <a:p>
            <a:r>
              <a:t>Fotter to add</a:t>
            </a:r>
          </a:p>
        </p:txBody>
      </p:sp>
      <p:sp>
        <p:nvSpPr>
          <p:cNvPr id="6" name="Slide Number Placeholder 5">
            <a:extLst>
              <a:ext uri="{FF2B5EF4-FFF2-40B4-BE49-F238E27FC236}">
                <a16:creationId xmlns:a16="http://schemas.microsoft.com/office/drawing/2014/main" id="{0CAC8CD9-1815-473A-B978-C4425AE9CD8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CC709-54E0-4C74-9B9E-736E65B912C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5F9E8EE-ADA9-4195-9D2D-00511BCACD48}"/>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0BB08B79-0553-4B28-9474-ED792B35F174}"/>
              </a:ext>
            </a:extLst>
          </p:cNvPr>
          <p:cNvSpPr>
            <a:spLocks noGrp="1"/>
          </p:cNvSpPr>
          <p:nvPr>
            <p:ph type="dt" idx="10"/>
          </p:nvPr>
        </p:nvSpPr>
        <p:spPr/>
        <p:txBody>
          <a:bodyPr/>
          <a:lstStyle/>
          <a:p>
            <a:fld id="{789B5313-C981-2B4F-80BE-C1F095AA66CE}" type="datetime1">
              <a:t>10/13/26</a:t>
            </a:fld>
            <a:endParaRPr/>
          </a:p>
        </p:txBody>
      </p:sp>
      <p:sp>
        <p:nvSpPr>
          <p:cNvPr id="5" name="Footer Placeholder 4">
            <a:extLst>
              <a:ext uri="{FF2B5EF4-FFF2-40B4-BE49-F238E27FC236}">
                <a16:creationId xmlns:a16="http://schemas.microsoft.com/office/drawing/2014/main" id="{5F6730A1-755F-41BD-A5E4-3AE00992C9DA}"/>
              </a:ext>
            </a:extLst>
          </p:cNvPr>
          <p:cNvSpPr>
            <a:spLocks noGrp="1"/>
          </p:cNvSpPr>
          <p:nvPr>
            <p:ph type="ftr" idx="11"/>
          </p:nvPr>
        </p:nvSpPr>
        <p:spPr/>
        <p:txBody>
          <a:bodyPr/>
          <a:lstStyle/>
          <a:p>
            <a:r>
              <a:t>Fotter to add</a:t>
            </a:r>
          </a:p>
        </p:txBody>
      </p:sp>
      <p:sp>
        <p:nvSpPr>
          <p:cNvPr id="6" name="Slide Number Placeholder 5">
            <a:extLst>
              <a:ext uri="{FF2B5EF4-FFF2-40B4-BE49-F238E27FC236}">
                <a16:creationId xmlns:a16="http://schemas.microsoft.com/office/drawing/2014/main" id="{A1415601-700A-4114-9D9C-C10C7E81B6A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5A609-7BB3-452B-9ED2-756BC48DEEEE}"/>
              </a:ext>
            </a:extLst>
          </p:cNvPr>
          <p:cNvSpPr>
            <a:spLocks noGrp="1"/>
          </p:cNvSpPr>
          <p:nvPr>
            <p:ph type="title"/>
          </p:nvPr>
        </p:nvSpPr>
        <p:spPr>
          <a:xfrm>
            <a:off x="457200" y="554804"/>
            <a:ext cx="8229600" cy="862834"/>
          </a:xfrm>
        </p:spPr>
        <p:txBody>
          <a:bodyPr/>
          <a:lstStyle/>
          <a:p>
            <a:r>
              <a:t>Click to edit Master title style</a:t>
            </a:r>
          </a:p>
        </p:txBody>
      </p:sp>
      <p:sp>
        <p:nvSpPr>
          <p:cNvPr id="3" name="Content Placeholder 2">
            <a:extLst>
              <a:ext uri="{FF2B5EF4-FFF2-40B4-BE49-F238E27FC236}">
                <a16:creationId xmlns:a16="http://schemas.microsoft.com/office/drawing/2014/main" id="{8DD5ACB0-9478-4CDA-B1CC-4C7E9187D804}"/>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E2C32B55-E84D-499C-A6C2-8CEBAE8DE5C8}"/>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006B3EE8-1D19-4354-B733-592D79F1E68B}"/>
              </a:ext>
            </a:extLst>
          </p:cNvPr>
          <p:cNvSpPr>
            <a:spLocks noGrp="1"/>
          </p:cNvSpPr>
          <p:nvPr>
            <p:ph type="dt" idx="10"/>
          </p:nvPr>
        </p:nvSpPr>
        <p:spPr/>
        <p:txBody>
          <a:bodyPr/>
          <a:lstStyle/>
          <a:p>
            <a:fld id="{060B0A21-EEF9-764A-BC86-5BA0DB794A69}" type="datetime1">
              <a:t>10/13/26</a:t>
            </a:fld>
            <a:endParaRPr/>
          </a:p>
        </p:txBody>
      </p:sp>
      <p:sp>
        <p:nvSpPr>
          <p:cNvPr id="6" name="Footer Placeholder 5">
            <a:extLst>
              <a:ext uri="{FF2B5EF4-FFF2-40B4-BE49-F238E27FC236}">
                <a16:creationId xmlns:a16="http://schemas.microsoft.com/office/drawing/2014/main" id="{E004930E-64E1-477D-9644-5859DE1B8FED}"/>
              </a:ext>
            </a:extLst>
          </p:cNvPr>
          <p:cNvSpPr>
            <a:spLocks noGrp="1"/>
          </p:cNvSpPr>
          <p:nvPr>
            <p:ph type="ftr" idx="11"/>
          </p:nvPr>
        </p:nvSpPr>
        <p:spPr/>
        <p:txBody>
          <a:bodyPr/>
          <a:lstStyle/>
          <a:p>
            <a:r>
              <a:t>Fotter to add</a:t>
            </a:r>
          </a:p>
        </p:txBody>
      </p:sp>
      <p:sp>
        <p:nvSpPr>
          <p:cNvPr id="7" name="Slide Number Placeholder 6">
            <a:extLst>
              <a:ext uri="{FF2B5EF4-FFF2-40B4-BE49-F238E27FC236}">
                <a16:creationId xmlns:a16="http://schemas.microsoft.com/office/drawing/2014/main" id="{3A654484-88F8-4298-98A5-4DF45463939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D724A-B1FB-40B9-AA18-1987E51D9500}"/>
              </a:ext>
            </a:extLst>
          </p:cNvPr>
          <p:cNvSpPr>
            <a:spLocks noGrp="1"/>
          </p:cNvSpPr>
          <p:nvPr>
            <p:ph type="title"/>
          </p:nvPr>
        </p:nvSpPr>
        <p:spPr>
          <a:xfrm>
            <a:off x="457200" y="595900"/>
            <a:ext cx="8229600" cy="821737"/>
          </a:xfrm>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E1333A82-320E-4467-A7CD-408066D118A3}"/>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F2A1125-6400-4052-89C2-29C290C4DAA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2118E97-440E-483A-8EBE-74D37C590C6F}"/>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E65910BC-FAC3-4A52-A0A9-C33CB9D3CD64}"/>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E2EAE398-D48F-449E-B4C8-D0D256E8711A}"/>
              </a:ext>
            </a:extLst>
          </p:cNvPr>
          <p:cNvSpPr>
            <a:spLocks noGrp="1"/>
          </p:cNvSpPr>
          <p:nvPr>
            <p:ph type="dt" idx="10"/>
          </p:nvPr>
        </p:nvSpPr>
        <p:spPr/>
        <p:txBody>
          <a:bodyPr/>
          <a:lstStyle/>
          <a:p>
            <a:fld id="{F7AED93F-8787-E54F-AA7A-D9E03DD9A0C0}" type="datetime1">
              <a:t>10/13/26</a:t>
            </a:fld>
            <a:endParaRPr/>
          </a:p>
        </p:txBody>
      </p:sp>
      <p:sp>
        <p:nvSpPr>
          <p:cNvPr id="8" name="Footer Placeholder 7">
            <a:extLst>
              <a:ext uri="{FF2B5EF4-FFF2-40B4-BE49-F238E27FC236}">
                <a16:creationId xmlns:a16="http://schemas.microsoft.com/office/drawing/2014/main" id="{1B1D6CE7-B8C7-427E-970B-1EE4BBCB58A1}"/>
              </a:ext>
            </a:extLst>
          </p:cNvPr>
          <p:cNvSpPr>
            <a:spLocks noGrp="1"/>
          </p:cNvSpPr>
          <p:nvPr>
            <p:ph type="ftr" idx="11"/>
          </p:nvPr>
        </p:nvSpPr>
        <p:spPr/>
        <p:txBody>
          <a:bodyPr/>
          <a:lstStyle/>
          <a:p>
            <a:r>
              <a:t>Fotter to add</a:t>
            </a:r>
          </a:p>
        </p:txBody>
      </p:sp>
      <p:sp>
        <p:nvSpPr>
          <p:cNvPr id="9" name="Slide Number Placeholder 8">
            <a:extLst>
              <a:ext uri="{FF2B5EF4-FFF2-40B4-BE49-F238E27FC236}">
                <a16:creationId xmlns:a16="http://schemas.microsoft.com/office/drawing/2014/main" id="{CAA2A567-83E9-425B-8F3D-58B304124BB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00EAA-C309-40EE-B8FF-E578AFB9EB4E}"/>
              </a:ext>
            </a:extLst>
          </p:cNvPr>
          <p:cNvSpPr>
            <a:spLocks noGrp="1"/>
          </p:cNvSpPr>
          <p:nvPr>
            <p:ph type="title"/>
          </p:nvPr>
        </p:nvSpPr>
        <p:spPr>
          <a:xfrm>
            <a:off x="457200" y="606174"/>
            <a:ext cx="8229600" cy="811463"/>
          </a:xfrm>
        </p:spPr>
        <p:txBody>
          <a:bodyPr/>
          <a:lstStyle/>
          <a:p>
            <a:r>
              <a:t>Click to edit Master title style</a:t>
            </a:r>
          </a:p>
        </p:txBody>
      </p:sp>
      <p:sp>
        <p:nvSpPr>
          <p:cNvPr id="3" name="Date Placeholder 2">
            <a:extLst>
              <a:ext uri="{FF2B5EF4-FFF2-40B4-BE49-F238E27FC236}">
                <a16:creationId xmlns:a16="http://schemas.microsoft.com/office/drawing/2014/main" id="{D8C27F25-805C-47A6-9A71-A5285FDF5633}"/>
              </a:ext>
            </a:extLst>
          </p:cNvPr>
          <p:cNvSpPr>
            <a:spLocks noGrp="1"/>
          </p:cNvSpPr>
          <p:nvPr>
            <p:ph type="dt" idx="10"/>
          </p:nvPr>
        </p:nvSpPr>
        <p:spPr/>
        <p:txBody>
          <a:bodyPr/>
          <a:lstStyle/>
          <a:p>
            <a:fld id="{876E1100-2E55-3E49-927D-EA4DC8195044}" type="datetime1">
              <a:t>10/13/26</a:t>
            </a:fld>
            <a:endParaRPr/>
          </a:p>
        </p:txBody>
      </p:sp>
      <p:sp>
        <p:nvSpPr>
          <p:cNvPr id="4" name="Footer Placeholder 3">
            <a:extLst>
              <a:ext uri="{FF2B5EF4-FFF2-40B4-BE49-F238E27FC236}">
                <a16:creationId xmlns:a16="http://schemas.microsoft.com/office/drawing/2014/main" id="{5C42FE2C-A6EA-4C4F-8991-6B02681DAFEE}"/>
              </a:ext>
            </a:extLst>
          </p:cNvPr>
          <p:cNvSpPr>
            <a:spLocks noGrp="1"/>
          </p:cNvSpPr>
          <p:nvPr>
            <p:ph type="ftr" idx="11"/>
          </p:nvPr>
        </p:nvSpPr>
        <p:spPr/>
        <p:txBody>
          <a:bodyPr/>
          <a:lstStyle/>
          <a:p>
            <a:r>
              <a:t>Fotter to add</a:t>
            </a:r>
          </a:p>
        </p:txBody>
      </p:sp>
      <p:sp>
        <p:nvSpPr>
          <p:cNvPr id="5" name="Slide Number Placeholder 4">
            <a:extLst>
              <a:ext uri="{FF2B5EF4-FFF2-40B4-BE49-F238E27FC236}">
                <a16:creationId xmlns:a16="http://schemas.microsoft.com/office/drawing/2014/main" id="{3867340D-BE08-4FC5-81E4-8DF1F51A5E0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D96FEA-2FAF-4020-80FF-17197E96579B}"/>
              </a:ext>
            </a:extLst>
          </p:cNvPr>
          <p:cNvSpPr>
            <a:spLocks noGrp="1"/>
          </p:cNvSpPr>
          <p:nvPr>
            <p:ph type="dt" idx="10"/>
          </p:nvPr>
        </p:nvSpPr>
        <p:spPr/>
        <p:txBody>
          <a:bodyPr/>
          <a:lstStyle/>
          <a:p>
            <a:fld id="{BED69CDE-3657-1D4E-991F-B935E24DC12F}" type="datetime1">
              <a:t>10/13/26</a:t>
            </a:fld>
            <a:endParaRPr/>
          </a:p>
        </p:txBody>
      </p:sp>
      <p:sp>
        <p:nvSpPr>
          <p:cNvPr id="3" name="Footer Placeholder 2">
            <a:extLst>
              <a:ext uri="{FF2B5EF4-FFF2-40B4-BE49-F238E27FC236}">
                <a16:creationId xmlns:a16="http://schemas.microsoft.com/office/drawing/2014/main" id="{E04DA9F1-0F3D-4A82-9EBC-648C2BEA37AA}"/>
              </a:ext>
            </a:extLst>
          </p:cNvPr>
          <p:cNvSpPr>
            <a:spLocks noGrp="1"/>
          </p:cNvSpPr>
          <p:nvPr>
            <p:ph type="ftr" idx="11"/>
          </p:nvPr>
        </p:nvSpPr>
        <p:spPr/>
        <p:txBody>
          <a:bodyPr/>
          <a:lstStyle/>
          <a:p>
            <a:r>
              <a:t>Fotter to add</a:t>
            </a:r>
          </a:p>
        </p:txBody>
      </p:sp>
      <p:sp>
        <p:nvSpPr>
          <p:cNvPr id="4" name="Slide Number Placeholder 3">
            <a:extLst>
              <a:ext uri="{FF2B5EF4-FFF2-40B4-BE49-F238E27FC236}">
                <a16:creationId xmlns:a16="http://schemas.microsoft.com/office/drawing/2014/main" id="{E02A1245-D69D-4E01-BA01-BA824C2AC58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234AF-0649-405D-8319-CCBC06DAF9D9}"/>
              </a:ext>
            </a:extLst>
          </p:cNvPr>
          <p:cNvSpPr>
            <a:spLocks noGrp="1"/>
          </p:cNvSpPr>
          <p:nvPr>
            <p:ph type="title"/>
          </p:nvPr>
        </p:nvSpPr>
        <p:spPr>
          <a:xfrm>
            <a:off x="457200" y="570999"/>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66486816-01E6-4615-9316-B4D5D2AB99CF}"/>
              </a:ext>
            </a:extLst>
          </p:cNvPr>
          <p:cNvSpPr>
            <a:spLocks noGrp="1"/>
          </p:cNvSpPr>
          <p:nvPr>
            <p:ph idx="1"/>
          </p:nvPr>
        </p:nvSpPr>
        <p:spPr>
          <a:xfrm>
            <a:off x="3575050" y="565079"/>
            <a:ext cx="5111750" cy="5561084"/>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39129A06-619B-449A-AEF4-F8C8DC3F5E52}"/>
              </a:ext>
            </a:extLst>
          </p:cNvPr>
          <p:cNvSpPr>
            <a:spLocks noGrp="1"/>
          </p:cNvSpPr>
          <p:nvPr>
            <p:ph type="body" idx="2"/>
          </p:nvPr>
        </p:nvSpPr>
        <p:spPr>
          <a:xfrm>
            <a:off x="457200" y="1818526"/>
            <a:ext cx="3008313" cy="43076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EE6F5178-A082-459B-B868-D6DD0B747A5C}"/>
              </a:ext>
            </a:extLst>
          </p:cNvPr>
          <p:cNvSpPr>
            <a:spLocks noGrp="1"/>
          </p:cNvSpPr>
          <p:nvPr>
            <p:ph type="dt" idx="10"/>
          </p:nvPr>
        </p:nvSpPr>
        <p:spPr/>
        <p:txBody>
          <a:bodyPr/>
          <a:lstStyle/>
          <a:p>
            <a:fld id="{C48BEFA6-B94C-C942-9779-508607DA7916}" type="datetime1">
              <a:t>10/13/26</a:t>
            </a:fld>
            <a:endParaRPr/>
          </a:p>
        </p:txBody>
      </p:sp>
      <p:sp>
        <p:nvSpPr>
          <p:cNvPr id="6" name="Footer Placeholder 5">
            <a:extLst>
              <a:ext uri="{FF2B5EF4-FFF2-40B4-BE49-F238E27FC236}">
                <a16:creationId xmlns:a16="http://schemas.microsoft.com/office/drawing/2014/main" id="{EB02C294-4839-4079-B20E-B7CF6A8ADB59}"/>
              </a:ext>
            </a:extLst>
          </p:cNvPr>
          <p:cNvSpPr>
            <a:spLocks noGrp="1"/>
          </p:cNvSpPr>
          <p:nvPr>
            <p:ph type="ftr" idx="11"/>
          </p:nvPr>
        </p:nvSpPr>
        <p:spPr/>
        <p:txBody>
          <a:bodyPr/>
          <a:lstStyle/>
          <a:p>
            <a:r>
              <a:t>Fotter to add</a:t>
            </a:r>
          </a:p>
        </p:txBody>
      </p:sp>
      <p:sp>
        <p:nvSpPr>
          <p:cNvPr id="7" name="Slide Number Placeholder 6">
            <a:extLst>
              <a:ext uri="{FF2B5EF4-FFF2-40B4-BE49-F238E27FC236}">
                <a16:creationId xmlns:a16="http://schemas.microsoft.com/office/drawing/2014/main" id="{7ED08DFA-01D9-41B9-8F0B-D4C433E2FA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A01DD-6142-4142-8FF9-1CCCE81EE6A0}"/>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1CF2B69-5BCB-4383-9A95-C526B3D428E0}"/>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AFAF460-D8C7-4338-81C7-24B4CF33C565}"/>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91979B03-9732-4439-A735-084D188CADA4}"/>
              </a:ext>
            </a:extLst>
          </p:cNvPr>
          <p:cNvSpPr>
            <a:spLocks noGrp="1"/>
          </p:cNvSpPr>
          <p:nvPr>
            <p:ph type="dt" idx="10"/>
          </p:nvPr>
        </p:nvSpPr>
        <p:spPr/>
        <p:txBody>
          <a:bodyPr/>
          <a:lstStyle/>
          <a:p>
            <a:fld id="{0DCC0DA8-7E67-634D-BA8D-E6696C658906}" type="datetime1">
              <a:t>10/13/26</a:t>
            </a:fld>
            <a:endParaRPr/>
          </a:p>
        </p:txBody>
      </p:sp>
      <p:sp>
        <p:nvSpPr>
          <p:cNvPr id="6" name="Footer Placeholder 5">
            <a:extLst>
              <a:ext uri="{FF2B5EF4-FFF2-40B4-BE49-F238E27FC236}">
                <a16:creationId xmlns:a16="http://schemas.microsoft.com/office/drawing/2014/main" id="{B16F60DB-769B-42EC-AAB1-B2F8870981B3}"/>
              </a:ext>
            </a:extLst>
          </p:cNvPr>
          <p:cNvSpPr>
            <a:spLocks noGrp="1"/>
          </p:cNvSpPr>
          <p:nvPr>
            <p:ph type="ftr" idx="11"/>
          </p:nvPr>
        </p:nvSpPr>
        <p:spPr/>
        <p:txBody>
          <a:bodyPr/>
          <a:lstStyle/>
          <a:p>
            <a:r>
              <a:t>Fotter to add</a:t>
            </a:r>
          </a:p>
        </p:txBody>
      </p:sp>
      <p:sp>
        <p:nvSpPr>
          <p:cNvPr id="7" name="Slide Number Placeholder 6">
            <a:extLst>
              <a:ext uri="{FF2B5EF4-FFF2-40B4-BE49-F238E27FC236}">
                <a16:creationId xmlns:a16="http://schemas.microsoft.com/office/drawing/2014/main" id="{AC74B93D-6518-460B-9DC3-8B7ED64F4C2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70008-461F-42CB-9E14-41BA1024498A}"/>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4FDDFAA-01F5-42F3-8E4D-88106C084026}"/>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1B8B354-0A7C-4F19-B50E-5668CDE2DB8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8B2AAD3C-B392-3449-8E47-923A29A46E2E}" type="datetime1">
              <a:t>10/13/26</a:t>
            </a:fld>
            <a:endParaRPr/>
          </a:p>
        </p:txBody>
      </p:sp>
      <p:sp>
        <p:nvSpPr>
          <p:cNvPr id="5" name="Footer Placeholder 4">
            <a:extLst>
              <a:ext uri="{FF2B5EF4-FFF2-40B4-BE49-F238E27FC236}">
                <a16:creationId xmlns:a16="http://schemas.microsoft.com/office/drawing/2014/main" id="{96DBFB34-03B3-42ED-984B-B863D6AFA58B}"/>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Fotter to add</a:t>
            </a:r>
          </a:p>
        </p:txBody>
      </p:sp>
      <p:sp>
        <p:nvSpPr>
          <p:cNvPr id="6" name="Slide Number Placeholder 5">
            <a:extLst>
              <a:ext uri="{FF2B5EF4-FFF2-40B4-BE49-F238E27FC236}">
                <a16:creationId xmlns:a16="http://schemas.microsoft.com/office/drawing/2014/main" id="{B9120046-111B-4191-AE3C-EA81A0CD35F2}"/>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400">
                <a:solidFill>
                  <a:schemeClr val="tx1">
                    <a:tint val="75000"/>
                  </a:schemeClr>
                </a:solidFill>
              </a:defRPr>
            </a:lvl1pPr>
          </a:lstStyle>
          <a:p>
            <a:fld id="{C1FF6DA9-008F-8B48-92A6-B652298478BF}" type="slidenum">
              <a:t>‹#›</a:t>
            </a:fld>
            <a:endParaRPr/>
          </a:p>
        </p:txBody>
      </p:sp>
      <p:pic>
        <p:nvPicPr>
          <p:cNvPr id="14" name="Picture 2"/>
          <p:cNvPicPr>
            <a:picLocks noChangeAspect="1"/>
          </p:cNvPicPr>
          <p:nvPr/>
        </p:nvPicPr>
        <p:blipFill>
          <a:blip r:embed="rId11"/>
          <a:srcRect/>
          <a:stretch>
            <a:fillRect/>
          </a:stretch>
        </p:blipFill>
        <p:spPr>
          <a:xfrm>
            <a:off x="7675087" y="44451"/>
            <a:ext cx="1468914" cy="787756"/>
          </a:xfrm>
          <a:prstGeom prst="rect">
            <a:avLst/>
          </a:prstGeom>
        </p:spPr>
      </p:pic>
      <p:pic>
        <p:nvPicPr>
          <p:cNvPr id="15" name="Picture 6"/>
          <p:cNvPicPr>
            <a:picLocks noChangeAspect="1"/>
          </p:cNvPicPr>
          <p:nvPr/>
        </p:nvPicPr>
        <p:blipFill>
          <a:blip r:embed="rId12"/>
          <a:stretch>
            <a:fillRect/>
          </a:stretch>
        </p:blipFill>
        <p:spPr>
          <a:xfrm>
            <a:off x="8663150" y="6236413"/>
            <a:ext cx="480850" cy="62158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82EE-1DDA-4063-8BCB-456253E98D23}"/>
              </a:ext>
            </a:extLst>
          </p:cNvPr>
          <p:cNvSpPr>
            <a:spLocks noGrp="1"/>
          </p:cNvSpPr>
          <p:nvPr>
            <p:ph type="ctrTitle"/>
          </p:nvPr>
        </p:nvSpPr>
        <p:spPr>
          <a:xfrm>
            <a:off x="714375" y="1762125"/>
            <a:ext cx="7715250" cy="866775"/>
          </a:xfrm>
        </p:spPr>
        <p:txBody>
          <a:bodyPr lIns="0" tIns="0" rIns="0" bIns="0" anchor="ctr">
            <a:noAutofit/>
          </a:bodyPr>
          <a:lstStyle/>
          <a:p>
            <a:pPr algn="ctr">
              <a:defRPr sz="3675">
                <a:solidFill>
                  <a:srgbClr val="211B42"/>
                </a:solidFill>
                <a:latin typeface="Calibri"/>
                <a:ea typeface="Calibri"/>
                <a:cs typeface="Calibri"/>
              </a:defRPr>
            </a:pPr>
            <a:r>
              <a:rPr sz="3675">
                <a:solidFill>
                  <a:srgbClr val="211B42"/>
                </a:solidFill>
                <a:latin typeface="Calibri"/>
                <a:ea typeface="Calibri"/>
                <a:cs typeface="Calibri"/>
              </a:rPr>
              <a:t>JobTrack</a:t>
            </a:r>
          </a:p>
        </p:txBody>
      </p:sp>
      <p:sp>
        <p:nvSpPr>
          <p:cNvPr id="4" name="Slide Number Placeholder 3">
            <a:extLst>
              <a:ext uri="{FF2B5EF4-FFF2-40B4-BE49-F238E27FC236}">
                <a16:creationId xmlns:a16="http://schemas.microsoft.com/office/drawing/2014/main" id="{4F68DB1A-EA3D-A8D6-F5AF-65E090231755}"/>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AD75FED6-38D0-DE9C-92C0-6E7FA635581C}" type="slidenum">
              <a:rPr sz="1200">
                <a:solidFill>
                  <a:srgbClr val="888888"/>
                </a:solidFill>
                <a:latin typeface="Calibri"/>
                <a:ea typeface="Calibri"/>
                <a:cs typeface="Calibri"/>
              </a:rPr>
              <a:t>1</a:t>
            </a:fld>
            <a:endParaRPr/>
          </a:p>
        </p:txBody>
      </p:sp>
      <p:sp>
        <p:nvSpPr>
          <p:cNvPr id="5" name="Footer Placeholder 4">
            <a:extLst>
              <a:ext uri="{FF2B5EF4-FFF2-40B4-BE49-F238E27FC236}">
                <a16:creationId xmlns:a16="http://schemas.microsoft.com/office/drawing/2014/main" id="{708DFA9C-55A3-0CA1-0910-54121EAA2447}"/>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Unit">
            <a:extLst>
              <a:ext uri="{FF2B5EF4-FFF2-40B4-BE49-F238E27FC236}">
                <a16:creationId xmlns:a16="http://schemas.microsoft.com/office/drawing/2014/main" id="{85087C2A-EBDC-4732-BC5E-57BB1621FBEC}"/>
              </a:ext>
            </a:extLst>
          </p:cNvPr>
          <p:cNvSpPr>
            <a:spLocks noGrp="1"/>
          </p:cNvSpPr>
          <p:nvPr/>
        </p:nvSpPr>
        <p:spPr>
          <a:xfrm>
            <a:off x="952500" y="2952750"/>
            <a:ext cx="7239000" cy="457200"/>
          </a:xfrm>
          <a:prstGeom prst="rect">
            <a:avLst/>
          </a:prstGeom>
          <a:noFill/>
          <a:ln w="0">
            <a:noFill/>
          </a:ln>
        </p:spPr>
        <p:txBody>
          <a:bodyPr wrap="square" lIns="0" tIns="0" rIns="0" bIns="0" anchor="ctr">
            <a:noAutofit/>
          </a:bodyPr>
          <a:lstStyle/>
          <a:p>
            <a:pPr algn="ctr">
              <a:defRPr sz="2025" b="0">
                <a:solidFill>
                  <a:srgbClr val="2B2D33"/>
                </a:solidFill>
                <a:latin typeface="Calibri"/>
                <a:ea typeface="Calibri"/>
                <a:cs typeface="Calibri"/>
              </a:defRPr>
            </a:pPr>
            <a:r>
              <a:rPr sz="2025" b="0">
                <a:solidFill>
                  <a:srgbClr val="2B2D33"/>
                </a:solidFill>
                <a:latin typeface="Calibri"/>
                <a:ea typeface="Calibri"/>
                <a:cs typeface="Calibri"/>
              </a:rPr>
              <a:t>Job Application Tracking System — PRT681 Software Practice</a:t>
            </a:r>
          </a:p>
        </p:txBody>
      </p:sp>
      <p:sp>
        <p:nvSpPr>
          <p:cNvPr id="7" name="Campus">
            <a:extLst>
              <a:ext uri="{FF2B5EF4-FFF2-40B4-BE49-F238E27FC236}">
                <a16:creationId xmlns:a16="http://schemas.microsoft.com/office/drawing/2014/main" id="{B3081747-D1EE-49CD-B2DD-EBB51E066179}"/>
              </a:ext>
            </a:extLst>
          </p:cNvPr>
          <p:cNvSpPr>
            <a:spLocks noGrp="1"/>
          </p:cNvSpPr>
          <p:nvPr/>
        </p:nvSpPr>
        <p:spPr>
          <a:xfrm>
            <a:off x="952500" y="3489158"/>
            <a:ext cx="7239000" cy="537774"/>
          </a:xfrm>
          <a:prstGeom prst="rect">
            <a:avLst/>
          </a:prstGeom>
          <a:noFill/>
          <a:ln w="0">
            <a:noFill/>
          </a:ln>
        </p:spPr>
        <p:txBody>
          <a:bodyPr wrap="square" lIns="0" tIns="0" rIns="0" bIns="0" anchor="ctr">
            <a:noAutofit/>
          </a:bodyPr>
          <a:lstStyle/>
          <a:p>
            <a:pPr algn="ctr">
              <a:defRPr sz="1725" b="0">
                <a:solidFill>
                  <a:srgbClr val="626771"/>
                </a:solidFill>
                <a:latin typeface="Calibri"/>
                <a:ea typeface="Calibri"/>
                <a:cs typeface="Calibri"/>
              </a:defRPr>
            </a:pPr>
            <a:r>
              <a:rPr sz="1725" b="0" dirty="0">
                <a:solidFill>
                  <a:srgbClr val="626771"/>
                </a:solidFill>
                <a:latin typeface="Calibri"/>
                <a:ea typeface="Calibri"/>
                <a:cs typeface="Calibri"/>
              </a:rPr>
              <a:t>Sydney campus</a:t>
            </a:r>
            <a:endParaRPr lang="en-US" sz="1725" b="0" dirty="0">
              <a:solidFill>
                <a:srgbClr val="626771"/>
              </a:solidFill>
              <a:latin typeface="Calibri"/>
              <a:ea typeface="Calibri"/>
              <a:cs typeface="Calibri"/>
            </a:endParaRPr>
          </a:p>
        </p:txBody>
      </p:sp>
      <p:sp>
        <p:nvSpPr>
          <p:cNvPr id="8" name="Divider">
            <a:extLst>
              <a:ext uri="{FF2B5EF4-FFF2-40B4-BE49-F238E27FC236}">
                <a16:creationId xmlns:a16="http://schemas.microsoft.com/office/drawing/2014/main" id="{2DDB8822-A123-4C32-B17F-78A4445205A6}"/>
              </a:ext>
            </a:extLst>
          </p:cNvPr>
          <p:cNvSpPr>
            <a:spLocks noGrp="1"/>
          </p:cNvSpPr>
          <p:nvPr/>
        </p:nvSpPr>
        <p:spPr>
          <a:xfrm>
            <a:off x="2971800" y="4105275"/>
            <a:ext cx="3200400" cy="19050"/>
          </a:xfrm>
          <a:prstGeom prst="rect">
            <a:avLst/>
          </a:prstGeom>
          <a:solidFill>
            <a:srgbClr val="D9DBE1"/>
          </a:solidFill>
          <a:ln w="0">
            <a:noFill/>
          </a:ln>
        </p:spPr>
        <p:txBody>
          <a:bodyPr/>
          <a:lstStyle/>
          <a:p>
            <a:endParaRPr lang="en-US"/>
          </a:p>
        </p:txBody>
      </p:sp>
      <p:sp>
        <p:nvSpPr>
          <p:cNvPr id="9" name="Members">
            <a:extLst>
              <a:ext uri="{FF2B5EF4-FFF2-40B4-BE49-F238E27FC236}">
                <a16:creationId xmlns:a16="http://schemas.microsoft.com/office/drawing/2014/main" id="{6EAA8189-83CC-46A2-9839-08B1AE5082BA}"/>
              </a:ext>
            </a:extLst>
          </p:cNvPr>
          <p:cNvSpPr>
            <a:spLocks noGrp="1"/>
          </p:cNvSpPr>
          <p:nvPr/>
        </p:nvSpPr>
        <p:spPr>
          <a:xfrm>
            <a:off x="1714500" y="4545976"/>
            <a:ext cx="5715000" cy="1209675"/>
          </a:xfrm>
          <a:prstGeom prst="rect">
            <a:avLst/>
          </a:prstGeom>
          <a:noFill/>
          <a:ln w="0">
            <a:noFill/>
          </a:ln>
        </p:spPr>
        <p:txBody>
          <a:bodyPr wrap="square" lIns="0" tIns="0" rIns="0" bIns="0" anchor="ctr">
            <a:noAutofit/>
          </a:bodyPr>
          <a:lstStyle/>
          <a:p>
            <a:pPr algn="ctr">
              <a:defRPr sz="1725" b="0">
                <a:solidFill>
                  <a:srgbClr val="2B2D33"/>
                </a:solidFill>
                <a:latin typeface="Calibri"/>
                <a:ea typeface="Calibri"/>
                <a:cs typeface="Calibri"/>
              </a:defRPr>
            </a:pPr>
            <a:r>
              <a:rPr sz="1725" b="0" dirty="0">
                <a:solidFill>
                  <a:srgbClr val="2B2D33"/>
                </a:solidFill>
                <a:latin typeface="Calibri"/>
                <a:ea typeface="Calibri"/>
                <a:cs typeface="Calibri"/>
              </a:rPr>
              <a:t>Trinh Hieu Tran (S394100)</a:t>
            </a:r>
          </a:p>
          <a:p>
            <a:pPr algn="ctr">
              <a:defRPr sz="1725" b="0">
                <a:solidFill>
                  <a:srgbClr val="2B2D33"/>
                </a:solidFill>
                <a:latin typeface="Calibri"/>
                <a:ea typeface="Calibri"/>
                <a:cs typeface="Calibri"/>
              </a:defRPr>
            </a:pPr>
            <a:r>
              <a:rPr sz="1725" b="0" dirty="0">
                <a:solidFill>
                  <a:srgbClr val="2B2D33"/>
                </a:solidFill>
                <a:latin typeface="Calibri"/>
                <a:ea typeface="Calibri"/>
                <a:cs typeface="Calibri"/>
              </a:rPr>
              <a:t>Prince Kumar Sah (S388535)</a:t>
            </a:r>
          </a:p>
          <a:p>
            <a:pPr algn="ctr">
              <a:defRPr sz="1725" b="0">
                <a:solidFill>
                  <a:srgbClr val="2B2D33"/>
                </a:solidFill>
                <a:latin typeface="Calibri"/>
                <a:ea typeface="Calibri"/>
                <a:cs typeface="Calibri"/>
              </a:defRPr>
            </a:pPr>
            <a:r>
              <a:rPr sz="1725" b="0" dirty="0">
                <a:solidFill>
                  <a:srgbClr val="2B2D33"/>
                </a:solidFill>
                <a:latin typeface="Calibri"/>
                <a:ea typeface="Calibri"/>
                <a:cs typeface="Calibri"/>
              </a:rPr>
              <a:t>Pooja Tiwari (S396163)</a:t>
            </a:r>
          </a:p>
        </p:txBody>
      </p:sp>
      <p:sp>
        <p:nvSpPr>
          <p:cNvPr id="3" name="TextBox 2">
            <a:extLst>
              <a:ext uri="{FF2B5EF4-FFF2-40B4-BE49-F238E27FC236}">
                <a16:creationId xmlns:a16="http://schemas.microsoft.com/office/drawing/2014/main" id="{21586057-D87F-6935-B698-1752575B2771}"/>
              </a:ext>
            </a:extLst>
          </p:cNvPr>
          <p:cNvSpPr txBox="1"/>
          <p:nvPr/>
        </p:nvSpPr>
        <p:spPr>
          <a:xfrm>
            <a:off x="5502442" y="3673642"/>
            <a:ext cx="184731" cy="369332"/>
          </a:xfrm>
          <a:prstGeom prst="rect">
            <a:avLst/>
          </a:prstGeom>
          <a:noFill/>
        </p:spPr>
        <p:txBody>
          <a:bodyPr wrap="none" rtlCol="0">
            <a:spAutoFit/>
          </a:bodyPr>
          <a:lstStyle/>
          <a:p>
            <a:endParaRPr lang="en-US" dirty="0"/>
          </a:p>
        </p:txBody>
      </p:sp>
      <p:sp>
        <p:nvSpPr>
          <p:cNvPr id="10" name="Campus">
            <a:extLst>
              <a:ext uri="{FF2B5EF4-FFF2-40B4-BE49-F238E27FC236}">
                <a16:creationId xmlns:a16="http://schemas.microsoft.com/office/drawing/2014/main" id="{3BE09F2F-F779-4366-3101-4615302F04B7}"/>
              </a:ext>
            </a:extLst>
          </p:cNvPr>
          <p:cNvSpPr>
            <a:spLocks noGrp="1"/>
          </p:cNvSpPr>
          <p:nvPr/>
        </p:nvSpPr>
        <p:spPr>
          <a:xfrm>
            <a:off x="2062162" y="4175415"/>
            <a:ext cx="4972050" cy="537774"/>
          </a:xfrm>
          <a:prstGeom prst="rect">
            <a:avLst/>
          </a:prstGeom>
          <a:noFill/>
          <a:ln w="0">
            <a:noFill/>
          </a:ln>
        </p:spPr>
        <p:txBody>
          <a:bodyPr wrap="square" lIns="0" tIns="0" rIns="0" bIns="0" anchor="ctr">
            <a:noAutofit/>
          </a:bodyPr>
          <a:lstStyle/>
          <a:p>
            <a:pPr algn="ctr">
              <a:defRPr sz="1725" b="0">
                <a:solidFill>
                  <a:srgbClr val="626771"/>
                </a:solidFill>
                <a:latin typeface="Calibri"/>
                <a:ea typeface="Calibri"/>
                <a:cs typeface="Calibri"/>
              </a:defRPr>
            </a:pPr>
            <a:r>
              <a:rPr lang="en-AU" sz="1725" dirty="0">
                <a:solidFill>
                  <a:srgbClr val="626771"/>
                </a:solidFill>
                <a:latin typeface="Calibri"/>
                <a:ea typeface="Calibri"/>
                <a:cs typeface="Calibri"/>
              </a:rPr>
              <a:t>Group 3</a:t>
            </a:r>
            <a:endParaRPr sz="1725" b="0" dirty="0">
              <a:solidFill>
                <a:srgbClr val="626771"/>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Acknowledgements and Our Journey</a:t>
            </a:r>
          </a:p>
        </p:txBody>
      </p:sp>
      <p:sp>
        <p:nvSpPr>
          <p:cNvPr id="3" name="TextBox 2"/>
          <p:cNvSpPr txBox="1"/>
          <p:nvPr/>
        </p:nvSpPr>
        <p:spPr>
          <a:xfrm>
            <a:off x="512064" y="384048"/>
            <a:ext cx="6949440" cy="320040"/>
          </a:xfrm>
          <a:prstGeom prst="rect">
            <a:avLst/>
          </a:prstGeom>
          <a:noFill/>
        </p:spPr>
        <p:txBody>
          <a:bodyPr wrap="square" lIns="36576" rIns="36576" anchor="t">
            <a:spAutoFit/>
          </a:bodyPr>
          <a:lstStyle/>
          <a:p>
            <a:pPr algn="l"/>
            <a:r>
              <a:rPr sz="1100" b="1" i="0">
                <a:solidFill>
                  <a:srgbClr val="197566"/>
                </a:solidFill>
                <a:latin typeface="Calibri"/>
              </a:rPr>
              <a:t>CONTEXT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2</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48640" y="1645920"/>
            <a:ext cx="2377440" cy="365760"/>
          </a:xfrm>
          <a:prstGeom prst="rect">
            <a:avLst/>
          </a:prstGeom>
          <a:noFill/>
        </p:spPr>
        <p:txBody>
          <a:bodyPr wrap="square" lIns="36576" rIns="36576" anchor="t">
            <a:spAutoFit/>
          </a:bodyPr>
          <a:lstStyle/>
          <a:p>
            <a:pPr algn="l"/>
            <a:r>
              <a:rPr sz="1800" b="1" i="0">
                <a:solidFill>
                  <a:srgbClr val="211B42"/>
                </a:solidFill>
                <a:latin typeface="Calibri"/>
              </a:rPr>
              <a:t>Thank you</a:t>
            </a:r>
          </a:p>
        </p:txBody>
      </p:sp>
      <p:sp>
        <p:nvSpPr>
          <p:cNvPr id="7" name="TextBox 6"/>
          <p:cNvSpPr txBox="1"/>
          <p:nvPr/>
        </p:nvSpPr>
        <p:spPr>
          <a:xfrm>
            <a:off x="3017520" y="1664208"/>
            <a:ext cx="5486400" cy="640080"/>
          </a:xfrm>
          <a:prstGeom prst="rect">
            <a:avLst/>
          </a:prstGeom>
          <a:noFill/>
        </p:spPr>
        <p:txBody>
          <a:bodyPr wrap="square" lIns="36576" rIns="36576" anchor="t">
            <a:spAutoFit/>
          </a:bodyPr>
          <a:lstStyle/>
          <a:p>
            <a:pPr algn="l"/>
            <a:r>
              <a:rPr sz="1400" b="1" i="0">
                <a:solidFill>
                  <a:srgbClr val="197566"/>
                </a:solidFill>
                <a:latin typeface="Calibri"/>
              </a:rPr>
              <a:t>Ahmedi Azra</a:t>
            </a:r>
            <a:r>
              <a:rPr sz="1400" b="0" i="0">
                <a:solidFill>
                  <a:srgbClr val="2B2D33"/>
                </a:solidFill>
                <a:latin typeface="Calibri"/>
              </a:rPr>
              <a:t>, unit coordinator, for guidance and feedback, and our classmates who tested JobTrack.</a:t>
            </a:r>
          </a:p>
        </p:txBody>
      </p:sp>
      <p:cxnSp>
        <p:nvCxnSpPr>
          <p:cNvPr id="8" name="Connector 7"/>
          <p:cNvCxnSpPr/>
          <p:nvPr/>
        </p:nvCxnSpPr>
        <p:spPr>
          <a:xfrm>
            <a:off x="557784" y="2423160"/>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5216" y="2606040"/>
            <a:ext cx="2514600" cy="365760"/>
          </a:xfrm>
          <a:prstGeom prst="rect">
            <a:avLst/>
          </a:prstGeom>
          <a:noFill/>
        </p:spPr>
        <p:txBody>
          <a:bodyPr wrap="square" lIns="36576" rIns="36576" anchor="t">
            <a:spAutoFit/>
          </a:bodyPr>
          <a:lstStyle/>
          <a:p>
            <a:pPr algn="l"/>
            <a:r>
              <a:rPr sz="1600" b="1" i="0">
                <a:solidFill>
                  <a:srgbClr val="211B42"/>
                </a:solidFill>
                <a:latin typeface="Calibri"/>
              </a:rPr>
              <a:t>Background</a:t>
            </a:r>
          </a:p>
        </p:txBody>
      </p:sp>
      <p:cxnSp>
        <p:nvCxnSpPr>
          <p:cNvPr id="10" name="Connector 9"/>
          <p:cNvCxnSpPr/>
          <p:nvPr/>
        </p:nvCxnSpPr>
        <p:spPr>
          <a:xfrm>
            <a:off x="585216" y="30449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154680"/>
            <a:ext cx="2514600" cy="3017520"/>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Three part-time Master of IT students</a:t>
            </a:r>
          </a:p>
          <a:p>
            <a:pPr>
              <a:spcAft>
                <a:spcPts val="500"/>
              </a:spcAft>
            </a:pPr>
            <a:r>
              <a:rPr sz="1300" b="1">
                <a:solidFill>
                  <a:srgbClr val="197566"/>
                </a:solidFill>
                <a:latin typeface="Calibri"/>
              </a:rPr>
              <a:t>•  </a:t>
            </a:r>
            <a:r>
              <a:rPr sz="1300" b="0">
                <a:solidFill>
                  <a:srgbClr val="2B2D33"/>
                </a:solidFill>
                <a:latin typeface="Calibri"/>
              </a:rPr>
              <a:t>First time using parts of the stack: .NET 10, AWS S3, Playwright, Power BI</a:t>
            </a:r>
          </a:p>
          <a:p>
            <a:pPr>
              <a:spcAft>
                <a:spcPts val="500"/>
              </a:spcAft>
            </a:pPr>
            <a:r>
              <a:rPr sz="1300" b="1">
                <a:solidFill>
                  <a:srgbClr val="197566"/>
                </a:solidFill>
                <a:latin typeface="Calibri"/>
              </a:rPr>
              <a:t>•  </a:t>
            </a:r>
            <a:r>
              <a:rPr sz="1300" b="0">
                <a:solidFill>
                  <a:srgbClr val="2B2D33"/>
                </a:solidFill>
                <a:latin typeface="Calibri"/>
              </a:rPr>
              <a:t>Learned new tools while building</a:t>
            </a:r>
          </a:p>
        </p:txBody>
      </p:sp>
      <p:cxnSp>
        <p:nvCxnSpPr>
          <p:cNvPr id="12" name="Connector 11"/>
          <p:cNvCxnSpPr/>
          <p:nvPr/>
        </p:nvCxnSpPr>
        <p:spPr>
          <a:xfrm>
            <a:off x="3136392" y="2651760"/>
            <a:ext cx="0" cy="3474719"/>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91840" y="2606040"/>
            <a:ext cx="2514600" cy="365760"/>
          </a:xfrm>
          <a:prstGeom prst="rect">
            <a:avLst/>
          </a:prstGeom>
          <a:noFill/>
        </p:spPr>
        <p:txBody>
          <a:bodyPr wrap="square" lIns="36576" rIns="36576" anchor="t">
            <a:spAutoFit/>
          </a:bodyPr>
          <a:lstStyle/>
          <a:p>
            <a:pPr algn="l"/>
            <a:r>
              <a:rPr sz="1600" b="1" i="0">
                <a:solidFill>
                  <a:srgbClr val="211B42"/>
                </a:solidFill>
                <a:latin typeface="Calibri"/>
              </a:rPr>
              <a:t>Constraints</a:t>
            </a:r>
          </a:p>
        </p:txBody>
      </p:sp>
      <p:cxnSp>
        <p:nvCxnSpPr>
          <p:cNvPr id="14" name="Connector 13"/>
          <p:cNvCxnSpPr/>
          <p:nvPr/>
        </p:nvCxnSpPr>
        <p:spPr>
          <a:xfrm>
            <a:off x="3291840" y="30449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91840" y="3154680"/>
            <a:ext cx="2514600" cy="3017520"/>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About 8 weeks of development in a 12-week semester</a:t>
            </a:r>
          </a:p>
          <a:p>
            <a:pPr>
              <a:spcAft>
                <a:spcPts val="500"/>
              </a:spcAft>
            </a:pPr>
            <a:r>
              <a:rPr sz="1300" b="1">
                <a:solidFill>
                  <a:srgbClr val="197566"/>
                </a:solidFill>
                <a:latin typeface="Calibri"/>
              </a:rPr>
              <a:t>•  </a:t>
            </a:r>
            <a:r>
              <a:rPr sz="1300" b="0">
                <a:solidFill>
                  <a:srgbClr val="2B2D33"/>
                </a:solidFill>
                <a:latin typeface="Calibri"/>
              </a:rPr>
              <a:t>Around 6 hours per person per week</a:t>
            </a:r>
          </a:p>
          <a:p>
            <a:pPr>
              <a:spcAft>
                <a:spcPts val="500"/>
              </a:spcAft>
            </a:pPr>
            <a:r>
              <a:rPr sz="1300" b="1">
                <a:solidFill>
                  <a:srgbClr val="197566"/>
                </a:solidFill>
                <a:latin typeface="Calibri"/>
              </a:rPr>
              <a:t>•  </a:t>
            </a:r>
            <a:r>
              <a:rPr sz="1300" b="0">
                <a:solidFill>
                  <a:srgbClr val="2B2D33"/>
                </a:solidFill>
                <a:latin typeface="Calibri"/>
              </a:rPr>
              <a:t>Fixed technology stack and local-only deployment</a:t>
            </a:r>
          </a:p>
        </p:txBody>
      </p:sp>
      <p:cxnSp>
        <p:nvCxnSpPr>
          <p:cNvPr id="16" name="Connector 15"/>
          <p:cNvCxnSpPr/>
          <p:nvPr/>
        </p:nvCxnSpPr>
        <p:spPr>
          <a:xfrm>
            <a:off x="5843016" y="2651760"/>
            <a:ext cx="0" cy="3474719"/>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98464" y="2606040"/>
            <a:ext cx="2514600" cy="365760"/>
          </a:xfrm>
          <a:prstGeom prst="rect">
            <a:avLst/>
          </a:prstGeom>
          <a:noFill/>
        </p:spPr>
        <p:txBody>
          <a:bodyPr wrap="square" lIns="36576" rIns="36576" anchor="t">
            <a:spAutoFit/>
          </a:bodyPr>
          <a:lstStyle/>
          <a:p>
            <a:pPr algn="l"/>
            <a:r>
              <a:rPr sz="1600" b="1" i="0">
                <a:solidFill>
                  <a:srgbClr val="211B42"/>
                </a:solidFill>
                <a:latin typeface="Calibri"/>
              </a:rPr>
              <a:t>Challenges overcome</a:t>
            </a:r>
          </a:p>
        </p:txBody>
      </p:sp>
      <p:cxnSp>
        <p:nvCxnSpPr>
          <p:cNvPr id="18" name="Connector 17"/>
          <p:cNvCxnSpPr/>
          <p:nvPr/>
        </p:nvCxnSpPr>
        <p:spPr>
          <a:xfrm>
            <a:off x="5998464" y="30449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98464" y="3154680"/>
            <a:ext cx="2514600" cy="3017520"/>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Requirements drifted from the build → BRD/SRS v2.0</a:t>
            </a:r>
          </a:p>
          <a:p>
            <a:pPr>
              <a:spcAft>
                <a:spcPts val="500"/>
              </a:spcAft>
            </a:pPr>
            <a:r>
              <a:rPr sz="1300" b="1">
                <a:solidFill>
                  <a:srgbClr val="197566"/>
                </a:solidFill>
                <a:latin typeface="Calibri"/>
              </a:rPr>
              <a:t>•  </a:t>
            </a:r>
            <a:r>
              <a:rPr sz="1300" b="0">
                <a:solidFill>
                  <a:srgbClr val="2B2D33"/>
                </a:solidFill>
                <a:latin typeface="Calibri"/>
              </a:rPr>
              <a:t>Secure file storage → S3 presigned URLs</a:t>
            </a:r>
          </a:p>
          <a:p>
            <a:pPr>
              <a:spcAft>
                <a:spcPts val="500"/>
              </a:spcAft>
            </a:pPr>
            <a:r>
              <a:rPr sz="1300" b="1">
                <a:solidFill>
                  <a:srgbClr val="197566"/>
                </a:solidFill>
                <a:latin typeface="Calibri"/>
              </a:rPr>
              <a:t>•  </a:t>
            </a:r>
            <a:r>
              <a:rPr sz="1300" b="0">
                <a:solidFill>
                  <a:srgbClr val="2B2D33"/>
                </a:solidFill>
                <a:latin typeface="Calibri"/>
              </a:rPr>
              <a:t>Test data clashes → unique data per test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What JobTrack Is and How It Works</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ABOUT JOBTRACK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3</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48640" y="1645920"/>
            <a:ext cx="7973568" cy="685800"/>
          </a:xfrm>
          <a:prstGeom prst="rect">
            <a:avLst/>
          </a:prstGeom>
          <a:noFill/>
        </p:spPr>
        <p:txBody>
          <a:bodyPr wrap="square" lIns="36576" tIns="18288" rIns="36576" bIns="18288" anchor="t">
            <a:spAutoFit/>
          </a:bodyPr>
          <a:lstStyle/>
          <a:p>
            <a:pPr algn="l"/>
            <a:r>
              <a:rPr sz="1700" b="1" i="0">
                <a:solidFill>
                  <a:srgbClr val="211B42"/>
                </a:solidFill>
                <a:latin typeface="Calibri"/>
              </a:rPr>
              <a:t>JobTrack is one private workspace where a job seeker records every application, tracks each status change and never misses an interview or follow-up.</a:t>
            </a:r>
          </a:p>
        </p:txBody>
      </p:sp>
      <p:cxnSp>
        <p:nvCxnSpPr>
          <p:cNvPr id="7" name="Rule"/>
          <p:cNvCxnSpPr/>
          <p:nvPr/>
        </p:nvCxnSpPr>
        <p:spPr>
          <a:xfrm>
            <a:off x="557784" y="2395728"/>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5216" y="2514600"/>
            <a:ext cx="457200" cy="384048"/>
          </a:xfrm>
          <a:prstGeom prst="rect">
            <a:avLst/>
          </a:prstGeom>
          <a:noFill/>
        </p:spPr>
        <p:txBody>
          <a:bodyPr wrap="square" lIns="36576" tIns="18288" rIns="36576" bIns="18288" anchor="t">
            <a:spAutoFit/>
          </a:bodyPr>
          <a:lstStyle/>
          <a:p>
            <a:pPr algn="l"/>
            <a:r>
              <a:rPr sz="2200" b="1" i="0">
                <a:solidFill>
                  <a:srgbClr val="197566"/>
                </a:solidFill>
                <a:latin typeface="Calibri"/>
              </a:rPr>
              <a:t>1</a:t>
            </a:r>
          </a:p>
        </p:txBody>
      </p:sp>
      <p:sp>
        <p:nvSpPr>
          <p:cNvPr id="9" name="TextBox 8"/>
          <p:cNvSpPr txBox="1"/>
          <p:nvPr/>
        </p:nvSpPr>
        <p:spPr>
          <a:xfrm>
            <a:off x="585216" y="2926080"/>
            <a:ext cx="2560320" cy="329184"/>
          </a:xfrm>
          <a:prstGeom prst="rect">
            <a:avLst/>
          </a:prstGeom>
          <a:noFill/>
        </p:spPr>
        <p:txBody>
          <a:bodyPr wrap="square" lIns="36576" tIns="18288" rIns="36576" bIns="18288" anchor="t">
            <a:spAutoFit/>
          </a:bodyPr>
          <a:lstStyle/>
          <a:p>
            <a:pPr algn="l"/>
            <a:r>
              <a:rPr sz="1450" b="1" i="0">
                <a:solidFill>
                  <a:srgbClr val="211B42"/>
                </a:solidFill>
                <a:latin typeface="Calibri"/>
              </a:rPr>
              <a:t>Sign up and sign in</a:t>
            </a:r>
          </a:p>
        </p:txBody>
      </p:sp>
      <p:sp>
        <p:nvSpPr>
          <p:cNvPr id="10" name="TextBox 9"/>
          <p:cNvSpPr txBox="1"/>
          <p:nvPr/>
        </p:nvSpPr>
        <p:spPr>
          <a:xfrm>
            <a:off x="585216" y="3264408"/>
            <a:ext cx="2468880" cy="640080"/>
          </a:xfrm>
          <a:prstGeom prst="rect">
            <a:avLst/>
          </a:prstGeom>
          <a:noFill/>
        </p:spPr>
        <p:txBody>
          <a:bodyPr wrap="square" lIns="36576" tIns="18288" rIns="36576" bIns="18288" anchor="t">
            <a:spAutoFit/>
          </a:bodyPr>
          <a:lstStyle/>
          <a:p>
            <a:pPr algn="l"/>
            <a:r>
              <a:rPr sz="1250" b="0" i="0">
                <a:solidFill>
                  <a:srgbClr val="2B2D33"/>
                </a:solidFill>
                <a:latin typeface="Calibri"/>
              </a:rPr>
              <a:t>Private account with email and a strong password</a:t>
            </a:r>
          </a:p>
        </p:txBody>
      </p:sp>
      <p:sp>
        <p:nvSpPr>
          <p:cNvPr id="11" name="TextBox 10"/>
          <p:cNvSpPr txBox="1"/>
          <p:nvPr/>
        </p:nvSpPr>
        <p:spPr>
          <a:xfrm>
            <a:off x="3291840" y="2514600"/>
            <a:ext cx="457200" cy="384048"/>
          </a:xfrm>
          <a:prstGeom prst="rect">
            <a:avLst/>
          </a:prstGeom>
          <a:noFill/>
        </p:spPr>
        <p:txBody>
          <a:bodyPr wrap="square" lIns="36576" tIns="18288" rIns="36576" bIns="18288" anchor="t">
            <a:spAutoFit/>
          </a:bodyPr>
          <a:lstStyle/>
          <a:p>
            <a:pPr algn="l"/>
            <a:r>
              <a:rPr sz="2200" b="1" i="0">
                <a:solidFill>
                  <a:srgbClr val="197566"/>
                </a:solidFill>
                <a:latin typeface="Calibri"/>
              </a:rPr>
              <a:t>2</a:t>
            </a:r>
          </a:p>
        </p:txBody>
      </p:sp>
      <p:sp>
        <p:nvSpPr>
          <p:cNvPr id="12" name="TextBox 11"/>
          <p:cNvSpPr txBox="1"/>
          <p:nvPr/>
        </p:nvSpPr>
        <p:spPr>
          <a:xfrm>
            <a:off x="3291840" y="2926080"/>
            <a:ext cx="2560320" cy="329184"/>
          </a:xfrm>
          <a:prstGeom prst="rect">
            <a:avLst/>
          </a:prstGeom>
          <a:noFill/>
        </p:spPr>
        <p:txBody>
          <a:bodyPr wrap="square" lIns="36576" tIns="18288" rIns="36576" bIns="18288" anchor="t">
            <a:spAutoFit/>
          </a:bodyPr>
          <a:lstStyle/>
          <a:p>
            <a:pPr algn="l"/>
            <a:r>
              <a:rPr sz="1450" b="1" i="0">
                <a:solidFill>
                  <a:srgbClr val="211B42"/>
                </a:solidFill>
                <a:latin typeface="Calibri"/>
              </a:rPr>
              <a:t>Add an application</a:t>
            </a:r>
          </a:p>
        </p:txBody>
      </p:sp>
      <p:sp>
        <p:nvSpPr>
          <p:cNvPr id="13" name="TextBox 12"/>
          <p:cNvSpPr txBox="1"/>
          <p:nvPr/>
        </p:nvSpPr>
        <p:spPr>
          <a:xfrm>
            <a:off x="3291840" y="3264408"/>
            <a:ext cx="2468880" cy="640080"/>
          </a:xfrm>
          <a:prstGeom prst="rect">
            <a:avLst/>
          </a:prstGeom>
          <a:noFill/>
        </p:spPr>
        <p:txBody>
          <a:bodyPr wrap="square" lIns="36576" tIns="18288" rIns="36576" bIns="18288" anchor="t">
            <a:spAutoFit/>
          </a:bodyPr>
          <a:lstStyle/>
          <a:p>
            <a:pPr algn="l"/>
            <a:r>
              <a:rPr sz="1250" b="0" i="0">
                <a:solidFill>
                  <a:srgbClr val="2B2D33"/>
                </a:solidFill>
                <a:latin typeface="Calibri"/>
              </a:rPr>
              <a:t>Company, role and platform; date and status set automatically</a:t>
            </a:r>
          </a:p>
        </p:txBody>
      </p:sp>
      <p:sp>
        <p:nvSpPr>
          <p:cNvPr id="14" name="TextBox 13"/>
          <p:cNvSpPr txBox="1"/>
          <p:nvPr/>
        </p:nvSpPr>
        <p:spPr>
          <a:xfrm>
            <a:off x="5998464" y="2514600"/>
            <a:ext cx="457200" cy="384048"/>
          </a:xfrm>
          <a:prstGeom prst="rect">
            <a:avLst/>
          </a:prstGeom>
          <a:noFill/>
        </p:spPr>
        <p:txBody>
          <a:bodyPr wrap="square" lIns="36576" tIns="18288" rIns="36576" bIns="18288" anchor="t">
            <a:spAutoFit/>
          </a:bodyPr>
          <a:lstStyle/>
          <a:p>
            <a:pPr algn="l"/>
            <a:r>
              <a:rPr sz="2200" b="1" i="0">
                <a:solidFill>
                  <a:srgbClr val="197566"/>
                </a:solidFill>
                <a:latin typeface="Calibri"/>
              </a:rPr>
              <a:t>3</a:t>
            </a:r>
          </a:p>
        </p:txBody>
      </p:sp>
      <p:sp>
        <p:nvSpPr>
          <p:cNvPr id="15" name="TextBox 14"/>
          <p:cNvSpPr txBox="1"/>
          <p:nvPr/>
        </p:nvSpPr>
        <p:spPr>
          <a:xfrm>
            <a:off x="5998464" y="2926080"/>
            <a:ext cx="2560320" cy="329184"/>
          </a:xfrm>
          <a:prstGeom prst="rect">
            <a:avLst/>
          </a:prstGeom>
          <a:noFill/>
        </p:spPr>
        <p:txBody>
          <a:bodyPr wrap="square" lIns="36576" tIns="18288" rIns="36576" bIns="18288" anchor="t">
            <a:spAutoFit/>
          </a:bodyPr>
          <a:lstStyle/>
          <a:p>
            <a:pPr algn="l"/>
            <a:r>
              <a:rPr sz="1450" b="1" i="0">
                <a:solidFill>
                  <a:srgbClr val="211B42"/>
                </a:solidFill>
                <a:latin typeface="Calibri"/>
              </a:rPr>
              <a:t>Move through stages</a:t>
            </a:r>
          </a:p>
        </p:txBody>
      </p:sp>
      <p:sp>
        <p:nvSpPr>
          <p:cNvPr id="16" name="TextBox 15"/>
          <p:cNvSpPr txBox="1"/>
          <p:nvPr/>
        </p:nvSpPr>
        <p:spPr>
          <a:xfrm>
            <a:off x="5998464" y="3264408"/>
            <a:ext cx="2468880" cy="640080"/>
          </a:xfrm>
          <a:prstGeom prst="rect">
            <a:avLst/>
          </a:prstGeom>
          <a:noFill/>
        </p:spPr>
        <p:txBody>
          <a:bodyPr wrap="square" lIns="36576" tIns="18288" rIns="36576" bIns="18288" anchor="t">
            <a:spAutoFit/>
          </a:bodyPr>
          <a:lstStyle/>
          <a:p>
            <a:pPr algn="l"/>
            <a:r>
              <a:rPr sz="1250" b="0" i="0">
                <a:solidFill>
                  <a:srgbClr val="2B2D33"/>
                </a:solidFill>
                <a:latin typeface="Calibri"/>
              </a:rPr>
              <a:t>Applied → Interview → Offer, or Rejected / Withdrawn</a:t>
            </a:r>
          </a:p>
        </p:txBody>
      </p:sp>
      <p:sp>
        <p:nvSpPr>
          <p:cNvPr id="17" name="TextBox 16"/>
          <p:cNvSpPr txBox="1"/>
          <p:nvPr/>
        </p:nvSpPr>
        <p:spPr>
          <a:xfrm>
            <a:off x="585216" y="3959352"/>
            <a:ext cx="457200" cy="384048"/>
          </a:xfrm>
          <a:prstGeom prst="rect">
            <a:avLst/>
          </a:prstGeom>
          <a:noFill/>
        </p:spPr>
        <p:txBody>
          <a:bodyPr wrap="square" lIns="36576" tIns="18288" rIns="36576" bIns="18288" anchor="t">
            <a:spAutoFit/>
          </a:bodyPr>
          <a:lstStyle/>
          <a:p>
            <a:pPr algn="l"/>
            <a:r>
              <a:rPr sz="2200" b="1" i="0">
                <a:solidFill>
                  <a:srgbClr val="197566"/>
                </a:solidFill>
                <a:latin typeface="Calibri"/>
              </a:rPr>
              <a:t>4</a:t>
            </a:r>
          </a:p>
        </p:txBody>
      </p:sp>
      <p:sp>
        <p:nvSpPr>
          <p:cNvPr id="18" name="TextBox 17"/>
          <p:cNvSpPr txBox="1"/>
          <p:nvPr/>
        </p:nvSpPr>
        <p:spPr>
          <a:xfrm>
            <a:off x="585216" y="4370832"/>
            <a:ext cx="2560320" cy="329184"/>
          </a:xfrm>
          <a:prstGeom prst="rect">
            <a:avLst/>
          </a:prstGeom>
          <a:noFill/>
        </p:spPr>
        <p:txBody>
          <a:bodyPr wrap="square" lIns="36576" tIns="18288" rIns="36576" bIns="18288" anchor="t">
            <a:spAutoFit/>
          </a:bodyPr>
          <a:lstStyle/>
          <a:p>
            <a:pPr algn="l"/>
            <a:r>
              <a:rPr sz="1450" b="1" i="0">
                <a:solidFill>
                  <a:srgbClr val="211B42"/>
                </a:solidFill>
                <a:latin typeface="Calibri"/>
              </a:rPr>
              <a:t>Plan interviews and follow-ups</a:t>
            </a:r>
          </a:p>
        </p:txBody>
      </p:sp>
      <p:sp>
        <p:nvSpPr>
          <p:cNvPr id="19" name="TextBox 18"/>
          <p:cNvSpPr txBox="1"/>
          <p:nvPr/>
        </p:nvSpPr>
        <p:spPr>
          <a:xfrm>
            <a:off x="585216" y="4709160"/>
            <a:ext cx="2468880" cy="640080"/>
          </a:xfrm>
          <a:prstGeom prst="rect">
            <a:avLst/>
          </a:prstGeom>
          <a:noFill/>
        </p:spPr>
        <p:txBody>
          <a:bodyPr wrap="square" lIns="36576" tIns="18288" rIns="36576" bIns="18288" anchor="t">
            <a:spAutoFit/>
          </a:bodyPr>
          <a:lstStyle/>
          <a:p>
            <a:pPr algn="l"/>
            <a:r>
              <a:rPr sz="1250" b="0" i="0">
                <a:solidFill>
                  <a:srgbClr val="2B2D33"/>
                </a:solidFill>
                <a:latin typeface="Calibri"/>
              </a:rPr>
              <a:t>Rounds with times and contacts; reminders with due dates</a:t>
            </a:r>
          </a:p>
        </p:txBody>
      </p:sp>
      <p:sp>
        <p:nvSpPr>
          <p:cNvPr id="20" name="TextBox 19"/>
          <p:cNvSpPr txBox="1"/>
          <p:nvPr/>
        </p:nvSpPr>
        <p:spPr>
          <a:xfrm>
            <a:off x="3291840" y="3959352"/>
            <a:ext cx="457200" cy="384048"/>
          </a:xfrm>
          <a:prstGeom prst="rect">
            <a:avLst/>
          </a:prstGeom>
          <a:noFill/>
        </p:spPr>
        <p:txBody>
          <a:bodyPr wrap="square" lIns="36576" tIns="18288" rIns="36576" bIns="18288" anchor="t">
            <a:spAutoFit/>
          </a:bodyPr>
          <a:lstStyle/>
          <a:p>
            <a:pPr algn="l"/>
            <a:r>
              <a:rPr sz="2200" b="1" i="0">
                <a:solidFill>
                  <a:srgbClr val="197566"/>
                </a:solidFill>
                <a:latin typeface="Calibri"/>
              </a:rPr>
              <a:t>5</a:t>
            </a:r>
          </a:p>
        </p:txBody>
      </p:sp>
      <p:sp>
        <p:nvSpPr>
          <p:cNvPr id="21" name="TextBox 20"/>
          <p:cNvSpPr txBox="1"/>
          <p:nvPr/>
        </p:nvSpPr>
        <p:spPr>
          <a:xfrm>
            <a:off x="3291840" y="4370832"/>
            <a:ext cx="2560320" cy="329184"/>
          </a:xfrm>
          <a:prstGeom prst="rect">
            <a:avLst/>
          </a:prstGeom>
          <a:noFill/>
        </p:spPr>
        <p:txBody>
          <a:bodyPr wrap="square" lIns="36576" tIns="18288" rIns="36576" bIns="18288" anchor="t">
            <a:spAutoFit/>
          </a:bodyPr>
          <a:lstStyle/>
          <a:p>
            <a:pPr algn="l"/>
            <a:r>
              <a:rPr sz="1450" b="1" i="0">
                <a:solidFill>
                  <a:srgbClr val="211B42"/>
                </a:solidFill>
                <a:latin typeface="Calibri"/>
              </a:rPr>
              <a:t>Attach documents</a:t>
            </a:r>
          </a:p>
        </p:txBody>
      </p:sp>
      <p:sp>
        <p:nvSpPr>
          <p:cNvPr id="22" name="TextBox 21"/>
          <p:cNvSpPr txBox="1"/>
          <p:nvPr/>
        </p:nvSpPr>
        <p:spPr>
          <a:xfrm>
            <a:off x="3291840" y="4709160"/>
            <a:ext cx="2468880" cy="640080"/>
          </a:xfrm>
          <a:prstGeom prst="rect">
            <a:avLst/>
          </a:prstGeom>
          <a:noFill/>
        </p:spPr>
        <p:txBody>
          <a:bodyPr wrap="square" lIns="36576" tIns="18288" rIns="36576" bIns="18288" anchor="t">
            <a:spAutoFit/>
          </a:bodyPr>
          <a:lstStyle/>
          <a:p>
            <a:pPr algn="l"/>
            <a:r>
              <a:rPr sz="1250" b="0" i="0">
                <a:solidFill>
                  <a:srgbClr val="2B2D33"/>
                </a:solidFill>
                <a:latin typeface="Calibri"/>
              </a:rPr>
              <a:t>The exact resume and cover letter that were sent</a:t>
            </a:r>
          </a:p>
        </p:txBody>
      </p:sp>
      <p:sp>
        <p:nvSpPr>
          <p:cNvPr id="23" name="TextBox 22"/>
          <p:cNvSpPr txBox="1"/>
          <p:nvPr/>
        </p:nvSpPr>
        <p:spPr>
          <a:xfrm>
            <a:off x="5998464" y="3959352"/>
            <a:ext cx="457200" cy="384048"/>
          </a:xfrm>
          <a:prstGeom prst="rect">
            <a:avLst/>
          </a:prstGeom>
          <a:noFill/>
        </p:spPr>
        <p:txBody>
          <a:bodyPr wrap="square" lIns="36576" tIns="18288" rIns="36576" bIns="18288" anchor="t">
            <a:spAutoFit/>
          </a:bodyPr>
          <a:lstStyle/>
          <a:p>
            <a:pPr algn="l"/>
            <a:r>
              <a:rPr sz="2200" b="1" i="0">
                <a:solidFill>
                  <a:srgbClr val="197566"/>
                </a:solidFill>
                <a:latin typeface="Calibri"/>
              </a:rPr>
              <a:t>6</a:t>
            </a:r>
          </a:p>
        </p:txBody>
      </p:sp>
      <p:sp>
        <p:nvSpPr>
          <p:cNvPr id="24" name="TextBox 23"/>
          <p:cNvSpPr txBox="1"/>
          <p:nvPr/>
        </p:nvSpPr>
        <p:spPr>
          <a:xfrm>
            <a:off x="5998464" y="4370832"/>
            <a:ext cx="2560320" cy="329184"/>
          </a:xfrm>
          <a:prstGeom prst="rect">
            <a:avLst/>
          </a:prstGeom>
          <a:noFill/>
        </p:spPr>
        <p:txBody>
          <a:bodyPr wrap="square" lIns="36576" tIns="18288" rIns="36576" bIns="18288" anchor="t">
            <a:spAutoFit/>
          </a:bodyPr>
          <a:lstStyle/>
          <a:p>
            <a:pPr algn="l"/>
            <a:r>
              <a:rPr sz="1450" b="1" i="0">
                <a:solidFill>
                  <a:srgbClr val="211B42"/>
                </a:solidFill>
                <a:latin typeface="Calibri"/>
              </a:rPr>
              <a:t>See what to do next</a:t>
            </a:r>
          </a:p>
        </p:txBody>
      </p:sp>
      <p:sp>
        <p:nvSpPr>
          <p:cNvPr id="25" name="TextBox 24"/>
          <p:cNvSpPr txBox="1"/>
          <p:nvPr/>
        </p:nvSpPr>
        <p:spPr>
          <a:xfrm>
            <a:off x="5998464" y="4709160"/>
            <a:ext cx="2468880" cy="640080"/>
          </a:xfrm>
          <a:prstGeom prst="rect">
            <a:avLst/>
          </a:prstGeom>
          <a:noFill/>
        </p:spPr>
        <p:txBody>
          <a:bodyPr wrap="square" lIns="36576" tIns="18288" rIns="36576" bIns="18288" anchor="t">
            <a:spAutoFit/>
          </a:bodyPr>
          <a:lstStyle/>
          <a:p>
            <a:pPr algn="l"/>
            <a:r>
              <a:rPr sz="1250" b="0" i="0">
                <a:solidFill>
                  <a:srgbClr val="2B2D33"/>
                </a:solidFill>
                <a:latin typeface="Calibri"/>
              </a:rPr>
              <a:t>Dashboard: active count, interviews, overdue follow-ups</a:t>
            </a:r>
          </a:p>
        </p:txBody>
      </p:sp>
      <p:cxnSp>
        <p:nvCxnSpPr>
          <p:cNvPr id="26" name="Rule"/>
          <p:cNvCxnSpPr/>
          <p:nvPr/>
        </p:nvCxnSpPr>
        <p:spPr>
          <a:xfrm>
            <a:off x="557784" y="5468112"/>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57784" y="5577840"/>
            <a:ext cx="2377440" cy="365760"/>
          </a:xfrm>
          <a:prstGeom prst="rect">
            <a:avLst/>
          </a:prstGeom>
          <a:noFill/>
        </p:spPr>
        <p:txBody>
          <a:bodyPr wrap="square" lIns="36576" tIns="18288" rIns="36576" bIns="18288" anchor="ctr">
            <a:spAutoFit/>
          </a:bodyPr>
          <a:lstStyle/>
          <a:p>
            <a:pPr algn="l"/>
            <a:r>
              <a:rPr sz="1600" b="1" i="0">
                <a:solidFill>
                  <a:srgbClr val="211B42"/>
                </a:solidFill>
                <a:latin typeface="Calibri"/>
              </a:rPr>
              <a:t>Behind the scenes</a:t>
            </a:r>
          </a:p>
        </p:txBody>
      </p:sp>
      <p:sp>
        <p:nvSpPr>
          <p:cNvPr id="28" name="TextBox 27"/>
          <p:cNvSpPr txBox="1"/>
          <p:nvPr/>
        </p:nvSpPr>
        <p:spPr>
          <a:xfrm>
            <a:off x="2926080" y="5577840"/>
            <a:ext cx="5577840" cy="365760"/>
          </a:xfrm>
          <a:prstGeom prst="rect">
            <a:avLst/>
          </a:prstGeom>
          <a:noFill/>
        </p:spPr>
        <p:txBody>
          <a:bodyPr wrap="square" lIns="36576" tIns="18288" rIns="36576" bIns="18288" anchor="ctr">
            <a:spAutoFit/>
          </a:bodyPr>
          <a:lstStyle/>
          <a:p>
            <a:pPr algn="l"/>
            <a:r>
              <a:rPr sz="1400" b="0" i="0">
                <a:solidFill>
                  <a:srgbClr val="2B2D33"/>
                </a:solidFill>
                <a:latin typeface="Calibri"/>
              </a:rPr>
              <a:t>React web app → ASP.NET Core API → PostgreSQL · documents in AWS S3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Team and Roles</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TEAM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4</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85216" y="1691640"/>
            <a:ext cx="2514600" cy="365760"/>
          </a:xfrm>
          <a:prstGeom prst="rect">
            <a:avLst/>
          </a:prstGeom>
          <a:noFill/>
        </p:spPr>
        <p:txBody>
          <a:bodyPr wrap="square" lIns="36576" tIns="18288" rIns="36576" bIns="18288" anchor="t">
            <a:spAutoFit/>
          </a:bodyPr>
          <a:lstStyle/>
          <a:p>
            <a:pPr algn="l"/>
            <a:r>
              <a:rPr sz="1800" b="1" i="0">
                <a:solidFill>
                  <a:srgbClr val="211B42"/>
                </a:solidFill>
                <a:latin typeface="Calibri"/>
              </a:rPr>
              <a:t>Pooja Tiwari</a:t>
            </a:r>
          </a:p>
        </p:txBody>
      </p:sp>
      <p:sp>
        <p:nvSpPr>
          <p:cNvPr id="7" name="TextBox 6"/>
          <p:cNvSpPr txBox="1"/>
          <p:nvPr/>
        </p:nvSpPr>
        <p:spPr>
          <a:xfrm>
            <a:off x="585216" y="2057400"/>
            <a:ext cx="2514600" cy="274320"/>
          </a:xfrm>
          <a:prstGeom prst="rect">
            <a:avLst/>
          </a:prstGeom>
          <a:noFill/>
        </p:spPr>
        <p:txBody>
          <a:bodyPr wrap="square" lIns="36576" tIns="18288" rIns="36576" bIns="18288" anchor="t">
            <a:spAutoFit/>
          </a:bodyPr>
          <a:lstStyle/>
          <a:p>
            <a:pPr algn="l"/>
            <a:r>
              <a:rPr sz="1200" b="0" i="0">
                <a:solidFill>
                  <a:srgbClr val="626771"/>
                </a:solidFill>
                <a:latin typeface="Calibri"/>
              </a:rPr>
              <a:t>S396163</a:t>
            </a:r>
          </a:p>
        </p:txBody>
      </p:sp>
      <p:sp>
        <p:nvSpPr>
          <p:cNvPr id="8" name="TextBox 7"/>
          <p:cNvSpPr txBox="1"/>
          <p:nvPr/>
        </p:nvSpPr>
        <p:spPr>
          <a:xfrm>
            <a:off x="585216" y="2359152"/>
            <a:ext cx="2377440" cy="731520"/>
          </a:xfrm>
          <a:prstGeom prst="rect">
            <a:avLst/>
          </a:prstGeom>
          <a:noFill/>
        </p:spPr>
        <p:txBody>
          <a:bodyPr wrap="square" lIns="36576" tIns="18288" rIns="36576" bIns="18288" anchor="t">
            <a:spAutoFit/>
          </a:bodyPr>
          <a:lstStyle/>
          <a:p>
            <a:pPr algn="l"/>
            <a:r>
              <a:rPr sz="1350" b="1" i="0">
                <a:solidFill>
                  <a:srgbClr val="197566"/>
                </a:solidFill>
                <a:latin typeface="Calibri"/>
              </a:rPr>
              <a:t>Business Analyst · Report Analyst · Data Analyst · QA</a:t>
            </a:r>
          </a:p>
        </p:txBody>
      </p:sp>
      <p:cxnSp>
        <p:nvCxnSpPr>
          <p:cNvPr id="9" name="Rule"/>
          <p:cNvCxnSpPr/>
          <p:nvPr/>
        </p:nvCxnSpPr>
        <p:spPr>
          <a:xfrm>
            <a:off x="585216" y="3200400"/>
            <a:ext cx="237744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5216" y="3337560"/>
            <a:ext cx="2423160" cy="2651760"/>
          </a:xfrm>
          <a:prstGeom prst="rect">
            <a:avLst/>
          </a:prstGeom>
          <a:noFill/>
        </p:spPr>
        <p:txBody>
          <a:bodyPr wrap="square" lIns="36576" rIns="36576">
            <a:spAutoFit/>
          </a:bodyPr>
          <a:lstStyle/>
          <a:p>
            <a:pPr>
              <a:spcAft>
                <a:spcPts val="700"/>
              </a:spcAft>
            </a:pPr>
            <a:r>
              <a:rPr sz="1350" b="1">
                <a:solidFill>
                  <a:srgbClr val="197566"/>
                </a:solidFill>
                <a:latin typeface="Calibri"/>
              </a:rPr>
              <a:t>•  </a:t>
            </a:r>
            <a:r>
              <a:rPr sz="1350">
                <a:solidFill>
                  <a:srgbClr val="2B2D33"/>
                </a:solidFill>
                <a:latin typeface="Calibri"/>
              </a:rPr>
              <a:t>BRD and SRS v1.0 → v2.0</a:t>
            </a:r>
          </a:p>
          <a:p>
            <a:pPr>
              <a:spcAft>
                <a:spcPts val="700"/>
              </a:spcAft>
            </a:pPr>
            <a:r>
              <a:rPr sz="1350" b="1">
                <a:solidFill>
                  <a:srgbClr val="197566"/>
                </a:solidFill>
                <a:latin typeface="Calibri"/>
              </a:rPr>
              <a:t>•  </a:t>
            </a:r>
            <a:r>
              <a:rPr sz="1350">
                <a:solidFill>
                  <a:srgbClr val="2B2D33"/>
                </a:solidFill>
                <a:latin typeface="Calibri"/>
              </a:rPr>
              <a:t>Dataset and Power BI model</a:t>
            </a:r>
          </a:p>
          <a:p>
            <a:pPr>
              <a:spcAft>
                <a:spcPts val="700"/>
              </a:spcAft>
            </a:pPr>
            <a:r>
              <a:rPr sz="1350" b="1">
                <a:solidFill>
                  <a:srgbClr val="197566"/>
                </a:solidFill>
                <a:latin typeface="Calibri"/>
              </a:rPr>
              <a:t>•  </a:t>
            </a:r>
            <a:r>
              <a:rPr sz="1350">
                <a:solidFill>
                  <a:srgbClr val="2B2D33"/>
                </a:solidFill>
                <a:latin typeface="Calibri"/>
              </a:rPr>
              <a:t>Transition and traceability matrices</a:t>
            </a:r>
          </a:p>
          <a:p>
            <a:pPr>
              <a:spcAft>
                <a:spcPts val="700"/>
              </a:spcAft>
            </a:pPr>
            <a:r>
              <a:rPr sz="1350" b="1">
                <a:solidFill>
                  <a:srgbClr val="197566"/>
                </a:solidFill>
                <a:latin typeface="Calibri"/>
              </a:rPr>
              <a:t>•  </a:t>
            </a:r>
            <a:r>
              <a:rPr sz="1350">
                <a:solidFill>
                  <a:srgbClr val="2B2D33"/>
                </a:solidFill>
                <a:latin typeface="Calibri"/>
              </a:rPr>
              <a:t>Automated testing</a:t>
            </a:r>
          </a:p>
          <a:p>
            <a:pPr>
              <a:spcAft>
                <a:spcPts val="700"/>
              </a:spcAft>
            </a:pPr>
            <a:r>
              <a:rPr sz="1350" b="1">
                <a:solidFill>
                  <a:srgbClr val="197566"/>
                </a:solidFill>
                <a:latin typeface="Calibri"/>
              </a:rPr>
              <a:t>•  </a:t>
            </a:r>
            <a:r>
              <a:rPr sz="1350">
                <a:solidFill>
                  <a:srgbClr val="2B2D33"/>
                </a:solidFill>
                <a:latin typeface="Calibri"/>
              </a:rPr>
              <a:t>User Manual</a:t>
            </a:r>
          </a:p>
        </p:txBody>
      </p:sp>
      <p:cxnSp>
        <p:nvCxnSpPr>
          <p:cNvPr id="11" name="Rule"/>
          <p:cNvCxnSpPr/>
          <p:nvPr/>
        </p:nvCxnSpPr>
        <p:spPr>
          <a:xfrm>
            <a:off x="3127248" y="1755648"/>
            <a:ext cx="0" cy="420624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91840" y="1691640"/>
            <a:ext cx="2514600" cy="365760"/>
          </a:xfrm>
          <a:prstGeom prst="rect">
            <a:avLst/>
          </a:prstGeom>
          <a:noFill/>
        </p:spPr>
        <p:txBody>
          <a:bodyPr wrap="square" lIns="36576" tIns="18288" rIns="36576" bIns="18288" anchor="t">
            <a:spAutoFit/>
          </a:bodyPr>
          <a:lstStyle/>
          <a:p>
            <a:pPr algn="l"/>
            <a:r>
              <a:rPr sz="1800" b="1" i="0">
                <a:solidFill>
                  <a:srgbClr val="211B42"/>
                </a:solidFill>
                <a:latin typeface="Calibri"/>
              </a:rPr>
              <a:t>Trinh Hieu Tran</a:t>
            </a:r>
          </a:p>
        </p:txBody>
      </p:sp>
      <p:sp>
        <p:nvSpPr>
          <p:cNvPr id="13" name="TextBox 12"/>
          <p:cNvSpPr txBox="1"/>
          <p:nvPr/>
        </p:nvSpPr>
        <p:spPr>
          <a:xfrm>
            <a:off x="3291840" y="2057400"/>
            <a:ext cx="2514600" cy="274320"/>
          </a:xfrm>
          <a:prstGeom prst="rect">
            <a:avLst/>
          </a:prstGeom>
          <a:noFill/>
        </p:spPr>
        <p:txBody>
          <a:bodyPr wrap="square" lIns="36576" tIns="18288" rIns="36576" bIns="18288" anchor="t">
            <a:spAutoFit/>
          </a:bodyPr>
          <a:lstStyle/>
          <a:p>
            <a:pPr algn="l"/>
            <a:r>
              <a:rPr sz="1200" b="0" i="0">
                <a:solidFill>
                  <a:srgbClr val="626771"/>
                </a:solidFill>
                <a:latin typeface="Calibri"/>
              </a:rPr>
              <a:t>S394100</a:t>
            </a:r>
          </a:p>
        </p:txBody>
      </p:sp>
      <p:sp>
        <p:nvSpPr>
          <p:cNvPr id="14" name="TextBox 13"/>
          <p:cNvSpPr txBox="1"/>
          <p:nvPr/>
        </p:nvSpPr>
        <p:spPr>
          <a:xfrm>
            <a:off x="3291840" y="2359152"/>
            <a:ext cx="2377440" cy="731520"/>
          </a:xfrm>
          <a:prstGeom prst="rect">
            <a:avLst/>
          </a:prstGeom>
          <a:noFill/>
        </p:spPr>
        <p:txBody>
          <a:bodyPr wrap="square" lIns="36576" tIns="18288" rIns="36576" bIns="18288" anchor="t">
            <a:spAutoFit/>
          </a:bodyPr>
          <a:lstStyle/>
          <a:p>
            <a:pPr algn="l"/>
            <a:r>
              <a:rPr sz="1350" b="1" i="0">
                <a:solidFill>
                  <a:srgbClr val="197566"/>
                </a:solidFill>
                <a:latin typeface="Calibri"/>
              </a:rPr>
              <a:t>Developer · Database Administrator</a:t>
            </a:r>
          </a:p>
        </p:txBody>
      </p:sp>
      <p:cxnSp>
        <p:nvCxnSpPr>
          <p:cNvPr id="15" name="Rule"/>
          <p:cNvCxnSpPr/>
          <p:nvPr/>
        </p:nvCxnSpPr>
        <p:spPr>
          <a:xfrm>
            <a:off x="3291840" y="3200400"/>
            <a:ext cx="237744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91840" y="3337560"/>
            <a:ext cx="2423160" cy="2651760"/>
          </a:xfrm>
          <a:prstGeom prst="rect">
            <a:avLst/>
          </a:prstGeom>
          <a:noFill/>
        </p:spPr>
        <p:txBody>
          <a:bodyPr wrap="square" lIns="36576" rIns="36576">
            <a:spAutoFit/>
          </a:bodyPr>
          <a:lstStyle/>
          <a:p>
            <a:pPr>
              <a:spcAft>
                <a:spcPts val="700"/>
              </a:spcAft>
            </a:pPr>
            <a:r>
              <a:rPr sz="1350" b="1">
                <a:solidFill>
                  <a:srgbClr val="197566"/>
                </a:solidFill>
                <a:latin typeface="Calibri"/>
              </a:rPr>
              <a:t>•  </a:t>
            </a:r>
            <a:r>
              <a:rPr sz="1350">
                <a:solidFill>
                  <a:srgbClr val="2B2D33"/>
                </a:solidFill>
                <a:latin typeface="Calibri"/>
              </a:rPr>
              <a:t>React frontend</a:t>
            </a:r>
          </a:p>
          <a:p>
            <a:pPr>
              <a:spcAft>
                <a:spcPts val="700"/>
              </a:spcAft>
            </a:pPr>
            <a:r>
              <a:rPr sz="1350" b="1">
                <a:solidFill>
                  <a:srgbClr val="197566"/>
                </a:solidFill>
                <a:latin typeface="Calibri"/>
              </a:rPr>
              <a:t>•  </a:t>
            </a:r>
            <a:r>
              <a:rPr sz="1350">
                <a:solidFill>
                  <a:srgbClr val="2B2D33"/>
                </a:solidFill>
                <a:latin typeface="Calibri"/>
              </a:rPr>
              <a:t>ASP.NET Core REST API</a:t>
            </a:r>
          </a:p>
          <a:p>
            <a:pPr>
              <a:spcAft>
                <a:spcPts val="700"/>
              </a:spcAft>
            </a:pPr>
            <a:r>
              <a:rPr sz="1350" b="1">
                <a:solidFill>
                  <a:srgbClr val="197566"/>
                </a:solidFill>
                <a:latin typeface="Calibri"/>
              </a:rPr>
              <a:t>•  </a:t>
            </a:r>
            <a:r>
              <a:rPr sz="1350">
                <a:solidFill>
                  <a:srgbClr val="2B2D33"/>
                </a:solidFill>
                <a:latin typeface="Calibri"/>
              </a:rPr>
              <a:t>PostgreSQL schema and migrations</a:t>
            </a:r>
          </a:p>
          <a:p>
            <a:pPr>
              <a:spcAft>
                <a:spcPts val="700"/>
              </a:spcAft>
            </a:pPr>
            <a:r>
              <a:rPr sz="1350" b="1">
                <a:solidFill>
                  <a:srgbClr val="197566"/>
                </a:solidFill>
                <a:latin typeface="Calibri"/>
              </a:rPr>
              <a:t>•  </a:t>
            </a:r>
            <a:r>
              <a:rPr sz="1350">
                <a:solidFill>
                  <a:srgbClr val="2B2D33"/>
                </a:solidFill>
                <a:latin typeface="Calibri"/>
              </a:rPr>
              <a:t>AWS S3 document storage</a:t>
            </a:r>
          </a:p>
          <a:p>
            <a:pPr>
              <a:spcAft>
                <a:spcPts val="700"/>
              </a:spcAft>
            </a:pPr>
            <a:r>
              <a:rPr sz="1350" b="1">
                <a:solidFill>
                  <a:srgbClr val="197566"/>
                </a:solidFill>
                <a:latin typeface="Calibri"/>
              </a:rPr>
              <a:t>•  </a:t>
            </a:r>
            <a:r>
              <a:rPr sz="1350">
                <a:solidFill>
                  <a:srgbClr val="2B2D33"/>
                </a:solidFill>
                <a:latin typeface="Calibri"/>
              </a:rPr>
              <a:t>Live demo</a:t>
            </a:r>
          </a:p>
        </p:txBody>
      </p:sp>
      <p:cxnSp>
        <p:nvCxnSpPr>
          <p:cNvPr id="17" name="Rule"/>
          <p:cNvCxnSpPr/>
          <p:nvPr/>
        </p:nvCxnSpPr>
        <p:spPr>
          <a:xfrm>
            <a:off x="5833872" y="1755648"/>
            <a:ext cx="0" cy="420624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98464" y="1691640"/>
            <a:ext cx="2514600" cy="365760"/>
          </a:xfrm>
          <a:prstGeom prst="rect">
            <a:avLst/>
          </a:prstGeom>
          <a:noFill/>
        </p:spPr>
        <p:txBody>
          <a:bodyPr wrap="square" lIns="36576" tIns="18288" rIns="36576" bIns="18288" anchor="t">
            <a:spAutoFit/>
          </a:bodyPr>
          <a:lstStyle/>
          <a:p>
            <a:pPr algn="l"/>
            <a:r>
              <a:rPr sz="1800" b="1" i="0">
                <a:solidFill>
                  <a:srgbClr val="211B42"/>
                </a:solidFill>
                <a:latin typeface="Calibri"/>
              </a:rPr>
              <a:t>Prince Kumar Sah</a:t>
            </a:r>
          </a:p>
        </p:txBody>
      </p:sp>
      <p:sp>
        <p:nvSpPr>
          <p:cNvPr id="19" name="TextBox 18"/>
          <p:cNvSpPr txBox="1"/>
          <p:nvPr/>
        </p:nvSpPr>
        <p:spPr>
          <a:xfrm>
            <a:off x="5998464" y="2057400"/>
            <a:ext cx="2514600" cy="274320"/>
          </a:xfrm>
          <a:prstGeom prst="rect">
            <a:avLst/>
          </a:prstGeom>
          <a:noFill/>
        </p:spPr>
        <p:txBody>
          <a:bodyPr wrap="square" lIns="36576" tIns="18288" rIns="36576" bIns="18288" anchor="t">
            <a:spAutoFit/>
          </a:bodyPr>
          <a:lstStyle/>
          <a:p>
            <a:pPr algn="l"/>
            <a:r>
              <a:rPr sz="1200" b="0" i="0">
                <a:solidFill>
                  <a:srgbClr val="626771"/>
                </a:solidFill>
                <a:latin typeface="Calibri"/>
              </a:rPr>
              <a:t>S388535</a:t>
            </a:r>
          </a:p>
        </p:txBody>
      </p:sp>
      <p:sp>
        <p:nvSpPr>
          <p:cNvPr id="20" name="TextBox 19"/>
          <p:cNvSpPr txBox="1"/>
          <p:nvPr/>
        </p:nvSpPr>
        <p:spPr>
          <a:xfrm>
            <a:off x="5998464" y="2359152"/>
            <a:ext cx="2377440" cy="731520"/>
          </a:xfrm>
          <a:prstGeom prst="rect">
            <a:avLst/>
          </a:prstGeom>
          <a:noFill/>
        </p:spPr>
        <p:txBody>
          <a:bodyPr wrap="square" lIns="36576" tIns="18288" rIns="36576" bIns="18288" anchor="t">
            <a:spAutoFit/>
          </a:bodyPr>
          <a:lstStyle/>
          <a:p>
            <a:pPr algn="l"/>
            <a:r>
              <a:rPr sz="1350" b="1" i="0">
                <a:solidFill>
                  <a:srgbClr val="197566"/>
                </a:solidFill>
                <a:latin typeface="Calibri"/>
              </a:rPr>
              <a:t>Tester</a:t>
            </a:r>
          </a:p>
        </p:txBody>
      </p:sp>
      <p:cxnSp>
        <p:nvCxnSpPr>
          <p:cNvPr id="21" name="Rule"/>
          <p:cNvCxnSpPr/>
          <p:nvPr/>
        </p:nvCxnSpPr>
        <p:spPr>
          <a:xfrm>
            <a:off x="5998464" y="3200400"/>
            <a:ext cx="237744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98464" y="3337560"/>
            <a:ext cx="2423160" cy="2651760"/>
          </a:xfrm>
          <a:prstGeom prst="rect">
            <a:avLst/>
          </a:prstGeom>
          <a:noFill/>
        </p:spPr>
        <p:txBody>
          <a:bodyPr wrap="square" lIns="36576" rIns="36576">
            <a:spAutoFit/>
          </a:bodyPr>
          <a:lstStyle/>
          <a:p>
            <a:pPr>
              <a:spcAft>
                <a:spcPts val="700"/>
              </a:spcAft>
            </a:pPr>
            <a:r>
              <a:rPr sz="1350" b="1">
                <a:solidFill>
                  <a:srgbClr val="197566"/>
                </a:solidFill>
                <a:latin typeface="Calibri"/>
              </a:rPr>
              <a:t>•  </a:t>
            </a:r>
            <a:r>
              <a:rPr sz="1350">
                <a:solidFill>
                  <a:srgbClr val="2B2D33"/>
                </a:solidFill>
                <a:latin typeface="Calibri"/>
              </a:rPr>
              <a:t>Manual test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Why Choose JobTrack?</a:t>
            </a:r>
          </a:p>
        </p:txBody>
      </p:sp>
      <p:sp>
        <p:nvSpPr>
          <p:cNvPr id="3" name="TextBox 2"/>
          <p:cNvSpPr txBox="1"/>
          <p:nvPr/>
        </p:nvSpPr>
        <p:spPr>
          <a:xfrm>
            <a:off x="512064" y="384048"/>
            <a:ext cx="6949440" cy="320040"/>
          </a:xfrm>
          <a:prstGeom prst="rect">
            <a:avLst/>
          </a:prstGeom>
          <a:noFill/>
        </p:spPr>
        <p:txBody>
          <a:bodyPr wrap="square" lIns="36576" rIns="36576" anchor="t">
            <a:spAutoFit/>
          </a:bodyPr>
          <a:lstStyle/>
          <a:p>
            <a:pPr algn="l"/>
            <a:r>
              <a:rPr sz="1100" b="1" i="0">
                <a:solidFill>
                  <a:srgbClr val="197566"/>
                </a:solidFill>
                <a:latin typeface="Calibri"/>
              </a:rPr>
              <a:t>PRODUCT OVERVIEW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5</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85216" y="1691640"/>
            <a:ext cx="2514600" cy="365760"/>
          </a:xfrm>
          <a:prstGeom prst="rect">
            <a:avLst/>
          </a:prstGeom>
          <a:noFill/>
        </p:spPr>
        <p:txBody>
          <a:bodyPr wrap="square" lIns="36576" rIns="36576" anchor="t">
            <a:spAutoFit/>
          </a:bodyPr>
          <a:lstStyle/>
          <a:p>
            <a:pPr algn="l"/>
            <a:r>
              <a:rPr sz="1600" b="1" i="0">
                <a:solidFill>
                  <a:srgbClr val="211B42"/>
                </a:solidFill>
                <a:latin typeface="Calibri"/>
              </a:rPr>
              <a:t>Key strengths</a:t>
            </a:r>
          </a:p>
        </p:txBody>
      </p:sp>
      <p:cxnSp>
        <p:nvCxnSpPr>
          <p:cNvPr id="7" name="Connector 6"/>
          <p:cNvCxnSpPr/>
          <p:nvPr/>
        </p:nvCxnSpPr>
        <p:spPr>
          <a:xfrm>
            <a:off x="585216" y="21305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5216" y="2240280"/>
            <a:ext cx="2514600" cy="3383279"/>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Private by design: each user sees only their own data</a:t>
            </a:r>
          </a:p>
          <a:p>
            <a:pPr>
              <a:spcAft>
                <a:spcPts val="500"/>
              </a:spcAft>
            </a:pPr>
            <a:r>
              <a:rPr sz="1300" b="1">
                <a:solidFill>
                  <a:srgbClr val="197566"/>
                </a:solidFill>
                <a:latin typeface="Calibri"/>
              </a:rPr>
              <a:t>•  </a:t>
            </a:r>
            <a:r>
              <a:rPr sz="1300" b="0">
                <a:solidFill>
                  <a:srgbClr val="2B2D33"/>
                </a:solidFill>
                <a:latin typeface="Calibri"/>
              </a:rPr>
              <a:t>One place for applications, interviews, follow-ups and documents</a:t>
            </a:r>
          </a:p>
          <a:p>
            <a:pPr>
              <a:spcAft>
                <a:spcPts val="500"/>
              </a:spcAft>
            </a:pPr>
            <a:r>
              <a:rPr sz="1300" b="1">
                <a:solidFill>
                  <a:srgbClr val="197566"/>
                </a:solidFill>
                <a:latin typeface="Calibri"/>
              </a:rPr>
              <a:t>•  </a:t>
            </a:r>
            <a:r>
              <a:rPr sz="1300" b="0">
                <a:solidFill>
                  <a:srgbClr val="2B2D33"/>
                </a:solidFill>
                <a:latin typeface="Calibri"/>
              </a:rPr>
              <a:t>Business rules enforced by the server</a:t>
            </a:r>
          </a:p>
        </p:txBody>
      </p:sp>
      <p:cxnSp>
        <p:nvCxnSpPr>
          <p:cNvPr id="9" name="Connector 8"/>
          <p:cNvCxnSpPr/>
          <p:nvPr/>
        </p:nvCxnSpPr>
        <p:spPr>
          <a:xfrm>
            <a:off x="3136392" y="1737360"/>
            <a:ext cx="0" cy="384048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291840" y="1691640"/>
            <a:ext cx="2514600" cy="365760"/>
          </a:xfrm>
          <a:prstGeom prst="rect">
            <a:avLst/>
          </a:prstGeom>
          <a:noFill/>
        </p:spPr>
        <p:txBody>
          <a:bodyPr wrap="square" lIns="36576" rIns="36576" anchor="t">
            <a:spAutoFit/>
          </a:bodyPr>
          <a:lstStyle/>
          <a:p>
            <a:pPr algn="l"/>
            <a:r>
              <a:rPr sz="1600" b="1" i="0">
                <a:solidFill>
                  <a:srgbClr val="211B42"/>
                </a:solidFill>
                <a:latin typeface="Calibri"/>
              </a:rPr>
              <a:t>Built on quality</a:t>
            </a:r>
          </a:p>
        </p:txBody>
      </p:sp>
      <p:cxnSp>
        <p:nvCxnSpPr>
          <p:cNvPr id="11" name="Connector 10"/>
          <p:cNvCxnSpPr/>
          <p:nvPr/>
        </p:nvCxnSpPr>
        <p:spPr>
          <a:xfrm>
            <a:off x="3291840" y="21305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91840" y="2240280"/>
            <a:ext cx="2514600" cy="3383279"/>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34 requirements traced to tests</a:t>
            </a:r>
          </a:p>
          <a:p>
            <a:pPr>
              <a:spcAft>
                <a:spcPts val="500"/>
              </a:spcAft>
            </a:pPr>
            <a:r>
              <a:rPr sz="1300" b="1">
                <a:solidFill>
                  <a:srgbClr val="197566"/>
                </a:solidFill>
                <a:latin typeface="Calibri"/>
              </a:rPr>
              <a:t>•  </a:t>
            </a:r>
            <a:r>
              <a:rPr sz="1300" b="0">
                <a:solidFill>
                  <a:srgbClr val="2B2D33"/>
                </a:solidFill>
                <a:latin typeface="Calibri"/>
              </a:rPr>
              <a:t>Manual and automated testing</a:t>
            </a:r>
          </a:p>
          <a:p>
            <a:pPr>
              <a:spcAft>
                <a:spcPts val="500"/>
              </a:spcAft>
            </a:pPr>
            <a:r>
              <a:rPr sz="1300" b="1">
                <a:solidFill>
                  <a:srgbClr val="197566"/>
                </a:solidFill>
                <a:latin typeface="Calibri"/>
              </a:rPr>
              <a:t>•  </a:t>
            </a:r>
            <a:r>
              <a:rPr sz="1300" b="0">
                <a:solidFill>
                  <a:srgbClr val="2B2D33"/>
                </a:solidFill>
                <a:latin typeface="Calibri"/>
              </a:rPr>
              <a:t>Clear, layered architecture that is easy to extend</a:t>
            </a:r>
          </a:p>
        </p:txBody>
      </p:sp>
      <p:cxnSp>
        <p:nvCxnSpPr>
          <p:cNvPr id="13" name="Connector 12"/>
          <p:cNvCxnSpPr/>
          <p:nvPr/>
        </p:nvCxnSpPr>
        <p:spPr>
          <a:xfrm>
            <a:off x="5843016" y="1737360"/>
            <a:ext cx="0" cy="384048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98464" y="1691640"/>
            <a:ext cx="2514600" cy="365760"/>
          </a:xfrm>
          <a:prstGeom prst="rect">
            <a:avLst/>
          </a:prstGeom>
          <a:noFill/>
        </p:spPr>
        <p:txBody>
          <a:bodyPr wrap="square" lIns="36576" rIns="36576" anchor="t">
            <a:spAutoFit/>
          </a:bodyPr>
          <a:lstStyle/>
          <a:p>
            <a:pPr algn="l"/>
            <a:r>
              <a:rPr sz="1600" b="1" i="0">
                <a:solidFill>
                  <a:srgbClr val="211B42"/>
                </a:solidFill>
                <a:latin typeface="Calibri"/>
              </a:rPr>
              <a:t>Usability</a:t>
            </a:r>
          </a:p>
        </p:txBody>
      </p:sp>
      <p:cxnSp>
        <p:nvCxnSpPr>
          <p:cNvPr id="15" name="Connector 14"/>
          <p:cNvCxnSpPr/>
          <p:nvPr/>
        </p:nvCxnSpPr>
        <p:spPr>
          <a:xfrm>
            <a:off x="5998464" y="21305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98464" y="2240280"/>
            <a:ext cx="2514600" cy="3383279"/>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Only valid next steps are shown</a:t>
            </a:r>
          </a:p>
          <a:p>
            <a:pPr>
              <a:spcAft>
                <a:spcPts val="500"/>
              </a:spcAft>
            </a:pPr>
            <a:r>
              <a:rPr sz="1300" b="1">
                <a:solidFill>
                  <a:srgbClr val="197566"/>
                </a:solidFill>
                <a:latin typeface="Calibri"/>
              </a:rPr>
              <a:t>•  </a:t>
            </a:r>
            <a:r>
              <a:rPr sz="1300" b="0">
                <a:solidFill>
                  <a:srgbClr val="2B2D33"/>
                </a:solidFill>
                <a:latin typeface="Calibri"/>
              </a:rPr>
              <a:t>Confirmation before changes that cannot be undone</a:t>
            </a:r>
          </a:p>
          <a:p>
            <a:pPr>
              <a:spcAft>
                <a:spcPts val="500"/>
              </a:spcAft>
            </a:pPr>
            <a:r>
              <a:rPr sz="1300" b="1">
                <a:solidFill>
                  <a:srgbClr val="197566"/>
                </a:solidFill>
                <a:latin typeface="Calibri"/>
              </a:rPr>
              <a:t>•  </a:t>
            </a:r>
            <a:r>
              <a:rPr sz="1300" b="0">
                <a:solidFill>
                  <a:srgbClr val="2B2D33"/>
                </a:solidFill>
                <a:latin typeface="Calibri"/>
              </a:rPr>
              <a:t>Inline editing and clear error messages</a:t>
            </a:r>
          </a:p>
          <a:p>
            <a:pPr>
              <a:spcAft>
                <a:spcPts val="500"/>
              </a:spcAft>
            </a:pPr>
            <a:r>
              <a:rPr sz="1300" b="1">
                <a:solidFill>
                  <a:srgbClr val="197566"/>
                </a:solidFill>
                <a:latin typeface="Calibri"/>
              </a:rPr>
              <a:t>•  </a:t>
            </a:r>
            <a:r>
              <a:rPr sz="1300" b="0">
                <a:solidFill>
                  <a:srgbClr val="2B2D33"/>
                </a:solidFill>
                <a:latin typeface="Calibri"/>
              </a:rPr>
              <a:t>26-page user manual with screenshots</a:t>
            </a:r>
          </a:p>
        </p:txBody>
      </p:sp>
      <p:sp>
        <p:nvSpPr>
          <p:cNvPr id="17" name="TextBox 16"/>
          <p:cNvSpPr txBox="1"/>
          <p:nvPr/>
        </p:nvSpPr>
        <p:spPr>
          <a:xfrm>
            <a:off x="557784" y="5760720"/>
            <a:ext cx="7955279" cy="365760"/>
          </a:xfrm>
          <a:prstGeom prst="rect">
            <a:avLst/>
          </a:prstGeom>
          <a:noFill/>
        </p:spPr>
        <p:txBody>
          <a:bodyPr wrap="square" lIns="36576" rIns="36576" anchor="t">
            <a:spAutoFit/>
          </a:bodyPr>
          <a:lstStyle/>
          <a:p>
            <a:pPr algn="ctr"/>
            <a:r>
              <a:rPr sz="1400" b="1" i="0">
                <a:solidFill>
                  <a:srgbClr val="197566"/>
                </a:solidFill>
                <a:latin typeface="Calibri"/>
              </a:rPr>
              <a:t>Value for users: </a:t>
            </a:r>
            <a:r>
              <a:rPr sz="1400" b="0" i="0">
                <a:solidFill>
                  <a:srgbClr val="2B2D33"/>
                </a:solidFill>
                <a:latin typeface="Calibri"/>
              </a:rPr>
              <a:t>fewer missed follow-ups, no duplicate applications, and a clear view of progress.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Requirements and Status Workflow</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BUSINESS ANALYST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6</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pic>
        <p:nvPicPr>
          <p:cNvPr id="6" name="Picture 5" descr="workflow.png"/>
          <p:cNvPicPr>
            <a:picLocks noChangeAspect="1"/>
          </p:cNvPicPr>
          <p:nvPr/>
        </p:nvPicPr>
        <p:blipFill>
          <a:blip r:embed="rId3"/>
          <a:stretch>
            <a:fillRect/>
          </a:stretch>
        </p:blipFill>
        <p:spPr>
          <a:xfrm>
            <a:off x="1476472" y="1600200"/>
            <a:ext cx="6117903" cy="1691640"/>
          </a:xfrm>
          <a:prstGeom prst="rect">
            <a:avLst/>
          </a:prstGeom>
        </p:spPr>
      </p:pic>
      <p:cxnSp>
        <p:nvCxnSpPr>
          <p:cNvPr id="7" name="Rule"/>
          <p:cNvCxnSpPr/>
          <p:nvPr/>
        </p:nvCxnSpPr>
        <p:spPr>
          <a:xfrm>
            <a:off x="557784" y="3429000"/>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57784" y="3520440"/>
            <a:ext cx="1920240" cy="502920"/>
          </a:xfrm>
          <a:prstGeom prst="rect">
            <a:avLst/>
          </a:prstGeom>
          <a:noFill/>
        </p:spPr>
        <p:txBody>
          <a:bodyPr wrap="square" lIns="36576" tIns="18288" rIns="36576" bIns="18288" anchor="b">
            <a:spAutoFit/>
          </a:bodyPr>
          <a:lstStyle/>
          <a:p>
            <a:pPr algn="l"/>
            <a:r>
              <a:rPr sz="2800" b="1" i="0">
                <a:solidFill>
                  <a:srgbClr val="197566"/>
                </a:solidFill>
                <a:latin typeface="Calibri"/>
              </a:rPr>
              <a:t>34</a:t>
            </a:r>
          </a:p>
        </p:txBody>
      </p:sp>
      <p:sp>
        <p:nvSpPr>
          <p:cNvPr id="9" name="TextBox 8"/>
          <p:cNvSpPr txBox="1"/>
          <p:nvPr/>
        </p:nvSpPr>
        <p:spPr>
          <a:xfrm>
            <a:off x="557784" y="4023360"/>
            <a:ext cx="1920240" cy="292608"/>
          </a:xfrm>
          <a:prstGeom prst="rect">
            <a:avLst/>
          </a:prstGeom>
          <a:noFill/>
        </p:spPr>
        <p:txBody>
          <a:bodyPr wrap="square" lIns="36576" tIns="18288" rIns="36576" bIns="18288" anchor="t">
            <a:spAutoFit/>
          </a:bodyPr>
          <a:lstStyle/>
          <a:p>
            <a:pPr algn="l"/>
            <a:r>
              <a:rPr sz="1300" b="0" i="0">
                <a:solidFill>
                  <a:srgbClr val="2B2D33"/>
                </a:solidFill>
                <a:latin typeface="Calibri"/>
              </a:rPr>
              <a:t>functional requirements</a:t>
            </a:r>
          </a:p>
        </p:txBody>
      </p:sp>
      <p:sp>
        <p:nvSpPr>
          <p:cNvPr id="10" name="TextBox 9"/>
          <p:cNvSpPr txBox="1"/>
          <p:nvPr/>
        </p:nvSpPr>
        <p:spPr>
          <a:xfrm>
            <a:off x="2551176" y="3520440"/>
            <a:ext cx="1920240" cy="502920"/>
          </a:xfrm>
          <a:prstGeom prst="rect">
            <a:avLst/>
          </a:prstGeom>
          <a:noFill/>
        </p:spPr>
        <p:txBody>
          <a:bodyPr wrap="square" lIns="36576" tIns="18288" rIns="36576" bIns="18288" anchor="b">
            <a:spAutoFit/>
          </a:bodyPr>
          <a:lstStyle/>
          <a:p>
            <a:pPr algn="l"/>
            <a:r>
              <a:rPr sz="2800" b="1" i="0">
                <a:solidFill>
                  <a:srgbClr val="197566"/>
                </a:solidFill>
                <a:latin typeface="Calibri"/>
              </a:rPr>
              <a:t>9</a:t>
            </a:r>
          </a:p>
        </p:txBody>
      </p:sp>
      <p:sp>
        <p:nvSpPr>
          <p:cNvPr id="11" name="TextBox 10"/>
          <p:cNvSpPr txBox="1"/>
          <p:nvPr/>
        </p:nvSpPr>
        <p:spPr>
          <a:xfrm>
            <a:off x="2551176" y="4023360"/>
            <a:ext cx="1920240" cy="292608"/>
          </a:xfrm>
          <a:prstGeom prst="rect">
            <a:avLst/>
          </a:prstGeom>
          <a:noFill/>
        </p:spPr>
        <p:txBody>
          <a:bodyPr wrap="square" lIns="36576" tIns="18288" rIns="36576" bIns="18288" anchor="t">
            <a:spAutoFit/>
          </a:bodyPr>
          <a:lstStyle/>
          <a:p>
            <a:pPr algn="l"/>
            <a:r>
              <a:rPr sz="1300" b="0" i="0">
                <a:solidFill>
                  <a:srgbClr val="2B2D33"/>
                </a:solidFill>
                <a:latin typeface="Calibri"/>
              </a:rPr>
              <a:t>non-functional</a:t>
            </a:r>
          </a:p>
        </p:txBody>
      </p:sp>
      <p:sp>
        <p:nvSpPr>
          <p:cNvPr id="12" name="TextBox 11"/>
          <p:cNvSpPr txBox="1"/>
          <p:nvPr/>
        </p:nvSpPr>
        <p:spPr>
          <a:xfrm>
            <a:off x="4544568" y="3520440"/>
            <a:ext cx="1920240" cy="502920"/>
          </a:xfrm>
          <a:prstGeom prst="rect">
            <a:avLst/>
          </a:prstGeom>
          <a:noFill/>
        </p:spPr>
        <p:txBody>
          <a:bodyPr wrap="square" lIns="36576" tIns="18288" rIns="36576" bIns="18288" anchor="b">
            <a:spAutoFit/>
          </a:bodyPr>
          <a:lstStyle/>
          <a:p>
            <a:pPr algn="l"/>
            <a:r>
              <a:rPr sz="2800" b="1" i="0">
                <a:solidFill>
                  <a:srgbClr val="197566"/>
                </a:solidFill>
                <a:latin typeface="Calibri"/>
              </a:rPr>
              <a:t>10</a:t>
            </a:r>
          </a:p>
        </p:txBody>
      </p:sp>
      <p:sp>
        <p:nvSpPr>
          <p:cNvPr id="13" name="TextBox 12"/>
          <p:cNvSpPr txBox="1"/>
          <p:nvPr/>
        </p:nvSpPr>
        <p:spPr>
          <a:xfrm>
            <a:off x="4544568" y="4023360"/>
            <a:ext cx="1920240" cy="292608"/>
          </a:xfrm>
          <a:prstGeom prst="rect">
            <a:avLst/>
          </a:prstGeom>
          <a:noFill/>
        </p:spPr>
        <p:txBody>
          <a:bodyPr wrap="square" lIns="36576" tIns="18288" rIns="36576" bIns="18288" anchor="t">
            <a:spAutoFit/>
          </a:bodyPr>
          <a:lstStyle/>
          <a:p>
            <a:pPr algn="l"/>
            <a:r>
              <a:rPr sz="1300" b="0" i="0">
                <a:solidFill>
                  <a:srgbClr val="2B2D33"/>
                </a:solidFill>
                <a:latin typeface="Calibri"/>
              </a:rPr>
              <a:t>user stories</a:t>
            </a:r>
          </a:p>
        </p:txBody>
      </p:sp>
      <p:sp>
        <p:nvSpPr>
          <p:cNvPr id="14" name="TextBox 13"/>
          <p:cNvSpPr txBox="1"/>
          <p:nvPr/>
        </p:nvSpPr>
        <p:spPr>
          <a:xfrm>
            <a:off x="6537960" y="3520440"/>
            <a:ext cx="1920240" cy="502920"/>
          </a:xfrm>
          <a:prstGeom prst="rect">
            <a:avLst/>
          </a:prstGeom>
          <a:noFill/>
        </p:spPr>
        <p:txBody>
          <a:bodyPr wrap="square" lIns="36576" tIns="18288" rIns="36576" bIns="18288" anchor="b">
            <a:spAutoFit/>
          </a:bodyPr>
          <a:lstStyle/>
          <a:p>
            <a:pPr algn="l"/>
            <a:r>
              <a:rPr sz="2800" b="1" i="0">
                <a:solidFill>
                  <a:srgbClr val="197566"/>
                </a:solidFill>
                <a:latin typeface="Calibri"/>
              </a:rPr>
              <a:t>8</a:t>
            </a:r>
          </a:p>
        </p:txBody>
      </p:sp>
      <p:sp>
        <p:nvSpPr>
          <p:cNvPr id="15" name="TextBox 14"/>
          <p:cNvSpPr txBox="1"/>
          <p:nvPr/>
        </p:nvSpPr>
        <p:spPr>
          <a:xfrm>
            <a:off x="6537960" y="4023360"/>
            <a:ext cx="1920240" cy="292608"/>
          </a:xfrm>
          <a:prstGeom prst="rect">
            <a:avLst/>
          </a:prstGeom>
          <a:noFill/>
        </p:spPr>
        <p:txBody>
          <a:bodyPr wrap="square" lIns="36576" tIns="18288" rIns="36576" bIns="18288" anchor="t">
            <a:spAutoFit/>
          </a:bodyPr>
          <a:lstStyle/>
          <a:p>
            <a:pPr algn="l"/>
            <a:r>
              <a:rPr sz="1300" b="0" i="0">
                <a:solidFill>
                  <a:srgbClr val="2B2D33"/>
                </a:solidFill>
                <a:latin typeface="Calibri"/>
              </a:rPr>
              <a:t>use cases</a:t>
            </a:r>
          </a:p>
        </p:txBody>
      </p:sp>
      <p:cxnSp>
        <p:nvCxnSpPr>
          <p:cNvPr id="16" name="Rule"/>
          <p:cNvCxnSpPr/>
          <p:nvPr/>
        </p:nvCxnSpPr>
        <p:spPr>
          <a:xfrm>
            <a:off x="557784" y="4498848"/>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57784" y="4617720"/>
            <a:ext cx="2606040" cy="320040"/>
          </a:xfrm>
          <a:prstGeom prst="rect">
            <a:avLst/>
          </a:prstGeom>
          <a:noFill/>
        </p:spPr>
        <p:txBody>
          <a:bodyPr wrap="square" lIns="36576" tIns="18288" rIns="36576" bIns="18288" anchor="t">
            <a:spAutoFit/>
          </a:bodyPr>
          <a:lstStyle/>
          <a:p>
            <a:pPr algn="l"/>
            <a:r>
              <a:rPr sz="1450" b="1" i="0">
                <a:solidFill>
                  <a:srgbClr val="211B42"/>
                </a:solidFill>
                <a:latin typeface="Calibri"/>
              </a:rPr>
              <a:t>Ten allowed moves</a:t>
            </a:r>
          </a:p>
        </p:txBody>
      </p:sp>
      <p:sp>
        <p:nvSpPr>
          <p:cNvPr id="18" name="TextBox 17"/>
          <p:cNvSpPr txBox="1"/>
          <p:nvPr/>
        </p:nvSpPr>
        <p:spPr>
          <a:xfrm>
            <a:off x="557784" y="4956048"/>
            <a:ext cx="2560320" cy="685800"/>
          </a:xfrm>
          <a:prstGeom prst="rect">
            <a:avLst/>
          </a:prstGeom>
          <a:noFill/>
        </p:spPr>
        <p:txBody>
          <a:bodyPr wrap="square" lIns="36576" tIns="18288" rIns="36576" bIns="18288" anchor="t">
            <a:spAutoFit/>
          </a:bodyPr>
          <a:lstStyle/>
          <a:p>
            <a:pPr algn="l"/>
            <a:r>
              <a:rPr sz="1250" b="0" i="0">
                <a:solidFill>
                  <a:srgbClr val="2B2D33"/>
                </a:solidFill>
                <a:latin typeface="Calibri"/>
              </a:rPr>
              <a:t>Enforced by the API; the UI shows only valid actions.</a:t>
            </a:r>
          </a:p>
        </p:txBody>
      </p:sp>
      <p:sp>
        <p:nvSpPr>
          <p:cNvPr id="19" name="TextBox 18"/>
          <p:cNvSpPr txBox="1"/>
          <p:nvPr/>
        </p:nvSpPr>
        <p:spPr>
          <a:xfrm>
            <a:off x="3227832" y="4617720"/>
            <a:ext cx="2606040" cy="320040"/>
          </a:xfrm>
          <a:prstGeom prst="rect">
            <a:avLst/>
          </a:prstGeom>
          <a:noFill/>
        </p:spPr>
        <p:txBody>
          <a:bodyPr wrap="square" lIns="36576" tIns="18288" rIns="36576" bIns="18288" anchor="t">
            <a:spAutoFit/>
          </a:bodyPr>
          <a:lstStyle/>
          <a:p>
            <a:pPr algn="l"/>
            <a:r>
              <a:rPr sz="1450" b="1" i="0">
                <a:solidFill>
                  <a:srgbClr val="211B42"/>
                </a:solidFill>
                <a:latin typeface="Calibri"/>
              </a:rPr>
              <a:t>Skip to offer</a:t>
            </a:r>
          </a:p>
        </p:txBody>
      </p:sp>
      <p:sp>
        <p:nvSpPr>
          <p:cNvPr id="20" name="TextBox 19"/>
          <p:cNvSpPr txBox="1"/>
          <p:nvPr/>
        </p:nvSpPr>
        <p:spPr>
          <a:xfrm>
            <a:off x="3227832" y="4956048"/>
            <a:ext cx="2560320" cy="685800"/>
          </a:xfrm>
          <a:prstGeom prst="rect">
            <a:avLst/>
          </a:prstGeom>
          <a:noFill/>
        </p:spPr>
        <p:txBody>
          <a:bodyPr wrap="square" lIns="36576" tIns="18288" rIns="36576" bIns="18288" anchor="t">
            <a:spAutoFit/>
          </a:bodyPr>
          <a:lstStyle/>
          <a:p>
            <a:pPr algn="l"/>
            <a:r>
              <a:rPr sz="1250" b="0" i="0">
                <a:solidFill>
                  <a:srgbClr val="2B2D33"/>
                </a:solidFill>
                <a:latin typeface="Calibri"/>
              </a:rPr>
              <a:t>Applied → Offer only with explicit confirmation.</a:t>
            </a:r>
          </a:p>
        </p:txBody>
      </p:sp>
      <p:sp>
        <p:nvSpPr>
          <p:cNvPr id="21" name="TextBox 20"/>
          <p:cNvSpPr txBox="1"/>
          <p:nvPr/>
        </p:nvSpPr>
        <p:spPr>
          <a:xfrm>
            <a:off x="5897880" y="4617720"/>
            <a:ext cx="2606040" cy="320040"/>
          </a:xfrm>
          <a:prstGeom prst="rect">
            <a:avLst/>
          </a:prstGeom>
          <a:noFill/>
        </p:spPr>
        <p:txBody>
          <a:bodyPr wrap="square" lIns="36576" tIns="18288" rIns="36576" bIns="18288" anchor="t">
            <a:spAutoFit/>
          </a:bodyPr>
          <a:lstStyle/>
          <a:p>
            <a:pPr algn="l"/>
            <a:r>
              <a:rPr sz="1450" b="1" i="0">
                <a:solidFill>
                  <a:srgbClr val="211B42"/>
                </a:solidFill>
                <a:latin typeface="Calibri"/>
              </a:rPr>
              <a:t>Restore and audit</a:t>
            </a:r>
          </a:p>
        </p:txBody>
      </p:sp>
      <p:sp>
        <p:nvSpPr>
          <p:cNvPr id="22" name="TextBox 21"/>
          <p:cNvSpPr txBox="1"/>
          <p:nvPr/>
        </p:nvSpPr>
        <p:spPr>
          <a:xfrm>
            <a:off x="5897880" y="4956048"/>
            <a:ext cx="2560320" cy="685800"/>
          </a:xfrm>
          <a:prstGeom prst="rect">
            <a:avLst/>
          </a:prstGeom>
          <a:noFill/>
        </p:spPr>
        <p:txBody>
          <a:bodyPr wrap="square" lIns="36576" tIns="18288" rIns="36576" bIns="18288" anchor="t">
            <a:spAutoFit/>
          </a:bodyPr>
          <a:lstStyle/>
          <a:p>
            <a:pPr algn="l"/>
            <a:r>
              <a:rPr sz="1250" b="0" i="0">
                <a:solidFill>
                  <a:srgbClr val="2B2D33"/>
                </a:solidFill>
                <a:latin typeface="Calibri"/>
              </a:rPr>
              <a:t>Unarchive returns the prior status; every change is logged.</a:t>
            </a:r>
          </a:p>
        </p:txBody>
      </p:sp>
      <p:sp>
        <p:nvSpPr>
          <p:cNvPr id="23" name="TextBox 22"/>
          <p:cNvSpPr txBox="1"/>
          <p:nvPr/>
        </p:nvSpPr>
        <p:spPr>
          <a:xfrm>
            <a:off x="557784" y="5760720"/>
            <a:ext cx="7955279" cy="320040"/>
          </a:xfrm>
          <a:prstGeom prst="rect">
            <a:avLst/>
          </a:prstGeom>
          <a:noFill/>
        </p:spPr>
        <p:txBody>
          <a:bodyPr wrap="square" lIns="36576" tIns="18288" rIns="36576" bIns="18288" anchor="t">
            <a:spAutoFit/>
          </a:bodyPr>
          <a:lstStyle/>
          <a:p>
            <a:pPr algn="ctr"/>
            <a:r>
              <a:rPr sz="1250" b="0" i="1">
                <a:solidFill>
                  <a:srgbClr val="626771"/>
                </a:solidFill>
                <a:latin typeface="Calibri"/>
              </a:rPr>
              <a:t>Documented in BRD v2.0 and SRS v2.0 (as built), with every requirement traced to tests.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System Architecture</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DEVELOPER · TRINH HIEU TRAN</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7</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pic>
        <p:nvPicPr>
          <p:cNvPr id="6" name="Picture 5" descr="arch.jpeg"/>
          <p:cNvPicPr>
            <a:picLocks noChangeAspect="1"/>
          </p:cNvPicPr>
          <p:nvPr/>
        </p:nvPicPr>
        <p:blipFill>
          <a:blip r:embed="rId3"/>
          <a:stretch>
            <a:fillRect/>
          </a:stretch>
        </p:blipFill>
        <p:spPr>
          <a:xfrm>
            <a:off x="557784" y="1691640"/>
            <a:ext cx="7955279" cy="3244262"/>
          </a:xfrm>
          <a:prstGeom prst="rect">
            <a:avLst/>
          </a:prstGeom>
          <a:ln w="9525">
            <a:solidFill>
              <a:srgbClr val="D9DBE1"/>
            </a:solidFill>
          </a:ln>
        </p:spPr>
      </p:pic>
      <p:sp>
        <p:nvSpPr>
          <p:cNvPr id="7" name="TextBox 6"/>
          <p:cNvSpPr txBox="1"/>
          <p:nvPr/>
        </p:nvSpPr>
        <p:spPr>
          <a:xfrm>
            <a:off x="557784" y="5349240"/>
            <a:ext cx="7955279" cy="731520"/>
          </a:xfrm>
          <a:prstGeom prst="rect">
            <a:avLst/>
          </a:prstGeom>
          <a:noFill/>
        </p:spPr>
        <p:txBody>
          <a:bodyPr wrap="square" lIns="36576" tIns="18288" rIns="36576" bIns="18288" anchor="t">
            <a:spAutoFit/>
          </a:bodyPr>
          <a:lstStyle/>
          <a:p>
            <a:pPr algn="ctr"/>
            <a:r>
              <a:rPr sz="1450" b="1" i="0">
                <a:solidFill>
                  <a:srgbClr val="211B42"/>
                </a:solidFill>
                <a:latin typeface="Calibri"/>
              </a:rPr>
              <a:t>Three tiers: </a:t>
            </a:r>
            <a:r>
              <a:rPr sz="1450" b="0" i="0">
                <a:solidFill>
                  <a:srgbClr val="2B2D33"/>
                </a:solidFill>
                <a:latin typeface="Calibri"/>
              </a:rPr>
              <a:t>the browser talks only to the API, except documents — the API issues short-lived presigned URLs so files go directly to and from S3.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Technology Stack and Security</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DEVELOPER · TRINH HIEU TRAN</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8</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48640" y="1691640"/>
            <a:ext cx="3840480" cy="365760"/>
          </a:xfrm>
          <a:prstGeom prst="rect">
            <a:avLst/>
          </a:prstGeom>
          <a:noFill/>
        </p:spPr>
        <p:txBody>
          <a:bodyPr wrap="square" lIns="36576" tIns="18288" rIns="36576" bIns="18288" anchor="t">
            <a:spAutoFit/>
          </a:bodyPr>
          <a:lstStyle/>
          <a:p>
            <a:pPr algn="l"/>
            <a:r>
              <a:rPr sz="1850" b="1" i="0">
                <a:solidFill>
                  <a:srgbClr val="211B42"/>
                </a:solidFill>
                <a:latin typeface="Calibri"/>
              </a:rPr>
              <a:t>Technology stack</a:t>
            </a:r>
          </a:p>
        </p:txBody>
      </p:sp>
      <p:graphicFrame>
        <p:nvGraphicFramePr>
          <p:cNvPr id="7" name="Table 6"/>
          <p:cNvGraphicFramePr>
            <a:graphicFrameLocks noGrp="1"/>
          </p:cNvGraphicFramePr>
          <p:nvPr/>
        </p:nvGraphicFramePr>
        <p:xfrm>
          <a:off x="548640" y="2148840"/>
          <a:ext cx="3886200" cy="329184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48640">
                <a:tc>
                  <a:txBody>
                    <a:bodyPr/>
                    <a:lstStyle/>
                    <a:p>
                      <a:r>
                        <a:rPr sz="1300" b="1">
                          <a:solidFill>
                            <a:srgbClr val="211B42"/>
                          </a:solidFill>
                          <a:latin typeface="Calibri"/>
                        </a:rPr>
                        <a:t>Layer</a:t>
                      </a:r>
                    </a:p>
                  </a:txBody>
                  <a:tcPr anchor="ctr">
                    <a:solidFill>
                      <a:srgbClr val="F2F4F7"/>
                    </a:solidFill>
                  </a:tcPr>
                </a:tc>
                <a:tc>
                  <a:txBody>
                    <a:bodyPr/>
                    <a:lstStyle/>
                    <a:p>
                      <a:r>
                        <a:rPr sz="1300" b="1">
                          <a:solidFill>
                            <a:srgbClr val="211B42"/>
                          </a:solidFill>
                          <a:latin typeface="Calibri"/>
                        </a:rPr>
                        <a:t>Technology</a:t>
                      </a:r>
                    </a:p>
                  </a:txBody>
                  <a:tcPr anchor="ctr">
                    <a:solidFill>
                      <a:srgbClr val="F2F4F7"/>
                    </a:solidFill>
                  </a:tcPr>
                </a:tc>
                <a:extLst>
                  <a:ext uri="{0D108BD9-81ED-4DB2-BD59-A6C34878D82A}">
                    <a16:rowId xmlns:a16="http://schemas.microsoft.com/office/drawing/2014/main" val="10000"/>
                  </a:ext>
                </a:extLst>
              </a:tr>
              <a:tr h="548640">
                <a:tc>
                  <a:txBody>
                    <a:bodyPr/>
                    <a:lstStyle/>
                    <a:p>
                      <a:r>
                        <a:rPr sz="1300" b="1">
                          <a:solidFill>
                            <a:srgbClr val="211B42"/>
                          </a:solidFill>
                          <a:latin typeface="Calibri"/>
                        </a:rPr>
                        <a:t>Frontend</a:t>
                      </a:r>
                    </a:p>
                  </a:txBody>
                  <a:tcPr anchor="ctr">
                    <a:solidFill>
                      <a:srgbClr val="FFFFFF"/>
                    </a:solidFill>
                  </a:tcPr>
                </a:tc>
                <a:tc>
                  <a:txBody>
                    <a:bodyPr/>
                    <a:lstStyle/>
                    <a:p>
                      <a:r>
                        <a:rPr sz="1300" b="0">
                          <a:solidFill>
                            <a:srgbClr val="2B2D33"/>
                          </a:solidFill>
                          <a:latin typeface="Calibri"/>
                        </a:rPr>
                        <a:t>React 18, TypeScript, Vite, Tailwind CSS</a:t>
                      </a:r>
                    </a:p>
                  </a:txBody>
                  <a:tcPr anchor="ctr">
                    <a:solidFill>
                      <a:srgbClr val="FFFFFF"/>
                    </a:solidFill>
                  </a:tcPr>
                </a:tc>
                <a:extLst>
                  <a:ext uri="{0D108BD9-81ED-4DB2-BD59-A6C34878D82A}">
                    <a16:rowId xmlns:a16="http://schemas.microsoft.com/office/drawing/2014/main" val="10001"/>
                  </a:ext>
                </a:extLst>
              </a:tr>
              <a:tr h="548640">
                <a:tc>
                  <a:txBody>
                    <a:bodyPr/>
                    <a:lstStyle/>
                    <a:p>
                      <a:r>
                        <a:rPr sz="1300" b="1">
                          <a:solidFill>
                            <a:srgbClr val="211B42"/>
                          </a:solidFill>
                          <a:latin typeface="Calibri"/>
                        </a:rPr>
                        <a:t>Backend</a:t>
                      </a:r>
                    </a:p>
                  </a:txBody>
                  <a:tcPr anchor="ctr">
                    <a:solidFill>
                      <a:srgbClr val="FFFFFF"/>
                    </a:solidFill>
                  </a:tcPr>
                </a:tc>
                <a:tc>
                  <a:txBody>
                    <a:bodyPr/>
                    <a:lstStyle/>
                    <a:p>
                      <a:r>
                        <a:rPr sz="1300" b="0">
                          <a:solidFill>
                            <a:srgbClr val="2B2D33"/>
                          </a:solidFill>
                          <a:latin typeface="Calibri"/>
                        </a:rPr>
                        <a:t>ASP.NET Core on .NET 10, layered modules</a:t>
                      </a:r>
                    </a:p>
                  </a:txBody>
                  <a:tcPr anchor="ctr">
                    <a:solidFill>
                      <a:srgbClr val="FFFFFF"/>
                    </a:solidFill>
                  </a:tcPr>
                </a:tc>
                <a:extLst>
                  <a:ext uri="{0D108BD9-81ED-4DB2-BD59-A6C34878D82A}">
                    <a16:rowId xmlns:a16="http://schemas.microsoft.com/office/drawing/2014/main" val="10002"/>
                  </a:ext>
                </a:extLst>
              </a:tr>
              <a:tr h="548640">
                <a:tc>
                  <a:txBody>
                    <a:bodyPr/>
                    <a:lstStyle/>
                    <a:p>
                      <a:r>
                        <a:rPr sz="1300" b="1">
                          <a:solidFill>
                            <a:srgbClr val="211B42"/>
                          </a:solidFill>
                          <a:latin typeface="Calibri"/>
                        </a:rPr>
                        <a:t>Database</a:t>
                      </a:r>
                    </a:p>
                  </a:txBody>
                  <a:tcPr anchor="ctr">
                    <a:solidFill>
                      <a:srgbClr val="FFFFFF"/>
                    </a:solidFill>
                  </a:tcPr>
                </a:tc>
                <a:tc>
                  <a:txBody>
                    <a:bodyPr/>
                    <a:lstStyle/>
                    <a:p>
                      <a:r>
                        <a:rPr sz="1300" b="0">
                          <a:solidFill>
                            <a:srgbClr val="2B2D33"/>
                          </a:solidFill>
                          <a:latin typeface="Calibri"/>
                        </a:rPr>
                        <a:t>PostgreSQL 16, Entity Framework Core</a:t>
                      </a:r>
                    </a:p>
                  </a:txBody>
                  <a:tcPr anchor="ctr">
                    <a:solidFill>
                      <a:srgbClr val="FFFFFF"/>
                    </a:solidFill>
                  </a:tcPr>
                </a:tc>
                <a:extLst>
                  <a:ext uri="{0D108BD9-81ED-4DB2-BD59-A6C34878D82A}">
                    <a16:rowId xmlns:a16="http://schemas.microsoft.com/office/drawing/2014/main" val="10003"/>
                  </a:ext>
                </a:extLst>
              </a:tr>
              <a:tr h="548640">
                <a:tc>
                  <a:txBody>
                    <a:bodyPr/>
                    <a:lstStyle/>
                    <a:p>
                      <a:r>
                        <a:rPr sz="1300" b="1">
                          <a:solidFill>
                            <a:srgbClr val="211B42"/>
                          </a:solidFill>
                          <a:latin typeface="Calibri"/>
                        </a:rPr>
                        <a:t>Storage</a:t>
                      </a:r>
                    </a:p>
                  </a:txBody>
                  <a:tcPr anchor="ctr">
                    <a:solidFill>
                      <a:srgbClr val="FFFFFF"/>
                    </a:solidFill>
                  </a:tcPr>
                </a:tc>
                <a:tc>
                  <a:txBody>
                    <a:bodyPr/>
                    <a:lstStyle/>
                    <a:p>
                      <a:r>
                        <a:rPr sz="1300" b="0">
                          <a:solidFill>
                            <a:srgbClr val="2B2D33"/>
                          </a:solidFill>
                          <a:latin typeface="Calibri"/>
                        </a:rPr>
                        <a:t>AWS S3 with presigned URLs</a:t>
                      </a:r>
                    </a:p>
                  </a:txBody>
                  <a:tcPr anchor="ctr">
                    <a:solidFill>
                      <a:srgbClr val="FFFFFF"/>
                    </a:solidFill>
                  </a:tcPr>
                </a:tc>
                <a:extLst>
                  <a:ext uri="{0D108BD9-81ED-4DB2-BD59-A6C34878D82A}">
                    <a16:rowId xmlns:a16="http://schemas.microsoft.com/office/drawing/2014/main" val="10004"/>
                  </a:ext>
                </a:extLst>
              </a:tr>
              <a:tr h="548640">
                <a:tc>
                  <a:txBody>
                    <a:bodyPr/>
                    <a:lstStyle/>
                    <a:p>
                      <a:r>
                        <a:rPr sz="1300" b="1">
                          <a:solidFill>
                            <a:srgbClr val="211B42"/>
                          </a:solidFill>
                          <a:latin typeface="Calibri"/>
                        </a:rPr>
                        <a:t>API docs</a:t>
                      </a:r>
                    </a:p>
                  </a:txBody>
                  <a:tcPr anchor="ctr">
                    <a:solidFill>
                      <a:srgbClr val="FFFFFF"/>
                    </a:solidFill>
                  </a:tcPr>
                </a:tc>
                <a:tc>
                  <a:txBody>
                    <a:bodyPr/>
                    <a:lstStyle/>
                    <a:p>
                      <a:r>
                        <a:rPr sz="1300" b="0">
                          <a:solidFill>
                            <a:srgbClr val="2B2D33"/>
                          </a:solidFill>
                          <a:latin typeface="Calibri"/>
                        </a:rPr>
                        <a:t>Swagger / OpenAPI</a:t>
                      </a:r>
                    </a:p>
                  </a:txBody>
                  <a:tcPr anchor="ctr">
                    <a:solidFill>
                      <a:srgbClr val="FFFFFF"/>
                    </a:solidFill>
                  </a:tcPr>
                </a:tc>
                <a:extLst>
                  <a:ext uri="{0D108BD9-81ED-4DB2-BD59-A6C34878D82A}">
                    <a16:rowId xmlns:a16="http://schemas.microsoft.com/office/drawing/2014/main" val="10005"/>
                  </a:ext>
                </a:extLst>
              </a:tr>
            </a:tbl>
          </a:graphicData>
        </a:graphic>
      </p:graphicFrame>
      <p:cxnSp>
        <p:nvCxnSpPr>
          <p:cNvPr id="8" name="Rule"/>
          <p:cNvCxnSpPr/>
          <p:nvPr/>
        </p:nvCxnSpPr>
        <p:spPr>
          <a:xfrm>
            <a:off x="4663440" y="1755648"/>
            <a:ext cx="0" cy="420624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892040" y="1691640"/>
            <a:ext cx="3657600" cy="365760"/>
          </a:xfrm>
          <a:prstGeom prst="rect">
            <a:avLst/>
          </a:prstGeom>
          <a:noFill/>
        </p:spPr>
        <p:txBody>
          <a:bodyPr wrap="square" lIns="36576" tIns="18288" rIns="36576" bIns="18288" anchor="t">
            <a:spAutoFit/>
          </a:bodyPr>
          <a:lstStyle/>
          <a:p>
            <a:pPr algn="l"/>
            <a:r>
              <a:rPr sz="1850" b="1" i="0">
                <a:solidFill>
                  <a:srgbClr val="211B42"/>
                </a:solidFill>
                <a:latin typeface="Calibri"/>
              </a:rPr>
              <a:t>Security</a:t>
            </a:r>
          </a:p>
        </p:txBody>
      </p:sp>
      <p:sp>
        <p:nvSpPr>
          <p:cNvPr id="10" name="TextBox 9"/>
          <p:cNvSpPr txBox="1"/>
          <p:nvPr/>
        </p:nvSpPr>
        <p:spPr>
          <a:xfrm>
            <a:off x="4892040" y="2194560"/>
            <a:ext cx="3657600" cy="320040"/>
          </a:xfrm>
          <a:prstGeom prst="rect">
            <a:avLst/>
          </a:prstGeom>
          <a:noFill/>
        </p:spPr>
        <p:txBody>
          <a:bodyPr wrap="square" lIns="36576" tIns="18288" rIns="36576" bIns="18288" anchor="t">
            <a:spAutoFit/>
          </a:bodyPr>
          <a:lstStyle/>
          <a:p>
            <a:pPr algn="l"/>
            <a:r>
              <a:rPr sz="1450" b="1" i="0">
                <a:solidFill>
                  <a:srgbClr val="197566"/>
                </a:solidFill>
                <a:latin typeface="Calibri"/>
              </a:rPr>
              <a:t>Short-lived sessions</a:t>
            </a:r>
          </a:p>
        </p:txBody>
      </p:sp>
      <p:sp>
        <p:nvSpPr>
          <p:cNvPr id="11" name="TextBox 10"/>
          <p:cNvSpPr txBox="1"/>
          <p:nvPr/>
        </p:nvSpPr>
        <p:spPr>
          <a:xfrm>
            <a:off x="4892040" y="2523744"/>
            <a:ext cx="3657600" cy="548640"/>
          </a:xfrm>
          <a:prstGeom prst="rect">
            <a:avLst/>
          </a:prstGeom>
          <a:noFill/>
        </p:spPr>
        <p:txBody>
          <a:bodyPr wrap="square" lIns="36576" tIns="18288" rIns="36576" bIns="18288" anchor="t">
            <a:spAutoFit/>
          </a:bodyPr>
          <a:lstStyle/>
          <a:p>
            <a:pPr algn="l"/>
            <a:r>
              <a:rPr sz="1250" b="0" i="0">
                <a:solidFill>
                  <a:srgbClr val="2B2D33"/>
                </a:solidFill>
                <a:latin typeface="Calibri"/>
              </a:rPr>
              <a:t>15-minute JWTs; refresh tokens rotated and revoked at logout</a:t>
            </a:r>
          </a:p>
        </p:txBody>
      </p:sp>
      <p:sp>
        <p:nvSpPr>
          <p:cNvPr id="12" name="TextBox 11"/>
          <p:cNvSpPr txBox="1"/>
          <p:nvPr/>
        </p:nvSpPr>
        <p:spPr>
          <a:xfrm>
            <a:off x="4892040" y="3127248"/>
            <a:ext cx="3657600" cy="320040"/>
          </a:xfrm>
          <a:prstGeom prst="rect">
            <a:avLst/>
          </a:prstGeom>
          <a:noFill/>
        </p:spPr>
        <p:txBody>
          <a:bodyPr wrap="square" lIns="36576" tIns="18288" rIns="36576" bIns="18288" anchor="t">
            <a:spAutoFit/>
          </a:bodyPr>
          <a:lstStyle/>
          <a:p>
            <a:pPr algn="l"/>
            <a:r>
              <a:rPr sz="1450" b="1" i="0">
                <a:solidFill>
                  <a:srgbClr val="197566"/>
                </a:solidFill>
                <a:latin typeface="Calibri"/>
              </a:rPr>
              <a:t>Hashed secrets</a:t>
            </a:r>
          </a:p>
        </p:txBody>
      </p:sp>
      <p:sp>
        <p:nvSpPr>
          <p:cNvPr id="13" name="TextBox 12"/>
          <p:cNvSpPr txBox="1"/>
          <p:nvPr/>
        </p:nvSpPr>
        <p:spPr>
          <a:xfrm>
            <a:off x="4892040" y="3456432"/>
            <a:ext cx="3657600" cy="548640"/>
          </a:xfrm>
          <a:prstGeom prst="rect">
            <a:avLst/>
          </a:prstGeom>
          <a:noFill/>
        </p:spPr>
        <p:txBody>
          <a:bodyPr wrap="square" lIns="36576" tIns="18288" rIns="36576" bIns="18288" anchor="t">
            <a:spAutoFit/>
          </a:bodyPr>
          <a:lstStyle/>
          <a:p>
            <a:pPr algn="l"/>
            <a:r>
              <a:rPr sz="1250" b="0" i="0">
                <a:solidFill>
                  <a:srgbClr val="2B2D33"/>
                </a:solidFill>
                <a:latin typeface="Calibri"/>
              </a:rPr>
              <a:t>Passwords hashed (PBKDF2); refresh tokens stored as SHA-256</a:t>
            </a:r>
          </a:p>
        </p:txBody>
      </p:sp>
      <p:sp>
        <p:nvSpPr>
          <p:cNvPr id="14" name="TextBox 13"/>
          <p:cNvSpPr txBox="1"/>
          <p:nvPr/>
        </p:nvSpPr>
        <p:spPr>
          <a:xfrm>
            <a:off x="4892040" y="4059935"/>
            <a:ext cx="3657600" cy="320040"/>
          </a:xfrm>
          <a:prstGeom prst="rect">
            <a:avLst/>
          </a:prstGeom>
          <a:noFill/>
        </p:spPr>
        <p:txBody>
          <a:bodyPr wrap="square" lIns="36576" tIns="18288" rIns="36576" bIns="18288" anchor="t">
            <a:spAutoFit/>
          </a:bodyPr>
          <a:lstStyle/>
          <a:p>
            <a:pPr algn="l"/>
            <a:r>
              <a:rPr sz="1450" b="1" i="0">
                <a:solidFill>
                  <a:srgbClr val="197566"/>
                </a:solidFill>
                <a:latin typeface="Calibri"/>
              </a:rPr>
              <a:t>Per-user isolation</a:t>
            </a:r>
          </a:p>
        </p:txBody>
      </p:sp>
      <p:sp>
        <p:nvSpPr>
          <p:cNvPr id="15" name="TextBox 14"/>
          <p:cNvSpPr txBox="1"/>
          <p:nvPr/>
        </p:nvSpPr>
        <p:spPr>
          <a:xfrm>
            <a:off x="4892040" y="4389120"/>
            <a:ext cx="3657600" cy="548640"/>
          </a:xfrm>
          <a:prstGeom prst="rect">
            <a:avLst/>
          </a:prstGeom>
          <a:noFill/>
        </p:spPr>
        <p:txBody>
          <a:bodyPr wrap="square" lIns="36576" tIns="18288" rIns="36576" bIns="18288" anchor="t">
            <a:spAutoFit/>
          </a:bodyPr>
          <a:lstStyle/>
          <a:p>
            <a:pPr algn="l"/>
            <a:r>
              <a:rPr sz="1250" b="0" i="0">
                <a:solidFill>
                  <a:srgbClr val="2B2D33"/>
                </a:solidFill>
                <a:latin typeface="Calibri"/>
              </a:rPr>
              <a:t>Every query scoped to the signed-in user</a:t>
            </a:r>
          </a:p>
        </p:txBody>
      </p:sp>
      <p:sp>
        <p:nvSpPr>
          <p:cNvPr id="16" name="TextBox 15"/>
          <p:cNvSpPr txBox="1"/>
          <p:nvPr/>
        </p:nvSpPr>
        <p:spPr>
          <a:xfrm>
            <a:off x="4892040" y="4992624"/>
            <a:ext cx="3657600" cy="320040"/>
          </a:xfrm>
          <a:prstGeom prst="rect">
            <a:avLst/>
          </a:prstGeom>
          <a:noFill/>
        </p:spPr>
        <p:txBody>
          <a:bodyPr wrap="square" lIns="36576" tIns="18288" rIns="36576" bIns="18288" anchor="t">
            <a:spAutoFit/>
          </a:bodyPr>
          <a:lstStyle/>
          <a:p>
            <a:pPr algn="l"/>
            <a:r>
              <a:rPr sz="1450" b="1" i="0">
                <a:solidFill>
                  <a:srgbClr val="197566"/>
                </a:solidFill>
                <a:latin typeface="Calibri"/>
              </a:rPr>
              <a:t>Server-side rules</a:t>
            </a:r>
          </a:p>
        </p:txBody>
      </p:sp>
      <p:sp>
        <p:nvSpPr>
          <p:cNvPr id="17" name="TextBox 16"/>
          <p:cNvSpPr txBox="1"/>
          <p:nvPr/>
        </p:nvSpPr>
        <p:spPr>
          <a:xfrm>
            <a:off x="4892040" y="5321808"/>
            <a:ext cx="3657600" cy="548640"/>
          </a:xfrm>
          <a:prstGeom prst="rect">
            <a:avLst/>
          </a:prstGeom>
          <a:noFill/>
        </p:spPr>
        <p:txBody>
          <a:bodyPr wrap="square" lIns="36576" tIns="18288" rIns="36576" bIns="18288" anchor="t">
            <a:spAutoFit/>
          </a:bodyPr>
          <a:lstStyle/>
          <a:p>
            <a:pPr algn="l"/>
            <a:r>
              <a:rPr sz="1250" b="0" i="0">
                <a:solidFill>
                  <a:srgbClr val="2B2D33"/>
                </a:solidFill>
                <a:latin typeface="Calibri"/>
              </a:rPr>
              <a:t>Validation and status workflow enforced by the API; CORS restricted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Database Design</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DATABASE ADMINISTRATOR · TRINH HIEU TRAN</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9</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pic>
        <p:nvPicPr>
          <p:cNvPr id="6" name="Picture 5" descr="erd.jpeg"/>
          <p:cNvPicPr>
            <a:picLocks noChangeAspect="1"/>
          </p:cNvPicPr>
          <p:nvPr/>
        </p:nvPicPr>
        <p:blipFill>
          <a:blip r:embed="rId3"/>
          <a:stretch>
            <a:fillRect/>
          </a:stretch>
        </p:blipFill>
        <p:spPr>
          <a:xfrm>
            <a:off x="557784" y="1691640"/>
            <a:ext cx="7955279" cy="3399639"/>
          </a:xfrm>
          <a:prstGeom prst="rect">
            <a:avLst/>
          </a:prstGeom>
          <a:ln w="9525">
            <a:solidFill>
              <a:srgbClr val="D9DBE1"/>
            </a:solidFill>
          </a:ln>
        </p:spPr>
      </p:pic>
      <p:sp>
        <p:nvSpPr>
          <p:cNvPr id="7" name="TextBox 6"/>
          <p:cNvSpPr txBox="1"/>
          <p:nvPr/>
        </p:nvSpPr>
        <p:spPr>
          <a:xfrm>
            <a:off x="557784" y="5349240"/>
            <a:ext cx="7955279" cy="731520"/>
          </a:xfrm>
          <a:prstGeom prst="rect">
            <a:avLst/>
          </a:prstGeom>
          <a:noFill/>
        </p:spPr>
        <p:txBody>
          <a:bodyPr wrap="square" lIns="36576" tIns="18288" rIns="36576" bIns="18288" anchor="t">
            <a:spAutoFit/>
          </a:bodyPr>
          <a:lstStyle/>
          <a:p>
            <a:pPr algn="ctr"/>
            <a:r>
              <a:rPr sz="1400" b="1" i="0">
                <a:solidFill>
                  <a:srgbClr val="211B42"/>
                </a:solidFill>
                <a:latin typeface="Calibri"/>
              </a:rPr>
              <a:t>Seven tables: </a:t>
            </a:r>
            <a:r>
              <a:rPr sz="1400" b="0" i="0">
                <a:solidFill>
                  <a:srgbClr val="2B2D33"/>
                </a:solidFill>
                <a:latin typeface="Calibri"/>
              </a:rPr>
              <a:t>job_application is the core; users own applications and a resume library; each application has interviews, follow-ups, status history and at most one cover letter.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Maintainability, Improvements and Future</a:t>
            </a:r>
          </a:p>
        </p:txBody>
      </p:sp>
      <p:sp>
        <p:nvSpPr>
          <p:cNvPr id="3" name="TextBox 2"/>
          <p:cNvSpPr txBox="1"/>
          <p:nvPr/>
        </p:nvSpPr>
        <p:spPr>
          <a:xfrm>
            <a:off x="512064" y="384048"/>
            <a:ext cx="6949440" cy="320040"/>
          </a:xfrm>
          <a:prstGeom prst="rect">
            <a:avLst/>
          </a:prstGeom>
          <a:noFill/>
        </p:spPr>
        <p:txBody>
          <a:bodyPr wrap="square" lIns="36576" rIns="36576" anchor="t">
            <a:spAutoFit/>
          </a:bodyPr>
          <a:lstStyle/>
          <a:p>
            <a:pPr algn="l"/>
            <a:r>
              <a:rPr sz="1100" b="1" i="0">
                <a:solidFill>
                  <a:srgbClr val="197566"/>
                </a:solidFill>
                <a:latin typeface="Calibri"/>
              </a:rPr>
              <a:t>DEVELOPER · TRINH HIEU TRAN</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10</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85216" y="1691640"/>
            <a:ext cx="2514600" cy="365760"/>
          </a:xfrm>
          <a:prstGeom prst="rect">
            <a:avLst/>
          </a:prstGeom>
          <a:noFill/>
        </p:spPr>
        <p:txBody>
          <a:bodyPr wrap="square" lIns="36576" rIns="36576" anchor="t">
            <a:spAutoFit/>
          </a:bodyPr>
          <a:lstStyle/>
          <a:p>
            <a:pPr algn="l"/>
            <a:r>
              <a:rPr sz="1600" b="1" i="0">
                <a:solidFill>
                  <a:srgbClr val="211B42"/>
                </a:solidFill>
                <a:latin typeface="Calibri"/>
              </a:rPr>
              <a:t>Maintainability</a:t>
            </a:r>
          </a:p>
        </p:txBody>
      </p:sp>
      <p:cxnSp>
        <p:nvCxnSpPr>
          <p:cNvPr id="7" name="Connector 6"/>
          <p:cNvCxnSpPr/>
          <p:nvPr/>
        </p:nvCxnSpPr>
        <p:spPr>
          <a:xfrm>
            <a:off x="585216" y="21305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5216" y="2240280"/>
            <a:ext cx="2514600" cy="3383279"/>
          </a:xfrm>
          <a:prstGeom prst="rect">
            <a:avLst/>
          </a:prstGeom>
          <a:noFill/>
        </p:spPr>
        <p:txBody>
          <a:bodyPr wrap="square">
            <a:spAutoFit/>
          </a:bodyPr>
          <a:lstStyle/>
          <a:p>
            <a:pPr>
              <a:spcAft>
                <a:spcPts val="500"/>
              </a:spcAft>
            </a:pPr>
            <a:r>
              <a:rPr sz="1250" b="1">
                <a:solidFill>
                  <a:srgbClr val="197566"/>
                </a:solidFill>
                <a:latin typeface="Calibri"/>
              </a:rPr>
              <a:t>•  </a:t>
            </a:r>
            <a:r>
              <a:rPr sz="1250" b="0">
                <a:solidFill>
                  <a:srgbClr val="2B2D33"/>
                </a:solidFill>
                <a:latin typeface="Calibri"/>
              </a:rPr>
              <a:t>Layered backend: Api, Modules, Database, Core, Common</a:t>
            </a:r>
          </a:p>
          <a:p>
            <a:pPr>
              <a:spcAft>
                <a:spcPts val="500"/>
              </a:spcAft>
            </a:pPr>
            <a:r>
              <a:rPr sz="1250" b="1">
                <a:solidFill>
                  <a:srgbClr val="197566"/>
                </a:solidFill>
                <a:latin typeface="Calibri"/>
              </a:rPr>
              <a:t>•  </a:t>
            </a:r>
            <a:r>
              <a:rPr sz="1250" b="0">
                <a:solidFill>
                  <a:srgbClr val="2B2D33"/>
                </a:solidFill>
                <a:latin typeface="Calibri"/>
              </a:rPr>
              <a:t>Feature-based React modules in TypeScript</a:t>
            </a:r>
          </a:p>
          <a:p>
            <a:pPr>
              <a:spcAft>
                <a:spcPts val="500"/>
              </a:spcAft>
            </a:pPr>
            <a:r>
              <a:rPr sz="1250" b="1">
                <a:solidFill>
                  <a:srgbClr val="197566"/>
                </a:solidFill>
                <a:latin typeface="Calibri"/>
              </a:rPr>
              <a:t>•  </a:t>
            </a:r>
            <a:r>
              <a:rPr sz="1250" b="0">
                <a:solidFill>
                  <a:srgbClr val="2B2D33"/>
                </a:solidFill>
                <a:latin typeface="Calibri"/>
              </a:rPr>
              <a:t>6 versioned EF Core migrations</a:t>
            </a:r>
          </a:p>
          <a:p>
            <a:pPr>
              <a:spcAft>
                <a:spcPts val="500"/>
              </a:spcAft>
            </a:pPr>
            <a:r>
              <a:rPr sz="1250" b="1">
                <a:solidFill>
                  <a:srgbClr val="197566"/>
                </a:solidFill>
                <a:latin typeface="Calibri"/>
              </a:rPr>
              <a:t>•  </a:t>
            </a:r>
            <a:r>
              <a:rPr sz="1250" b="0">
                <a:solidFill>
                  <a:srgbClr val="2B2D33"/>
                </a:solidFill>
                <a:latin typeface="Calibri"/>
              </a:rPr>
              <a:t>Swagger API docs; README setup</a:t>
            </a:r>
          </a:p>
          <a:p>
            <a:pPr>
              <a:spcAft>
                <a:spcPts val="500"/>
              </a:spcAft>
            </a:pPr>
            <a:r>
              <a:rPr sz="1250" b="1">
                <a:solidFill>
                  <a:srgbClr val="197566"/>
                </a:solidFill>
                <a:latin typeface="Calibri"/>
              </a:rPr>
              <a:t>•  </a:t>
            </a:r>
            <a:r>
              <a:rPr sz="1250" b="0">
                <a:solidFill>
                  <a:srgbClr val="2B2D33"/>
                </a:solidFill>
                <a:latin typeface="Calibri"/>
              </a:rPr>
              <a:t>80 manual + 117 automated tests</a:t>
            </a:r>
          </a:p>
        </p:txBody>
      </p:sp>
      <p:cxnSp>
        <p:nvCxnSpPr>
          <p:cNvPr id="9" name="Connector 8"/>
          <p:cNvCxnSpPr/>
          <p:nvPr/>
        </p:nvCxnSpPr>
        <p:spPr>
          <a:xfrm>
            <a:off x="3136392" y="1737360"/>
            <a:ext cx="0" cy="384048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291840" y="1691640"/>
            <a:ext cx="2514600" cy="365760"/>
          </a:xfrm>
          <a:prstGeom prst="rect">
            <a:avLst/>
          </a:prstGeom>
          <a:noFill/>
        </p:spPr>
        <p:txBody>
          <a:bodyPr wrap="square" lIns="36576" rIns="36576" anchor="t">
            <a:spAutoFit/>
          </a:bodyPr>
          <a:lstStyle/>
          <a:p>
            <a:pPr algn="l"/>
            <a:r>
              <a:rPr sz="1600" b="1" i="0">
                <a:solidFill>
                  <a:srgbClr val="211B42"/>
                </a:solidFill>
                <a:latin typeface="Calibri"/>
              </a:rPr>
              <a:t>Improvement areas</a:t>
            </a:r>
          </a:p>
        </p:txBody>
      </p:sp>
      <p:cxnSp>
        <p:nvCxnSpPr>
          <p:cNvPr id="11" name="Connector 10"/>
          <p:cNvCxnSpPr/>
          <p:nvPr/>
        </p:nvCxnSpPr>
        <p:spPr>
          <a:xfrm>
            <a:off x="3291840" y="21305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91840" y="2240280"/>
            <a:ext cx="2514600" cy="3383279"/>
          </a:xfrm>
          <a:prstGeom prst="rect">
            <a:avLst/>
          </a:prstGeom>
          <a:noFill/>
        </p:spPr>
        <p:txBody>
          <a:bodyPr wrap="square">
            <a:spAutoFit/>
          </a:bodyPr>
          <a:lstStyle/>
          <a:p>
            <a:pPr>
              <a:spcAft>
                <a:spcPts val="500"/>
              </a:spcAft>
            </a:pPr>
            <a:r>
              <a:rPr sz="1250" b="1">
                <a:solidFill>
                  <a:srgbClr val="197566"/>
                </a:solidFill>
                <a:latin typeface="Calibri"/>
              </a:rPr>
              <a:t>•  </a:t>
            </a:r>
            <a:r>
              <a:rPr sz="1250" b="0">
                <a:solidFill>
                  <a:srgbClr val="2B2D33"/>
                </a:solidFill>
                <a:latin typeface="Calibri"/>
              </a:rPr>
              <a:t>Add backend unit tests (xUnit)</a:t>
            </a:r>
          </a:p>
          <a:p>
            <a:pPr>
              <a:spcAft>
                <a:spcPts val="500"/>
              </a:spcAft>
            </a:pPr>
            <a:r>
              <a:rPr sz="1250" b="1">
                <a:solidFill>
                  <a:srgbClr val="197566"/>
                </a:solidFill>
                <a:latin typeface="Calibri"/>
              </a:rPr>
              <a:t>•  </a:t>
            </a:r>
            <a:r>
              <a:rPr sz="1250" b="0">
                <a:solidFill>
                  <a:srgbClr val="2B2D33"/>
                </a:solidFill>
                <a:latin typeface="Calibri"/>
              </a:rPr>
              <a:t>CI pipeline: tests on every push</a:t>
            </a:r>
          </a:p>
          <a:p>
            <a:pPr>
              <a:spcAft>
                <a:spcPts val="500"/>
              </a:spcAft>
            </a:pPr>
            <a:r>
              <a:rPr sz="1250" b="1">
                <a:solidFill>
                  <a:srgbClr val="197566"/>
                </a:solidFill>
                <a:latin typeface="Calibri"/>
              </a:rPr>
              <a:t>•  </a:t>
            </a:r>
            <a:r>
              <a:rPr sz="1250" b="0">
                <a:solidFill>
                  <a:srgbClr val="2B2D33"/>
                </a:solidFill>
                <a:latin typeface="Calibri"/>
              </a:rPr>
              <a:t>Fix DEF-01 and DEF-02</a:t>
            </a:r>
          </a:p>
          <a:p>
            <a:pPr>
              <a:spcAft>
                <a:spcPts val="500"/>
              </a:spcAft>
            </a:pPr>
            <a:r>
              <a:rPr sz="1250" b="1">
                <a:solidFill>
                  <a:srgbClr val="197566"/>
                </a:solidFill>
                <a:latin typeface="Calibri"/>
              </a:rPr>
              <a:t>•  </a:t>
            </a:r>
            <a:r>
              <a:rPr sz="1250" b="0">
                <a:solidFill>
                  <a:srgbClr val="2B2D33"/>
                </a:solidFill>
                <a:latin typeface="Calibri"/>
              </a:rPr>
              <a:t>Performance and accessibility testing</a:t>
            </a:r>
          </a:p>
        </p:txBody>
      </p:sp>
      <p:cxnSp>
        <p:nvCxnSpPr>
          <p:cNvPr id="13" name="Connector 12"/>
          <p:cNvCxnSpPr/>
          <p:nvPr/>
        </p:nvCxnSpPr>
        <p:spPr>
          <a:xfrm>
            <a:off x="5843016" y="1737360"/>
            <a:ext cx="0" cy="384048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98464" y="1691640"/>
            <a:ext cx="2514600" cy="365760"/>
          </a:xfrm>
          <a:prstGeom prst="rect">
            <a:avLst/>
          </a:prstGeom>
          <a:noFill/>
        </p:spPr>
        <p:txBody>
          <a:bodyPr wrap="square" lIns="36576" rIns="36576" anchor="t">
            <a:spAutoFit/>
          </a:bodyPr>
          <a:lstStyle/>
          <a:p>
            <a:pPr algn="l"/>
            <a:r>
              <a:rPr sz="1600" b="1" i="0">
                <a:solidFill>
                  <a:srgbClr val="211B42"/>
                </a:solidFill>
                <a:latin typeface="Calibri"/>
              </a:rPr>
              <a:t>Future enhancements</a:t>
            </a:r>
          </a:p>
        </p:txBody>
      </p:sp>
      <p:cxnSp>
        <p:nvCxnSpPr>
          <p:cNvPr id="15" name="Connector 14"/>
          <p:cNvCxnSpPr/>
          <p:nvPr/>
        </p:nvCxnSpPr>
        <p:spPr>
          <a:xfrm>
            <a:off x="5998464" y="21305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98464" y="2240280"/>
            <a:ext cx="2514600" cy="3383279"/>
          </a:xfrm>
          <a:prstGeom prst="rect">
            <a:avLst/>
          </a:prstGeom>
          <a:noFill/>
        </p:spPr>
        <p:txBody>
          <a:bodyPr wrap="square">
            <a:spAutoFit/>
          </a:bodyPr>
          <a:lstStyle/>
          <a:p>
            <a:pPr>
              <a:spcAft>
                <a:spcPts val="500"/>
              </a:spcAft>
            </a:pPr>
            <a:r>
              <a:rPr sz="1250" b="1">
                <a:solidFill>
                  <a:srgbClr val="197566"/>
                </a:solidFill>
                <a:latin typeface="Calibri"/>
              </a:rPr>
              <a:t>•  </a:t>
            </a:r>
            <a:r>
              <a:rPr sz="1250" b="0">
                <a:solidFill>
                  <a:srgbClr val="2B2D33"/>
                </a:solidFill>
                <a:latin typeface="Calibri"/>
              </a:rPr>
              <a:t>Email follow-up reminders → never miss one</a:t>
            </a:r>
          </a:p>
          <a:p>
            <a:pPr>
              <a:spcAft>
                <a:spcPts val="500"/>
              </a:spcAft>
            </a:pPr>
            <a:r>
              <a:rPr sz="1250" b="1">
                <a:solidFill>
                  <a:srgbClr val="197566"/>
                </a:solidFill>
                <a:latin typeface="Calibri"/>
              </a:rPr>
              <a:t>•  </a:t>
            </a:r>
            <a:r>
              <a:rPr sz="1250" b="0">
                <a:solidFill>
                  <a:srgbClr val="2B2D33"/>
                </a:solidFill>
                <a:latin typeface="Calibri"/>
              </a:rPr>
              <a:t>Status history on screen → full timeline</a:t>
            </a:r>
          </a:p>
          <a:p>
            <a:pPr>
              <a:spcAft>
                <a:spcPts val="500"/>
              </a:spcAft>
            </a:pPr>
            <a:r>
              <a:rPr sz="1250" b="1">
                <a:solidFill>
                  <a:srgbClr val="197566"/>
                </a:solidFill>
                <a:latin typeface="Calibri"/>
              </a:rPr>
              <a:t>•  </a:t>
            </a:r>
            <a:r>
              <a:rPr sz="1250" b="0">
                <a:solidFill>
                  <a:srgbClr val="2B2D33"/>
                </a:solidFill>
                <a:latin typeface="Calibri"/>
              </a:rPr>
              <a:t>Outcome reports → best platforms</a:t>
            </a:r>
          </a:p>
          <a:p>
            <a:pPr>
              <a:spcAft>
                <a:spcPts val="500"/>
              </a:spcAft>
            </a:pPr>
            <a:r>
              <a:rPr sz="1250" b="1">
                <a:solidFill>
                  <a:srgbClr val="197566"/>
                </a:solidFill>
                <a:latin typeface="Calibri"/>
              </a:rPr>
              <a:t>•  </a:t>
            </a:r>
            <a:r>
              <a:rPr sz="1250" b="0">
                <a:solidFill>
                  <a:srgbClr val="2B2D33"/>
                </a:solidFill>
                <a:latin typeface="Calibri"/>
              </a:rPr>
              <a:t>Password reset → self-service</a:t>
            </a:r>
          </a:p>
          <a:p>
            <a:pPr>
              <a:spcAft>
                <a:spcPts val="500"/>
              </a:spcAft>
            </a:pPr>
            <a:r>
              <a:rPr sz="1250" b="1">
                <a:solidFill>
                  <a:srgbClr val="197566"/>
                </a:solidFill>
                <a:latin typeface="Calibri"/>
              </a:rPr>
              <a:t>•  </a:t>
            </a:r>
            <a:r>
              <a:rPr sz="1250" b="0">
                <a:solidFill>
                  <a:srgbClr val="2B2D33"/>
                </a:solidFill>
                <a:latin typeface="Calibri"/>
              </a:rPr>
              <a:t>Cloud deployment → use anywhere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Development Process</a:t>
            </a:r>
          </a:p>
        </p:txBody>
      </p:sp>
      <p:sp>
        <p:nvSpPr>
          <p:cNvPr id="3" name="TextBox 2"/>
          <p:cNvSpPr txBox="1"/>
          <p:nvPr/>
        </p:nvSpPr>
        <p:spPr>
          <a:xfrm>
            <a:off x="512064" y="384048"/>
            <a:ext cx="6949440" cy="320040"/>
          </a:xfrm>
          <a:prstGeom prst="rect">
            <a:avLst/>
          </a:prstGeom>
          <a:noFill/>
        </p:spPr>
        <p:txBody>
          <a:bodyPr wrap="square" lIns="36576" rIns="36576" anchor="t">
            <a:spAutoFit/>
          </a:bodyPr>
          <a:lstStyle/>
          <a:p>
            <a:pPr algn="l"/>
            <a:r>
              <a:rPr sz="1100" b="1" i="0">
                <a:solidFill>
                  <a:srgbClr val="197566"/>
                </a:solidFill>
                <a:latin typeface="Calibri"/>
              </a:rPr>
              <a:t>DEVELOPMENT PROCESSES · TRINH HIEU TRAN</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11</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57784" y="1600200"/>
            <a:ext cx="1920240" cy="548640"/>
          </a:xfrm>
          <a:prstGeom prst="rect">
            <a:avLst/>
          </a:prstGeom>
          <a:noFill/>
        </p:spPr>
        <p:txBody>
          <a:bodyPr wrap="square" lIns="36576" rIns="36576" anchor="b">
            <a:spAutoFit/>
          </a:bodyPr>
          <a:lstStyle/>
          <a:p>
            <a:pPr algn="l"/>
            <a:r>
              <a:rPr sz="2800" b="1" i="0">
                <a:solidFill>
                  <a:srgbClr val="197566"/>
                </a:solidFill>
                <a:latin typeface="Calibri"/>
              </a:rPr>
              <a:t>207</a:t>
            </a:r>
          </a:p>
        </p:txBody>
      </p:sp>
      <p:sp>
        <p:nvSpPr>
          <p:cNvPr id="7" name="TextBox 6"/>
          <p:cNvSpPr txBox="1"/>
          <p:nvPr/>
        </p:nvSpPr>
        <p:spPr>
          <a:xfrm>
            <a:off x="557784" y="2148840"/>
            <a:ext cx="1920240" cy="292608"/>
          </a:xfrm>
          <a:prstGeom prst="rect">
            <a:avLst/>
          </a:prstGeom>
          <a:noFill/>
        </p:spPr>
        <p:txBody>
          <a:bodyPr wrap="square" lIns="36576" rIns="36576" anchor="t">
            <a:spAutoFit/>
          </a:bodyPr>
          <a:lstStyle/>
          <a:p>
            <a:pPr algn="l"/>
            <a:r>
              <a:rPr sz="1250" b="0" i="0">
                <a:solidFill>
                  <a:srgbClr val="2B2D33"/>
                </a:solidFill>
                <a:latin typeface="Calibri"/>
              </a:rPr>
              <a:t>commits</a:t>
            </a:r>
          </a:p>
        </p:txBody>
      </p:sp>
      <p:sp>
        <p:nvSpPr>
          <p:cNvPr id="8" name="TextBox 7"/>
          <p:cNvSpPr txBox="1"/>
          <p:nvPr/>
        </p:nvSpPr>
        <p:spPr>
          <a:xfrm>
            <a:off x="2551176" y="1600200"/>
            <a:ext cx="1920240" cy="548640"/>
          </a:xfrm>
          <a:prstGeom prst="rect">
            <a:avLst/>
          </a:prstGeom>
          <a:noFill/>
        </p:spPr>
        <p:txBody>
          <a:bodyPr wrap="square" lIns="36576" rIns="36576" anchor="b">
            <a:spAutoFit/>
          </a:bodyPr>
          <a:lstStyle/>
          <a:p>
            <a:pPr algn="l"/>
            <a:r>
              <a:rPr sz="2800" b="1" i="0">
                <a:solidFill>
                  <a:srgbClr val="197566"/>
                </a:solidFill>
                <a:latin typeface="Calibri"/>
              </a:rPr>
              <a:t>3</a:t>
            </a:r>
          </a:p>
        </p:txBody>
      </p:sp>
      <p:sp>
        <p:nvSpPr>
          <p:cNvPr id="9" name="TextBox 8"/>
          <p:cNvSpPr txBox="1"/>
          <p:nvPr/>
        </p:nvSpPr>
        <p:spPr>
          <a:xfrm>
            <a:off x="2551176" y="2148840"/>
            <a:ext cx="1920240" cy="292608"/>
          </a:xfrm>
          <a:prstGeom prst="rect">
            <a:avLst/>
          </a:prstGeom>
          <a:noFill/>
        </p:spPr>
        <p:txBody>
          <a:bodyPr wrap="square" lIns="36576" rIns="36576" anchor="t">
            <a:spAutoFit/>
          </a:bodyPr>
          <a:lstStyle/>
          <a:p>
            <a:pPr algn="l"/>
            <a:r>
              <a:rPr sz="1250" b="0" i="0">
                <a:solidFill>
                  <a:srgbClr val="2B2D33"/>
                </a:solidFill>
                <a:latin typeface="Calibri"/>
              </a:rPr>
              <a:t>contributors</a:t>
            </a:r>
          </a:p>
        </p:txBody>
      </p:sp>
      <p:sp>
        <p:nvSpPr>
          <p:cNvPr id="10" name="TextBox 9"/>
          <p:cNvSpPr txBox="1"/>
          <p:nvPr/>
        </p:nvSpPr>
        <p:spPr>
          <a:xfrm>
            <a:off x="4544568" y="1600200"/>
            <a:ext cx="1920240" cy="548640"/>
          </a:xfrm>
          <a:prstGeom prst="rect">
            <a:avLst/>
          </a:prstGeom>
          <a:noFill/>
        </p:spPr>
        <p:txBody>
          <a:bodyPr wrap="square" lIns="36576" rIns="36576" anchor="b">
            <a:spAutoFit/>
          </a:bodyPr>
          <a:lstStyle/>
          <a:p>
            <a:pPr algn="l"/>
            <a:r>
              <a:rPr sz="2800" b="1" i="0">
                <a:solidFill>
                  <a:srgbClr val="197566"/>
                </a:solidFill>
                <a:latin typeface="Calibri"/>
              </a:rPr>
              <a:t>12</a:t>
            </a:r>
          </a:p>
        </p:txBody>
      </p:sp>
      <p:sp>
        <p:nvSpPr>
          <p:cNvPr id="11" name="TextBox 10"/>
          <p:cNvSpPr txBox="1"/>
          <p:nvPr/>
        </p:nvSpPr>
        <p:spPr>
          <a:xfrm>
            <a:off x="4544568" y="2148840"/>
            <a:ext cx="1920240" cy="292608"/>
          </a:xfrm>
          <a:prstGeom prst="rect">
            <a:avLst/>
          </a:prstGeom>
          <a:noFill/>
        </p:spPr>
        <p:txBody>
          <a:bodyPr wrap="square" lIns="36576" rIns="36576" anchor="t">
            <a:spAutoFit/>
          </a:bodyPr>
          <a:lstStyle/>
          <a:p>
            <a:pPr algn="l"/>
            <a:r>
              <a:rPr sz="1250" b="0" i="0">
                <a:solidFill>
                  <a:srgbClr val="2B2D33"/>
                </a:solidFill>
                <a:latin typeface="Calibri"/>
              </a:rPr>
              <a:t>merges</a:t>
            </a:r>
          </a:p>
        </p:txBody>
      </p:sp>
      <p:sp>
        <p:nvSpPr>
          <p:cNvPr id="12" name="TextBox 11"/>
          <p:cNvSpPr txBox="1"/>
          <p:nvPr/>
        </p:nvSpPr>
        <p:spPr>
          <a:xfrm>
            <a:off x="6537960" y="1600200"/>
            <a:ext cx="1920240" cy="548640"/>
          </a:xfrm>
          <a:prstGeom prst="rect">
            <a:avLst/>
          </a:prstGeom>
          <a:noFill/>
        </p:spPr>
        <p:txBody>
          <a:bodyPr wrap="square" lIns="36576" rIns="36576" anchor="b">
            <a:spAutoFit/>
          </a:bodyPr>
          <a:lstStyle/>
          <a:p>
            <a:pPr algn="l"/>
            <a:r>
              <a:rPr sz="2800" b="1" i="0">
                <a:solidFill>
                  <a:srgbClr val="197566"/>
                </a:solidFill>
                <a:latin typeface="Calibri"/>
              </a:rPr>
              <a:t>8 wks</a:t>
            </a:r>
          </a:p>
        </p:txBody>
      </p:sp>
      <p:sp>
        <p:nvSpPr>
          <p:cNvPr id="13" name="TextBox 12"/>
          <p:cNvSpPr txBox="1"/>
          <p:nvPr/>
        </p:nvSpPr>
        <p:spPr>
          <a:xfrm>
            <a:off x="6537960" y="2148840"/>
            <a:ext cx="1920240" cy="292608"/>
          </a:xfrm>
          <a:prstGeom prst="rect">
            <a:avLst/>
          </a:prstGeom>
          <a:noFill/>
        </p:spPr>
        <p:txBody>
          <a:bodyPr wrap="square" lIns="36576" rIns="36576" anchor="t">
            <a:spAutoFit/>
          </a:bodyPr>
          <a:lstStyle/>
          <a:p>
            <a:pPr algn="l"/>
            <a:r>
              <a:rPr sz="1250" b="0" i="0">
                <a:solidFill>
                  <a:srgbClr val="2B2D33"/>
                </a:solidFill>
                <a:latin typeface="Calibri"/>
              </a:rPr>
              <a:t>Aug 4 – Sep 29</a:t>
            </a:r>
          </a:p>
        </p:txBody>
      </p:sp>
      <p:cxnSp>
        <p:nvCxnSpPr>
          <p:cNvPr id="14" name="Connector 13"/>
          <p:cNvCxnSpPr/>
          <p:nvPr/>
        </p:nvCxnSpPr>
        <p:spPr>
          <a:xfrm>
            <a:off x="557784" y="2578608"/>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57784" y="2697480"/>
            <a:ext cx="2743200" cy="320040"/>
          </a:xfrm>
          <a:prstGeom prst="rect">
            <a:avLst/>
          </a:prstGeom>
          <a:noFill/>
        </p:spPr>
        <p:txBody>
          <a:bodyPr wrap="square" lIns="36576" rIns="36576" anchor="t">
            <a:spAutoFit/>
          </a:bodyPr>
          <a:lstStyle/>
          <a:p>
            <a:pPr algn="l"/>
            <a:r>
              <a:rPr sz="1500" b="1" i="0">
                <a:solidFill>
                  <a:srgbClr val="211B42"/>
                </a:solidFill>
                <a:latin typeface="Calibri"/>
              </a:rPr>
              <a:t>Commit format</a:t>
            </a:r>
          </a:p>
        </p:txBody>
      </p:sp>
      <p:sp>
        <p:nvSpPr>
          <p:cNvPr id="16" name="TextBox 15"/>
          <p:cNvSpPr txBox="1"/>
          <p:nvPr/>
        </p:nvSpPr>
        <p:spPr>
          <a:xfrm>
            <a:off x="557784" y="3017520"/>
            <a:ext cx="7955279" cy="548640"/>
          </a:xfrm>
          <a:prstGeom prst="rect">
            <a:avLst/>
          </a:prstGeom>
          <a:noFill/>
        </p:spPr>
        <p:txBody>
          <a:bodyPr wrap="square" lIns="36576" rIns="36576" anchor="t">
            <a:spAutoFit/>
          </a:bodyPr>
          <a:lstStyle/>
          <a:p>
            <a:pPr algn="l"/>
            <a:r>
              <a:rPr sz="1300" b="1" i="0">
                <a:solidFill>
                  <a:srgbClr val="197566"/>
                </a:solidFill>
                <a:latin typeface="Calibri"/>
              </a:rPr>
              <a:t>feat(dashboard): </a:t>
            </a:r>
            <a:r>
              <a:rPr sz="1300" b="0" i="0">
                <a:solidFill>
                  <a:srgbClr val="2B2D33"/>
                </a:solidFill>
                <a:latin typeface="Calibri"/>
              </a:rPr>
              <a:t>implement api for dashboard     </a:t>
            </a:r>
            <a:r>
              <a:rPr sz="1300" b="1" i="0">
                <a:solidFill>
                  <a:srgbClr val="B44E43"/>
                </a:solidFill>
                <a:latin typeface="Calibri"/>
              </a:rPr>
              <a:t>fix(auth): </a:t>
            </a:r>
            <a:r>
              <a:rPr sz="1300" b="0" i="0">
                <a:solidFill>
                  <a:srgbClr val="2B2D33"/>
                </a:solidFill>
                <a:latin typeface="Calibri"/>
              </a:rPr>
              <a:t>disable retry on use register hook</a:t>
            </a:r>
          </a:p>
        </p:txBody>
      </p:sp>
      <p:cxnSp>
        <p:nvCxnSpPr>
          <p:cNvPr id="17" name="Connector 16"/>
          <p:cNvCxnSpPr/>
          <p:nvPr/>
        </p:nvCxnSpPr>
        <p:spPr>
          <a:xfrm>
            <a:off x="557784" y="3611880"/>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5216" y="3703320"/>
            <a:ext cx="2514600" cy="365760"/>
          </a:xfrm>
          <a:prstGeom prst="rect">
            <a:avLst/>
          </a:prstGeom>
          <a:noFill/>
        </p:spPr>
        <p:txBody>
          <a:bodyPr wrap="square" lIns="36576" rIns="36576" anchor="t">
            <a:spAutoFit/>
          </a:bodyPr>
          <a:lstStyle/>
          <a:p>
            <a:pPr algn="l"/>
            <a:r>
              <a:rPr sz="1600" b="1" i="0">
                <a:solidFill>
                  <a:srgbClr val="211B42"/>
                </a:solidFill>
                <a:latin typeface="Calibri"/>
              </a:rPr>
              <a:t>Agile / Scrum</a:t>
            </a:r>
          </a:p>
        </p:txBody>
      </p:sp>
      <p:cxnSp>
        <p:nvCxnSpPr>
          <p:cNvPr id="19" name="Connector 18"/>
          <p:cNvCxnSpPr/>
          <p:nvPr/>
        </p:nvCxnSpPr>
        <p:spPr>
          <a:xfrm>
            <a:off x="585216" y="4142231"/>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85216" y="4251959"/>
            <a:ext cx="2514600" cy="1920240"/>
          </a:xfrm>
          <a:prstGeom prst="rect">
            <a:avLst/>
          </a:prstGeom>
          <a:noFill/>
        </p:spPr>
        <p:txBody>
          <a:bodyPr wrap="square">
            <a:spAutoFit/>
          </a:bodyPr>
          <a:lstStyle/>
          <a:p>
            <a:pPr>
              <a:spcAft>
                <a:spcPts val="500"/>
              </a:spcAft>
            </a:pPr>
            <a:r>
              <a:rPr sz="1250" b="1">
                <a:solidFill>
                  <a:srgbClr val="197566"/>
                </a:solidFill>
                <a:latin typeface="Calibri"/>
              </a:rPr>
              <a:t>•  </a:t>
            </a:r>
            <a:r>
              <a:rPr sz="1250" b="0">
                <a:solidFill>
                  <a:srgbClr val="2B2D33"/>
                </a:solidFill>
                <a:latin typeface="Calibri"/>
              </a:rPr>
              <a:t>Weekly sprints</a:t>
            </a:r>
          </a:p>
          <a:p>
            <a:pPr>
              <a:spcAft>
                <a:spcPts val="500"/>
              </a:spcAft>
            </a:pPr>
            <a:r>
              <a:rPr sz="1250" b="1">
                <a:solidFill>
                  <a:srgbClr val="197566"/>
                </a:solidFill>
                <a:latin typeface="Calibri"/>
              </a:rPr>
              <a:t>•  </a:t>
            </a:r>
            <a:r>
              <a:rPr sz="1250" b="0">
                <a:solidFill>
                  <a:srgbClr val="2B2D33"/>
                </a:solidFill>
                <a:latin typeface="Calibri"/>
              </a:rPr>
              <a:t>Sprint reviews in team meetings</a:t>
            </a:r>
          </a:p>
          <a:p>
            <a:pPr>
              <a:spcAft>
                <a:spcPts val="500"/>
              </a:spcAft>
            </a:pPr>
            <a:r>
              <a:rPr sz="1250" b="1">
                <a:solidFill>
                  <a:srgbClr val="197566"/>
                </a:solidFill>
                <a:latin typeface="Calibri"/>
              </a:rPr>
              <a:t>•  </a:t>
            </a:r>
            <a:r>
              <a:rPr sz="1250" b="0">
                <a:solidFill>
                  <a:srgbClr val="2B2D33"/>
                </a:solidFill>
                <a:latin typeface="Calibri"/>
              </a:rPr>
              <a:t>Adapted plans as the build evolved</a:t>
            </a:r>
          </a:p>
        </p:txBody>
      </p:sp>
      <p:cxnSp>
        <p:nvCxnSpPr>
          <p:cNvPr id="21" name="Connector 20"/>
          <p:cNvCxnSpPr/>
          <p:nvPr/>
        </p:nvCxnSpPr>
        <p:spPr>
          <a:xfrm>
            <a:off x="3136392" y="3749039"/>
            <a:ext cx="0" cy="237744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291840" y="3703320"/>
            <a:ext cx="2514600" cy="365760"/>
          </a:xfrm>
          <a:prstGeom prst="rect">
            <a:avLst/>
          </a:prstGeom>
          <a:noFill/>
        </p:spPr>
        <p:txBody>
          <a:bodyPr wrap="square" lIns="36576" rIns="36576" anchor="t">
            <a:spAutoFit/>
          </a:bodyPr>
          <a:lstStyle/>
          <a:p>
            <a:pPr algn="l"/>
            <a:r>
              <a:rPr sz="1600" b="1" i="0">
                <a:solidFill>
                  <a:srgbClr val="211B42"/>
                </a:solidFill>
                <a:latin typeface="Calibri"/>
              </a:rPr>
              <a:t>Task management</a:t>
            </a:r>
          </a:p>
        </p:txBody>
      </p:sp>
      <p:cxnSp>
        <p:nvCxnSpPr>
          <p:cNvPr id="23" name="Connector 22"/>
          <p:cNvCxnSpPr/>
          <p:nvPr/>
        </p:nvCxnSpPr>
        <p:spPr>
          <a:xfrm>
            <a:off x="3291840" y="4142231"/>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91840" y="4251959"/>
            <a:ext cx="2514600" cy="1920240"/>
          </a:xfrm>
          <a:prstGeom prst="rect">
            <a:avLst/>
          </a:prstGeom>
          <a:noFill/>
        </p:spPr>
        <p:txBody>
          <a:bodyPr wrap="square">
            <a:spAutoFit/>
          </a:bodyPr>
          <a:lstStyle/>
          <a:p>
            <a:pPr>
              <a:spcAft>
                <a:spcPts val="500"/>
              </a:spcAft>
            </a:pPr>
            <a:r>
              <a:rPr sz="1250" b="1">
                <a:solidFill>
                  <a:srgbClr val="197566"/>
                </a:solidFill>
                <a:latin typeface="Calibri"/>
              </a:rPr>
              <a:t>•  </a:t>
            </a:r>
            <a:r>
              <a:rPr sz="1250" b="0">
                <a:solidFill>
                  <a:srgbClr val="2B2D33"/>
                </a:solidFill>
                <a:latin typeface="Calibri"/>
              </a:rPr>
              <a:t>Backlog groomed weekly</a:t>
            </a:r>
          </a:p>
          <a:p>
            <a:pPr>
              <a:spcAft>
                <a:spcPts val="500"/>
              </a:spcAft>
            </a:pPr>
            <a:r>
              <a:rPr sz="1250" b="1">
                <a:solidFill>
                  <a:srgbClr val="197566"/>
                </a:solidFill>
                <a:latin typeface="Calibri"/>
              </a:rPr>
              <a:t>•  </a:t>
            </a:r>
            <a:r>
              <a:rPr sz="1250" b="0">
                <a:solidFill>
                  <a:srgbClr val="2B2D33"/>
                </a:solidFill>
                <a:latin typeface="Calibri"/>
              </a:rPr>
              <a:t>Prioritised with MoSCoW</a:t>
            </a:r>
          </a:p>
          <a:p>
            <a:pPr>
              <a:spcAft>
                <a:spcPts val="500"/>
              </a:spcAft>
            </a:pPr>
            <a:r>
              <a:rPr sz="1250" b="1">
                <a:solidFill>
                  <a:srgbClr val="197566"/>
                </a:solidFill>
                <a:latin typeface="Calibri"/>
              </a:rPr>
              <a:t>•  </a:t>
            </a:r>
            <a:r>
              <a:rPr sz="1250" b="0">
                <a:solidFill>
                  <a:srgbClr val="2B2D33"/>
                </a:solidFill>
                <a:latin typeface="Calibri"/>
              </a:rPr>
              <a:t>Tasks allocated by role</a:t>
            </a:r>
          </a:p>
          <a:p>
            <a:pPr>
              <a:spcAft>
                <a:spcPts val="500"/>
              </a:spcAft>
            </a:pPr>
            <a:r>
              <a:rPr sz="1250" b="1">
                <a:solidFill>
                  <a:srgbClr val="197566"/>
                </a:solidFill>
                <a:latin typeface="Calibri"/>
              </a:rPr>
              <a:t>•  </a:t>
            </a:r>
            <a:r>
              <a:rPr sz="1250" b="0">
                <a:solidFill>
                  <a:srgbClr val="2B2D33"/>
                </a:solidFill>
                <a:latin typeface="Calibri"/>
              </a:rPr>
              <a:t>Task names match commit scopes</a:t>
            </a:r>
          </a:p>
        </p:txBody>
      </p:sp>
      <p:cxnSp>
        <p:nvCxnSpPr>
          <p:cNvPr id="25" name="Connector 24"/>
          <p:cNvCxnSpPr/>
          <p:nvPr/>
        </p:nvCxnSpPr>
        <p:spPr>
          <a:xfrm>
            <a:off x="5843016" y="3749039"/>
            <a:ext cx="0" cy="237744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98464" y="3703320"/>
            <a:ext cx="2514600" cy="365760"/>
          </a:xfrm>
          <a:prstGeom prst="rect">
            <a:avLst/>
          </a:prstGeom>
          <a:noFill/>
        </p:spPr>
        <p:txBody>
          <a:bodyPr wrap="square" lIns="36576" rIns="36576" anchor="t">
            <a:spAutoFit/>
          </a:bodyPr>
          <a:lstStyle/>
          <a:p>
            <a:pPr algn="l"/>
            <a:r>
              <a:rPr sz="1600" b="1" i="0">
                <a:solidFill>
                  <a:srgbClr val="211B42"/>
                </a:solidFill>
                <a:latin typeface="Calibri"/>
              </a:rPr>
              <a:t>Tracking</a:t>
            </a:r>
          </a:p>
        </p:txBody>
      </p:sp>
      <p:cxnSp>
        <p:nvCxnSpPr>
          <p:cNvPr id="27" name="Connector 26"/>
          <p:cNvCxnSpPr/>
          <p:nvPr/>
        </p:nvCxnSpPr>
        <p:spPr>
          <a:xfrm>
            <a:off x="5998464" y="4142231"/>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98464" y="4251959"/>
            <a:ext cx="2514600" cy="1920240"/>
          </a:xfrm>
          <a:prstGeom prst="rect">
            <a:avLst/>
          </a:prstGeom>
          <a:noFill/>
        </p:spPr>
        <p:txBody>
          <a:bodyPr wrap="square">
            <a:spAutoFit/>
          </a:bodyPr>
          <a:lstStyle/>
          <a:p>
            <a:pPr>
              <a:spcAft>
                <a:spcPts val="500"/>
              </a:spcAft>
            </a:pPr>
            <a:r>
              <a:rPr sz="1250" b="1">
                <a:solidFill>
                  <a:srgbClr val="197566"/>
                </a:solidFill>
                <a:latin typeface="Calibri"/>
              </a:rPr>
              <a:t>•  </a:t>
            </a:r>
            <a:r>
              <a:rPr sz="1250" b="0">
                <a:solidFill>
                  <a:srgbClr val="2B2D33"/>
                </a:solidFill>
                <a:latin typeface="Calibri"/>
              </a:rPr>
              <a:t>Meeting minutes every week</a:t>
            </a:r>
          </a:p>
          <a:p>
            <a:pPr>
              <a:spcAft>
                <a:spcPts val="500"/>
              </a:spcAft>
            </a:pPr>
            <a:r>
              <a:rPr sz="1250" b="1">
                <a:solidFill>
                  <a:srgbClr val="197566"/>
                </a:solidFill>
                <a:latin typeface="Calibri"/>
              </a:rPr>
              <a:t>•  </a:t>
            </a:r>
            <a:r>
              <a:rPr sz="1250" b="0">
                <a:solidFill>
                  <a:srgbClr val="2B2D33"/>
                </a:solidFill>
                <a:latin typeface="Calibri"/>
              </a:rPr>
              <a:t>Individual and group timesheets</a:t>
            </a:r>
          </a:p>
          <a:p>
            <a:pPr>
              <a:spcAft>
                <a:spcPts val="500"/>
              </a:spcAft>
            </a:pPr>
            <a:r>
              <a:rPr sz="1250" b="1">
                <a:solidFill>
                  <a:srgbClr val="197566"/>
                </a:solidFill>
                <a:latin typeface="Calibri"/>
              </a:rPr>
              <a:t>•  </a:t>
            </a:r>
            <a:r>
              <a:rPr sz="1250" b="0">
                <a:solidFill>
                  <a:srgbClr val="2B2D33"/>
                </a:solidFill>
                <a:latin typeface="Calibri"/>
              </a:rPr>
              <a:t>Evidence linked in GitHub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Sample Dataset and Power BI Model</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DATA ANALYST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12</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57784" y="1600200"/>
            <a:ext cx="1280160" cy="475488"/>
          </a:xfrm>
          <a:prstGeom prst="rect">
            <a:avLst/>
          </a:prstGeom>
          <a:noFill/>
        </p:spPr>
        <p:txBody>
          <a:bodyPr wrap="square" lIns="36576" tIns="18288" rIns="36576" bIns="18288" anchor="b">
            <a:spAutoFit/>
          </a:bodyPr>
          <a:lstStyle/>
          <a:p>
            <a:pPr algn="l"/>
            <a:r>
              <a:rPr sz="2400" b="1" i="0">
                <a:solidFill>
                  <a:srgbClr val="197566"/>
                </a:solidFill>
                <a:latin typeface="Calibri"/>
              </a:rPr>
              <a:t>5</a:t>
            </a:r>
          </a:p>
        </p:txBody>
      </p:sp>
      <p:sp>
        <p:nvSpPr>
          <p:cNvPr id="7" name="TextBox 6"/>
          <p:cNvSpPr txBox="1"/>
          <p:nvPr/>
        </p:nvSpPr>
        <p:spPr>
          <a:xfrm>
            <a:off x="557784" y="2075688"/>
            <a:ext cx="1280160" cy="292608"/>
          </a:xfrm>
          <a:prstGeom prst="rect">
            <a:avLst/>
          </a:prstGeom>
          <a:noFill/>
        </p:spPr>
        <p:txBody>
          <a:bodyPr wrap="square" lIns="36576" tIns="18288" rIns="36576" bIns="18288" anchor="t">
            <a:spAutoFit/>
          </a:bodyPr>
          <a:lstStyle/>
          <a:p>
            <a:pPr algn="l"/>
            <a:r>
              <a:rPr sz="1200" b="0" i="0">
                <a:solidFill>
                  <a:srgbClr val="2B2D33"/>
                </a:solidFill>
                <a:latin typeface="Calibri"/>
              </a:rPr>
              <a:t>users</a:t>
            </a:r>
          </a:p>
        </p:txBody>
      </p:sp>
      <p:sp>
        <p:nvSpPr>
          <p:cNvPr id="8" name="TextBox 7"/>
          <p:cNvSpPr txBox="1"/>
          <p:nvPr/>
        </p:nvSpPr>
        <p:spPr>
          <a:xfrm>
            <a:off x="1883664" y="1600200"/>
            <a:ext cx="1280160" cy="475488"/>
          </a:xfrm>
          <a:prstGeom prst="rect">
            <a:avLst/>
          </a:prstGeom>
          <a:noFill/>
        </p:spPr>
        <p:txBody>
          <a:bodyPr wrap="square" lIns="36576" tIns="18288" rIns="36576" bIns="18288" anchor="b">
            <a:spAutoFit/>
          </a:bodyPr>
          <a:lstStyle/>
          <a:p>
            <a:pPr algn="l"/>
            <a:r>
              <a:rPr sz="2400" b="1" i="0">
                <a:solidFill>
                  <a:srgbClr val="197566"/>
                </a:solidFill>
                <a:latin typeface="Calibri"/>
              </a:rPr>
              <a:t>100</a:t>
            </a:r>
          </a:p>
        </p:txBody>
      </p:sp>
      <p:sp>
        <p:nvSpPr>
          <p:cNvPr id="9" name="TextBox 8"/>
          <p:cNvSpPr txBox="1"/>
          <p:nvPr/>
        </p:nvSpPr>
        <p:spPr>
          <a:xfrm>
            <a:off x="1883664" y="2075688"/>
            <a:ext cx="1280160" cy="292608"/>
          </a:xfrm>
          <a:prstGeom prst="rect">
            <a:avLst/>
          </a:prstGeom>
          <a:noFill/>
        </p:spPr>
        <p:txBody>
          <a:bodyPr wrap="square" lIns="36576" tIns="18288" rIns="36576" bIns="18288" anchor="t">
            <a:spAutoFit/>
          </a:bodyPr>
          <a:lstStyle/>
          <a:p>
            <a:pPr algn="l"/>
            <a:r>
              <a:rPr sz="1200" b="0" i="0">
                <a:solidFill>
                  <a:srgbClr val="2B2D33"/>
                </a:solidFill>
                <a:latin typeface="Calibri"/>
              </a:rPr>
              <a:t>applications</a:t>
            </a:r>
          </a:p>
        </p:txBody>
      </p:sp>
      <p:sp>
        <p:nvSpPr>
          <p:cNvPr id="10" name="TextBox 9"/>
          <p:cNvSpPr txBox="1"/>
          <p:nvPr/>
        </p:nvSpPr>
        <p:spPr>
          <a:xfrm>
            <a:off x="3209544" y="1600200"/>
            <a:ext cx="1280160" cy="475488"/>
          </a:xfrm>
          <a:prstGeom prst="rect">
            <a:avLst/>
          </a:prstGeom>
          <a:noFill/>
        </p:spPr>
        <p:txBody>
          <a:bodyPr wrap="square" lIns="36576" tIns="18288" rIns="36576" bIns="18288" anchor="b">
            <a:spAutoFit/>
          </a:bodyPr>
          <a:lstStyle/>
          <a:p>
            <a:pPr algn="l"/>
            <a:r>
              <a:rPr sz="2400" b="1" i="0">
                <a:solidFill>
                  <a:srgbClr val="197566"/>
                </a:solidFill>
                <a:latin typeface="Calibri"/>
              </a:rPr>
              <a:t>129</a:t>
            </a:r>
          </a:p>
        </p:txBody>
      </p:sp>
      <p:sp>
        <p:nvSpPr>
          <p:cNvPr id="11" name="TextBox 10"/>
          <p:cNvSpPr txBox="1"/>
          <p:nvPr/>
        </p:nvSpPr>
        <p:spPr>
          <a:xfrm>
            <a:off x="3209544" y="2075688"/>
            <a:ext cx="1280160" cy="292608"/>
          </a:xfrm>
          <a:prstGeom prst="rect">
            <a:avLst/>
          </a:prstGeom>
          <a:noFill/>
        </p:spPr>
        <p:txBody>
          <a:bodyPr wrap="square" lIns="36576" tIns="18288" rIns="36576" bIns="18288" anchor="t">
            <a:spAutoFit/>
          </a:bodyPr>
          <a:lstStyle/>
          <a:p>
            <a:pPr algn="l"/>
            <a:r>
              <a:rPr sz="1200" b="0" i="0">
                <a:solidFill>
                  <a:srgbClr val="2B2D33"/>
                </a:solidFill>
                <a:latin typeface="Calibri"/>
              </a:rPr>
              <a:t>status changes</a:t>
            </a:r>
          </a:p>
        </p:txBody>
      </p:sp>
      <p:sp>
        <p:nvSpPr>
          <p:cNvPr id="12" name="TextBox 11"/>
          <p:cNvSpPr txBox="1"/>
          <p:nvPr/>
        </p:nvSpPr>
        <p:spPr>
          <a:xfrm>
            <a:off x="4535424" y="1600200"/>
            <a:ext cx="1280160" cy="475488"/>
          </a:xfrm>
          <a:prstGeom prst="rect">
            <a:avLst/>
          </a:prstGeom>
          <a:noFill/>
        </p:spPr>
        <p:txBody>
          <a:bodyPr wrap="square" lIns="36576" tIns="18288" rIns="36576" bIns="18288" anchor="b">
            <a:spAutoFit/>
          </a:bodyPr>
          <a:lstStyle/>
          <a:p>
            <a:pPr algn="l"/>
            <a:r>
              <a:rPr sz="2400" b="1" i="0">
                <a:solidFill>
                  <a:srgbClr val="197566"/>
                </a:solidFill>
                <a:latin typeface="Calibri"/>
              </a:rPr>
              <a:t>166</a:t>
            </a:r>
          </a:p>
        </p:txBody>
      </p:sp>
      <p:sp>
        <p:nvSpPr>
          <p:cNvPr id="13" name="TextBox 12"/>
          <p:cNvSpPr txBox="1"/>
          <p:nvPr/>
        </p:nvSpPr>
        <p:spPr>
          <a:xfrm>
            <a:off x="4535424" y="2075688"/>
            <a:ext cx="1280160" cy="292608"/>
          </a:xfrm>
          <a:prstGeom prst="rect">
            <a:avLst/>
          </a:prstGeom>
          <a:noFill/>
        </p:spPr>
        <p:txBody>
          <a:bodyPr wrap="square" lIns="36576" tIns="18288" rIns="36576" bIns="18288" anchor="t">
            <a:spAutoFit/>
          </a:bodyPr>
          <a:lstStyle/>
          <a:p>
            <a:pPr algn="l"/>
            <a:r>
              <a:rPr sz="1200" b="0" i="0">
                <a:solidFill>
                  <a:srgbClr val="2B2D33"/>
                </a:solidFill>
                <a:latin typeface="Calibri"/>
              </a:rPr>
              <a:t>documents</a:t>
            </a:r>
          </a:p>
        </p:txBody>
      </p:sp>
      <p:sp>
        <p:nvSpPr>
          <p:cNvPr id="14" name="TextBox 13"/>
          <p:cNvSpPr txBox="1"/>
          <p:nvPr/>
        </p:nvSpPr>
        <p:spPr>
          <a:xfrm>
            <a:off x="5861304" y="1600200"/>
            <a:ext cx="1280160" cy="475488"/>
          </a:xfrm>
          <a:prstGeom prst="rect">
            <a:avLst/>
          </a:prstGeom>
          <a:noFill/>
        </p:spPr>
        <p:txBody>
          <a:bodyPr wrap="square" lIns="36576" tIns="18288" rIns="36576" bIns="18288" anchor="b">
            <a:spAutoFit/>
          </a:bodyPr>
          <a:lstStyle/>
          <a:p>
            <a:pPr algn="l"/>
            <a:r>
              <a:rPr sz="2400" b="1" i="0">
                <a:solidFill>
                  <a:srgbClr val="197566"/>
                </a:solidFill>
                <a:latin typeface="Calibri"/>
              </a:rPr>
              <a:t>63</a:t>
            </a:r>
          </a:p>
        </p:txBody>
      </p:sp>
      <p:sp>
        <p:nvSpPr>
          <p:cNvPr id="15" name="TextBox 14"/>
          <p:cNvSpPr txBox="1"/>
          <p:nvPr/>
        </p:nvSpPr>
        <p:spPr>
          <a:xfrm>
            <a:off x="5861304" y="2075688"/>
            <a:ext cx="1280160" cy="292608"/>
          </a:xfrm>
          <a:prstGeom prst="rect">
            <a:avLst/>
          </a:prstGeom>
          <a:noFill/>
        </p:spPr>
        <p:txBody>
          <a:bodyPr wrap="square" lIns="36576" tIns="18288" rIns="36576" bIns="18288" anchor="t">
            <a:spAutoFit/>
          </a:bodyPr>
          <a:lstStyle/>
          <a:p>
            <a:pPr algn="l"/>
            <a:r>
              <a:rPr sz="1200" b="0" i="0">
                <a:solidFill>
                  <a:srgbClr val="2B2D33"/>
                </a:solidFill>
                <a:latin typeface="Calibri"/>
              </a:rPr>
              <a:t>interviews</a:t>
            </a:r>
          </a:p>
        </p:txBody>
      </p:sp>
      <p:sp>
        <p:nvSpPr>
          <p:cNvPr id="16" name="TextBox 15"/>
          <p:cNvSpPr txBox="1"/>
          <p:nvPr/>
        </p:nvSpPr>
        <p:spPr>
          <a:xfrm>
            <a:off x="7187184" y="1600200"/>
            <a:ext cx="1280160" cy="475488"/>
          </a:xfrm>
          <a:prstGeom prst="rect">
            <a:avLst/>
          </a:prstGeom>
          <a:noFill/>
        </p:spPr>
        <p:txBody>
          <a:bodyPr wrap="square" lIns="36576" tIns="18288" rIns="36576" bIns="18288" anchor="b">
            <a:spAutoFit/>
          </a:bodyPr>
          <a:lstStyle/>
          <a:p>
            <a:pPr algn="l"/>
            <a:r>
              <a:rPr sz="2400" b="1" i="0">
                <a:solidFill>
                  <a:srgbClr val="197566"/>
                </a:solidFill>
                <a:latin typeface="Calibri"/>
              </a:rPr>
              <a:t>42</a:t>
            </a:r>
          </a:p>
        </p:txBody>
      </p:sp>
      <p:sp>
        <p:nvSpPr>
          <p:cNvPr id="17" name="TextBox 16"/>
          <p:cNvSpPr txBox="1"/>
          <p:nvPr/>
        </p:nvSpPr>
        <p:spPr>
          <a:xfrm>
            <a:off x="7187184" y="2075688"/>
            <a:ext cx="1280160" cy="292608"/>
          </a:xfrm>
          <a:prstGeom prst="rect">
            <a:avLst/>
          </a:prstGeom>
          <a:noFill/>
        </p:spPr>
        <p:txBody>
          <a:bodyPr wrap="square" lIns="36576" tIns="18288" rIns="36576" bIns="18288" anchor="t">
            <a:spAutoFit/>
          </a:bodyPr>
          <a:lstStyle/>
          <a:p>
            <a:pPr algn="l"/>
            <a:r>
              <a:rPr sz="1200" b="0" i="0">
                <a:solidFill>
                  <a:srgbClr val="2B2D33"/>
                </a:solidFill>
                <a:latin typeface="Calibri"/>
              </a:rPr>
              <a:t>follow-ups</a:t>
            </a:r>
          </a:p>
        </p:txBody>
      </p:sp>
      <p:cxnSp>
        <p:nvCxnSpPr>
          <p:cNvPr id="18" name="Rule"/>
          <p:cNvCxnSpPr/>
          <p:nvPr/>
        </p:nvCxnSpPr>
        <p:spPr>
          <a:xfrm>
            <a:off x="557784" y="2487168"/>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graphicFrame>
        <p:nvGraphicFramePr>
          <p:cNvPr id="19" name="Chart 18"/>
          <p:cNvGraphicFramePr>
            <a:graphicFrameLocks noGrp="1"/>
          </p:cNvGraphicFramePr>
          <p:nvPr/>
        </p:nvGraphicFramePr>
        <p:xfrm>
          <a:off x="457200" y="2578608"/>
          <a:ext cx="4114800" cy="3154680"/>
        </p:xfrm>
        <a:graphic>
          <a:graphicData uri="http://schemas.openxmlformats.org/drawingml/2006/chart">
            <c:chart xmlns:c="http://schemas.openxmlformats.org/drawingml/2006/chart" xmlns:r="http://schemas.openxmlformats.org/officeDocument/2006/relationships" r:id="rId3"/>
          </a:graphicData>
        </a:graphic>
      </p:graphicFrame>
      <p:pic>
        <p:nvPicPr>
          <p:cNvPr id="20" name="Picture 19" descr="ModelView_Dataset.jpg"/>
          <p:cNvPicPr>
            <a:picLocks noChangeAspect="1"/>
          </p:cNvPicPr>
          <p:nvPr/>
        </p:nvPicPr>
        <p:blipFill>
          <a:blip r:embed="rId4"/>
          <a:stretch>
            <a:fillRect/>
          </a:stretch>
        </p:blipFill>
        <p:spPr>
          <a:xfrm>
            <a:off x="4663440" y="2697480"/>
            <a:ext cx="3840480" cy="2391068"/>
          </a:xfrm>
          <a:prstGeom prst="rect">
            <a:avLst/>
          </a:prstGeom>
          <a:ln w="9525">
            <a:solidFill>
              <a:srgbClr val="D9DBE1"/>
            </a:solidFill>
          </a:ln>
        </p:spPr>
      </p:pic>
      <p:sp>
        <p:nvSpPr>
          <p:cNvPr id="21" name="TextBox 20"/>
          <p:cNvSpPr txBox="1"/>
          <p:nvPr/>
        </p:nvSpPr>
        <p:spPr>
          <a:xfrm>
            <a:off x="4663440" y="5486400"/>
            <a:ext cx="3840480" cy="274320"/>
          </a:xfrm>
          <a:prstGeom prst="rect">
            <a:avLst/>
          </a:prstGeom>
          <a:noFill/>
        </p:spPr>
        <p:txBody>
          <a:bodyPr wrap="square" lIns="36576" tIns="18288" rIns="36576" bIns="18288" anchor="t">
            <a:spAutoFit/>
          </a:bodyPr>
          <a:lstStyle/>
          <a:p>
            <a:pPr algn="ctr"/>
            <a:r>
              <a:rPr sz="1200" b="0" i="0">
                <a:solidFill>
                  <a:srgbClr val="626771"/>
                </a:solidFill>
                <a:latin typeface="Calibri"/>
              </a:rPr>
              <a:t>Power BI model: table relationships</a:t>
            </a:r>
          </a:p>
        </p:txBody>
      </p:sp>
      <p:sp>
        <p:nvSpPr>
          <p:cNvPr id="22" name="TextBox 21"/>
          <p:cNvSpPr txBox="1"/>
          <p:nvPr/>
        </p:nvSpPr>
        <p:spPr>
          <a:xfrm>
            <a:off x="557784" y="5806440"/>
            <a:ext cx="7955279" cy="320040"/>
          </a:xfrm>
          <a:prstGeom prst="rect">
            <a:avLst/>
          </a:prstGeom>
          <a:noFill/>
        </p:spPr>
        <p:txBody>
          <a:bodyPr wrap="square" lIns="36576" tIns="18288" rIns="36576" bIns="18288" anchor="t">
            <a:spAutoFit/>
          </a:bodyPr>
          <a:lstStyle/>
          <a:p>
            <a:pPr algn="ctr"/>
            <a:r>
              <a:rPr sz="1350" b="1" i="0">
                <a:solidFill>
                  <a:srgbClr val="197566"/>
                </a:solidFill>
                <a:latin typeface="Calibri"/>
              </a:rPr>
              <a:t>Insight: </a:t>
            </a:r>
            <a:r>
              <a:rPr sz="1350" b="0" i="0">
                <a:solidFill>
                  <a:srgbClr val="2B2D33"/>
                </a:solidFill>
                <a:latin typeface="Calibri"/>
              </a:rPr>
              <a:t>referrals convert best — 62% reached interview and 19% an offer, vs 39% and 4% for company websites.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Status Transition and Traceability Matrices</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QA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13</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48640" y="1691640"/>
            <a:ext cx="1051560" cy="320040"/>
          </a:xfrm>
          <a:prstGeom prst="rect">
            <a:avLst/>
          </a:prstGeom>
          <a:noFill/>
        </p:spPr>
        <p:txBody>
          <a:bodyPr wrap="square" lIns="36576" tIns="18288" rIns="36576" bIns="18288" anchor="t">
            <a:spAutoFit/>
          </a:bodyPr>
          <a:lstStyle/>
          <a:p>
            <a:pPr algn="l"/>
            <a:r>
              <a:rPr sz="1050" b="1" i="0">
                <a:solidFill>
                  <a:srgbClr val="626771"/>
                </a:solidFill>
                <a:latin typeface="Calibri"/>
              </a:rPr>
              <a:t>From ↓  To →</a:t>
            </a:r>
          </a:p>
        </p:txBody>
      </p:sp>
      <p:sp>
        <p:nvSpPr>
          <p:cNvPr id="7" name="TextBox 6"/>
          <p:cNvSpPr txBox="1"/>
          <p:nvPr/>
        </p:nvSpPr>
        <p:spPr>
          <a:xfrm>
            <a:off x="1600200" y="1691640"/>
            <a:ext cx="850392" cy="320040"/>
          </a:xfrm>
          <a:prstGeom prst="rect">
            <a:avLst/>
          </a:prstGeom>
          <a:noFill/>
        </p:spPr>
        <p:txBody>
          <a:bodyPr wrap="square" lIns="36576" tIns="18288" rIns="36576" bIns="18288" anchor="t">
            <a:spAutoFit/>
          </a:bodyPr>
          <a:lstStyle/>
          <a:p>
            <a:pPr algn="ctr"/>
            <a:r>
              <a:rPr sz="1100" b="1" i="0">
                <a:solidFill>
                  <a:srgbClr val="211B42"/>
                </a:solidFill>
                <a:latin typeface="Calibri"/>
              </a:rPr>
              <a:t>Applied</a:t>
            </a:r>
          </a:p>
        </p:txBody>
      </p:sp>
      <p:sp>
        <p:nvSpPr>
          <p:cNvPr id="8" name="TextBox 7"/>
          <p:cNvSpPr txBox="1"/>
          <p:nvPr/>
        </p:nvSpPr>
        <p:spPr>
          <a:xfrm>
            <a:off x="2450592" y="1691640"/>
            <a:ext cx="850392" cy="320040"/>
          </a:xfrm>
          <a:prstGeom prst="rect">
            <a:avLst/>
          </a:prstGeom>
          <a:noFill/>
        </p:spPr>
        <p:txBody>
          <a:bodyPr wrap="square" lIns="36576" tIns="18288" rIns="36576" bIns="18288" anchor="t">
            <a:spAutoFit/>
          </a:bodyPr>
          <a:lstStyle/>
          <a:p>
            <a:pPr algn="ctr"/>
            <a:r>
              <a:rPr sz="1100" b="1" i="0">
                <a:solidFill>
                  <a:srgbClr val="211B42"/>
                </a:solidFill>
                <a:latin typeface="Calibri"/>
              </a:rPr>
              <a:t>Interview</a:t>
            </a:r>
          </a:p>
        </p:txBody>
      </p:sp>
      <p:sp>
        <p:nvSpPr>
          <p:cNvPr id="9" name="TextBox 8"/>
          <p:cNvSpPr txBox="1"/>
          <p:nvPr/>
        </p:nvSpPr>
        <p:spPr>
          <a:xfrm>
            <a:off x="3300984" y="1691640"/>
            <a:ext cx="850392" cy="320040"/>
          </a:xfrm>
          <a:prstGeom prst="rect">
            <a:avLst/>
          </a:prstGeom>
          <a:noFill/>
        </p:spPr>
        <p:txBody>
          <a:bodyPr wrap="square" lIns="36576" tIns="18288" rIns="36576" bIns="18288" anchor="t">
            <a:spAutoFit/>
          </a:bodyPr>
          <a:lstStyle/>
          <a:p>
            <a:pPr algn="ctr"/>
            <a:r>
              <a:rPr sz="1100" b="1" i="0">
                <a:solidFill>
                  <a:srgbClr val="211B42"/>
                </a:solidFill>
                <a:latin typeface="Calibri"/>
              </a:rPr>
              <a:t>Offer</a:t>
            </a:r>
          </a:p>
        </p:txBody>
      </p:sp>
      <p:sp>
        <p:nvSpPr>
          <p:cNvPr id="10" name="TextBox 9"/>
          <p:cNvSpPr txBox="1"/>
          <p:nvPr/>
        </p:nvSpPr>
        <p:spPr>
          <a:xfrm>
            <a:off x="4151376" y="1691640"/>
            <a:ext cx="850392" cy="320040"/>
          </a:xfrm>
          <a:prstGeom prst="rect">
            <a:avLst/>
          </a:prstGeom>
          <a:noFill/>
        </p:spPr>
        <p:txBody>
          <a:bodyPr wrap="square" lIns="36576" tIns="18288" rIns="36576" bIns="18288" anchor="t">
            <a:spAutoFit/>
          </a:bodyPr>
          <a:lstStyle/>
          <a:p>
            <a:pPr algn="ctr"/>
            <a:r>
              <a:rPr sz="1100" b="1" i="0">
                <a:solidFill>
                  <a:srgbClr val="211B42"/>
                </a:solidFill>
                <a:latin typeface="Calibri"/>
              </a:rPr>
              <a:t>Rejected</a:t>
            </a:r>
          </a:p>
        </p:txBody>
      </p:sp>
      <p:sp>
        <p:nvSpPr>
          <p:cNvPr id="11" name="TextBox 10"/>
          <p:cNvSpPr txBox="1"/>
          <p:nvPr/>
        </p:nvSpPr>
        <p:spPr>
          <a:xfrm>
            <a:off x="5001768" y="1691640"/>
            <a:ext cx="850392" cy="320040"/>
          </a:xfrm>
          <a:prstGeom prst="rect">
            <a:avLst/>
          </a:prstGeom>
          <a:noFill/>
        </p:spPr>
        <p:txBody>
          <a:bodyPr wrap="square" lIns="36576" tIns="18288" rIns="36576" bIns="18288" anchor="t">
            <a:spAutoFit/>
          </a:bodyPr>
          <a:lstStyle/>
          <a:p>
            <a:pPr algn="ctr"/>
            <a:r>
              <a:rPr sz="1100" b="1" i="0">
                <a:solidFill>
                  <a:srgbClr val="211B42"/>
                </a:solidFill>
                <a:latin typeface="Calibri"/>
              </a:rPr>
              <a:t>Withdrawn</a:t>
            </a:r>
          </a:p>
        </p:txBody>
      </p:sp>
      <p:sp>
        <p:nvSpPr>
          <p:cNvPr id="12" name="TextBox 11"/>
          <p:cNvSpPr txBox="1"/>
          <p:nvPr/>
        </p:nvSpPr>
        <p:spPr>
          <a:xfrm>
            <a:off x="5852160" y="1691640"/>
            <a:ext cx="850392" cy="320040"/>
          </a:xfrm>
          <a:prstGeom prst="rect">
            <a:avLst/>
          </a:prstGeom>
          <a:noFill/>
        </p:spPr>
        <p:txBody>
          <a:bodyPr wrap="square" lIns="36576" tIns="18288" rIns="36576" bIns="18288" anchor="t">
            <a:spAutoFit/>
          </a:bodyPr>
          <a:lstStyle/>
          <a:p>
            <a:pPr algn="ctr"/>
            <a:r>
              <a:rPr sz="1100" b="1" i="0">
                <a:solidFill>
                  <a:srgbClr val="211B42"/>
                </a:solidFill>
                <a:latin typeface="Calibri"/>
              </a:rPr>
              <a:t>Archived</a:t>
            </a:r>
          </a:p>
        </p:txBody>
      </p:sp>
      <p:sp>
        <p:nvSpPr>
          <p:cNvPr id="13" name="TextBox 12"/>
          <p:cNvSpPr txBox="1"/>
          <p:nvPr/>
        </p:nvSpPr>
        <p:spPr>
          <a:xfrm>
            <a:off x="548640" y="2057400"/>
            <a:ext cx="1051560" cy="512064"/>
          </a:xfrm>
          <a:prstGeom prst="rect">
            <a:avLst/>
          </a:prstGeom>
          <a:noFill/>
        </p:spPr>
        <p:txBody>
          <a:bodyPr wrap="square" lIns="36576" tIns="18288" rIns="36576" bIns="18288" anchor="ctr">
            <a:spAutoFit/>
          </a:bodyPr>
          <a:lstStyle/>
          <a:p>
            <a:pPr algn="l"/>
            <a:r>
              <a:rPr sz="1200" b="1" i="0">
                <a:solidFill>
                  <a:srgbClr val="211B42"/>
                </a:solidFill>
                <a:latin typeface="Calibri"/>
              </a:rPr>
              <a:t>Applied</a:t>
            </a:r>
          </a:p>
        </p:txBody>
      </p:sp>
      <p:sp>
        <p:nvSpPr>
          <p:cNvPr id="14" name="Matrix cell"/>
          <p:cNvSpPr/>
          <p:nvPr/>
        </p:nvSpPr>
        <p:spPr>
          <a:xfrm>
            <a:off x="1627632" y="2057400"/>
            <a:ext cx="795528" cy="51206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88888"/>
                </a:solidFill>
                <a:latin typeface="Calibri"/>
              </a:rPr>
              <a:t>—</a:t>
            </a:r>
          </a:p>
        </p:txBody>
      </p:sp>
      <p:sp>
        <p:nvSpPr>
          <p:cNvPr id="15" name="Matrix cell"/>
          <p:cNvSpPr/>
          <p:nvPr/>
        </p:nvSpPr>
        <p:spPr>
          <a:xfrm>
            <a:off x="2478024" y="2057400"/>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16" name="Matrix cell"/>
          <p:cNvSpPr/>
          <p:nvPr/>
        </p:nvSpPr>
        <p:spPr>
          <a:xfrm>
            <a:off x="3328416" y="2057400"/>
            <a:ext cx="795528" cy="512064"/>
          </a:xfrm>
          <a:prstGeom prst="rect">
            <a:avLst/>
          </a:prstGeom>
          <a:solidFill>
            <a:srgbClr val="FB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A86A12"/>
                </a:solidFill>
                <a:latin typeface="Calibri"/>
              </a:rPr>
              <a:t>Confirm</a:t>
            </a:r>
          </a:p>
        </p:txBody>
      </p:sp>
      <p:sp>
        <p:nvSpPr>
          <p:cNvPr id="17" name="Matrix cell"/>
          <p:cNvSpPr/>
          <p:nvPr/>
        </p:nvSpPr>
        <p:spPr>
          <a:xfrm>
            <a:off x="4178808" y="2057400"/>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18" name="Matrix cell"/>
          <p:cNvSpPr/>
          <p:nvPr/>
        </p:nvSpPr>
        <p:spPr>
          <a:xfrm>
            <a:off x="5029200" y="2057400"/>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19" name="Matrix cell"/>
          <p:cNvSpPr/>
          <p:nvPr/>
        </p:nvSpPr>
        <p:spPr>
          <a:xfrm>
            <a:off x="5879592" y="2057400"/>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20" name="TextBox 19"/>
          <p:cNvSpPr txBox="1"/>
          <p:nvPr/>
        </p:nvSpPr>
        <p:spPr>
          <a:xfrm>
            <a:off x="548640" y="2624328"/>
            <a:ext cx="1051560" cy="512064"/>
          </a:xfrm>
          <a:prstGeom prst="rect">
            <a:avLst/>
          </a:prstGeom>
          <a:noFill/>
        </p:spPr>
        <p:txBody>
          <a:bodyPr wrap="square" lIns="36576" tIns="18288" rIns="36576" bIns="18288" anchor="ctr">
            <a:spAutoFit/>
          </a:bodyPr>
          <a:lstStyle/>
          <a:p>
            <a:pPr algn="l"/>
            <a:r>
              <a:rPr sz="1200" b="1" i="0">
                <a:solidFill>
                  <a:srgbClr val="211B42"/>
                </a:solidFill>
                <a:latin typeface="Calibri"/>
              </a:rPr>
              <a:t>Interview</a:t>
            </a:r>
          </a:p>
        </p:txBody>
      </p:sp>
      <p:sp>
        <p:nvSpPr>
          <p:cNvPr id="21" name="Matrix cell"/>
          <p:cNvSpPr/>
          <p:nvPr/>
        </p:nvSpPr>
        <p:spPr>
          <a:xfrm>
            <a:off x="1627632" y="2624328"/>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22" name="Matrix cell"/>
          <p:cNvSpPr/>
          <p:nvPr/>
        </p:nvSpPr>
        <p:spPr>
          <a:xfrm>
            <a:off x="2478024" y="2624328"/>
            <a:ext cx="795528" cy="51206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88888"/>
                </a:solidFill>
                <a:latin typeface="Calibri"/>
              </a:rPr>
              <a:t>—</a:t>
            </a:r>
          </a:p>
        </p:txBody>
      </p:sp>
      <p:sp>
        <p:nvSpPr>
          <p:cNvPr id="23" name="Matrix cell"/>
          <p:cNvSpPr/>
          <p:nvPr/>
        </p:nvSpPr>
        <p:spPr>
          <a:xfrm>
            <a:off x="3328416" y="2624328"/>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24" name="Matrix cell"/>
          <p:cNvSpPr/>
          <p:nvPr/>
        </p:nvSpPr>
        <p:spPr>
          <a:xfrm>
            <a:off x="4178808" y="2624328"/>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25" name="Matrix cell"/>
          <p:cNvSpPr/>
          <p:nvPr/>
        </p:nvSpPr>
        <p:spPr>
          <a:xfrm>
            <a:off x="5029200" y="2624328"/>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26" name="Matrix cell"/>
          <p:cNvSpPr/>
          <p:nvPr/>
        </p:nvSpPr>
        <p:spPr>
          <a:xfrm>
            <a:off x="5879592" y="2624328"/>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27" name="TextBox 26"/>
          <p:cNvSpPr txBox="1"/>
          <p:nvPr/>
        </p:nvSpPr>
        <p:spPr>
          <a:xfrm>
            <a:off x="548640" y="3191256"/>
            <a:ext cx="1051560" cy="512064"/>
          </a:xfrm>
          <a:prstGeom prst="rect">
            <a:avLst/>
          </a:prstGeom>
          <a:noFill/>
        </p:spPr>
        <p:txBody>
          <a:bodyPr wrap="square" lIns="36576" tIns="18288" rIns="36576" bIns="18288" anchor="ctr">
            <a:spAutoFit/>
          </a:bodyPr>
          <a:lstStyle/>
          <a:p>
            <a:pPr algn="l"/>
            <a:r>
              <a:rPr sz="1200" b="1" i="0">
                <a:solidFill>
                  <a:srgbClr val="211B42"/>
                </a:solidFill>
                <a:latin typeface="Calibri"/>
              </a:rPr>
              <a:t>Offer</a:t>
            </a:r>
          </a:p>
        </p:txBody>
      </p:sp>
      <p:sp>
        <p:nvSpPr>
          <p:cNvPr id="28" name="Matrix cell"/>
          <p:cNvSpPr/>
          <p:nvPr/>
        </p:nvSpPr>
        <p:spPr>
          <a:xfrm>
            <a:off x="1627632" y="3191256"/>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29" name="Matrix cell"/>
          <p:cNvSpPr/>
          <p:nvPr/>
        </p:nvSpPr>
        <p:spPr>
          <a:xfrm>
            <a:off x="2478024" y="3191256"/>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30" name="Matrix cell"/>
          <p:cNvSpPr/>
          <p:nvPr/>
        </p:nvSpPr>
        <p:spPr>
          <a:xfrm>
            <a:off x="3328416" y="3191256"/>
            <a:ext cx="795528" cy="51206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88888"/>
                </a:solidFill>
                <a:latin typeface="Calibri"/>
              </a:rPr>
              <a:t>—</a:t>
            </a:r>
          </a:p>
        </p:txBody>
      </p:sp>
      <p:sp>
        <p:nvSpPr>
          <p:cNvPr id="31" name="Matrix cell"/>
          <p:cNvSpPr/>
          <p:nvPr/>
        </p:nvSpPr>
        <p:spPr>
          <a:xfrm>
            <a:off x="4178808" y="3191256"/>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32" name="Matrix cell"/>
          <p:cNvSpPr/>
          <p:nvPr/>
        </p:nvSpPr>
        <p:spPr>
          <a:xfrm>
            <a:off x="5029200" y="3191256"/>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33" name="Matrix cell"/>
          <p:cNvSpPr/>
          <p:nvPr/>
        </p:nvSpPr>
        <p:spPr>
          <a:xfrm>
            <a:off x="5879592" y="3191256"/>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34" name="TextBox 33"/>
          <p:cNvSpPr txBox="1"/>
          <p:nvPr/>
        </p:nvSpPr>
        <p:spPr>
          <a:xfrm>
            <a:off x="548640" y="3758183"/>
            <a:ext cx="1051560" cy="512064"/>
          </a:xfrm>
          <a:prstGeom prst="rect">
            <a:avLst/>
          </a:prstGeom>
          <a:noFill/>
        </p:spPr>
        <p:txBody>
          <a:bodyPr wrap="square" lIns="36576" tIns="18288" rIns="36576" bIns="18288" anchor="ctr">
            <a:spAutoFit/>
          </a:bodyPr>
          <a:lstStyle/>
          <a:p>
            <a:pPr algn="l"/>
            <a:r>
              <a:rPr sz="1200" b="1" i="0">
                <a:solidFill>
                  <a:srgbClr val="211B42"/>
                </a:solidFill>
                <a:latin typeface="Calibri"/>
              </a:rPr>
              <a:t>Rejected</a:t>
            </a:r>
          </a:p>
        </p:txBody>
      </p:sp>
      <p:sp>
        <p:nvSpPr>
          <p:cNvPr id="35" name="Matrix cell"/>
          <p:cNvSpPr/>
          <p:nvPr/>
        </p:nvSpPr>
        <p:spPr>
          <a:xfrm>
            <a:off x="1627632" y="3758183"/>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36" name="Matrix cell"/>
          <p:cNvSpPr/>
          <p:nvPr/>
        </p:nvSpPr>
        <p:spPr>
          <a:xfrm>
            <a:off x="2478024" y="3758183"/>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37" name="Matrix cell"/>
          <p:cNvSpPr/>
          <p:nvPr/>
        </p:nvSpPr>
        <p:spPr>
          <a:xfrm>
            <a:off x="3328416" y="3758183"/>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38" name="Matrix cell"/>
          <p:cNvSpPr/>
          <p:nvPr/>
        </p:nvSpPr>
        <p:spPr>
          <a:xfrm>
            <a:off x="4178808" y="3758183"/>
            <a:ext cx="795528" cy="51206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88888"/>
                </a:solidFill>
                <a:latin typeface="Calibri"/>
              </a:rPr>
              <a:t>—</a:t>
            </a:r>
          </a:p>
        </p:txBody>
      </p:sp>
      <p:sp>
        <p:nvSpPr>
          <p:cNvPr id="39" name="Matrix cell"/>
          <p:cNvSpPr/>
          <p:nvPr/>
        </p:nvSpPr>
        <p:spPr>
          <a:xfrm>
            <a:off x="5029200" y="3758183"/>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40" name="Matrix cell"/>
          <p:cNvSpPr/>
          <p:nvPr/>
        </p:nvSpPr>
        <p:spPr>
          <a:xfrm>
            <a:off x="5879592" y="3758183"/>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41" name="TextBox 40"/>
          <p:cNvSpPr txBox="1"/>
          <p:nvPr/>
        </p:nvSpPr>
        <p:spPr>
          <a:xfrm>
            <a:off x="548640" y="4325112"/>
            <a:ext cx="1051560" cy="512064"/>
          </a:xfrm>
          <a:prstGeom prst="rect">
            <a:avLst/>
          </a:prstGeom>
          <a:noFill/>
        </p:spPr>
        <p:txBody>
          <a:bodyPr wrap="square" lIns="36576" tIns="18288" rIns="36576" bIns="18288" anchor="ctr">
            <a:spAutoFit/>
          </a:bodyPr>
          <a:lstStyle/>
          <a:p>
            <a:pPr algn="l"/>
            <a:r>
              <a:rPr sz="1200" b="1" i="0">
                <a:solidFill>
                  <a:srgbClr val="211B42"/>
                </a:solidFill>
                <a:latin typeface="Calibri"/>
              </a:rPr>
              <a:t>Withdrawn</a:t>
            </a:r>
          </a:p>
        </p:txBody>
      </p:sp>
      <p:sp>
        <p:nvSpPr>
          <p:cNvPr id="42" name="Matrix cell"/>
          <p:cNvSpPr/>
          <p:nvPr/>
        </p:nvSpPr>
        <p:spPr>
          <a:xfrm>
            <a:off x="1627632" y="4325112"/>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43" name="Matrix cell"/>
          <p:cNvSpPr/>
          <p:nvPr/>
        </p:nvSpPr>
        <p:spPr>
          <a:xfrm>
            <a:off x="2478024" y="4325112"/>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44" name="Matrix cell"/>
          <p:cNvSpPr/>
          <p:nvPr/>
        </p:nvSpPr>
        <p:spPr>
          <a:xfrm>
            <a:off x="3328416" y="4325112"/>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45" name="Matrix cell"/>
          <p:cNvSpPr/>
          <p:nvPr/>
        </p:nvSpPr>
        <p:spPr>
          <a:xfrm>
            <a:off x="4178808" y="4325112"/>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46" name="Matrix cell"/>
          <p:cNvSpPr/>
          <p:nvPr/>
        </p:nvSpPr>
        <p:spPr>
          <a:xfrm>
            <a:off x="5029200" y="4325112"/>
            <a:ext cx="795528" cy="51206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88888"/>
                </a:solidFill>
                <a:latin typeface="Calibri"/>
              </a:rPr>
              <a:t>—</a:t>
            </a:r>
          </a:p>
        </p:txBody>
      </p:sp>
      <p:sp>
        <p:nvSpPr>
          <p:cNvPr id="47" name="Matrix cell"/>
          <p:cNvSpPr/>
          <p:nvPr/>
        </p:nvSpPr>
        <p:spPr>
          <a:xfrm>
            <a:off x="5879592" y="4325112"/>
            <a:ext cx="795528" cy="512064"/>
          </a:xfrm>
          <a:prstGeom prst="rect">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97566"/>
                </a:solidFill>
                <a:latin typeface="Calibri"/>
              </a:rPr>
              <a:t>✓</a:t>
            </a:r>
          </a:p>
        </p:txBody>
      </p:sp>
      <p:sp>
        <p:nvSpPr>
          <p:cNvPr id="48" name="TextBox 47"/>
          <p:cNvSpPr txBox="1"/>
          <p:nvPr/>
        </p:nvSpPr>
        <p:spPr>
          <a:xfrm>
            <a:off x="548640" y="4892040"/>
            <a:ext cx="1051560" cy="512064"/>
          </a:xfrm>
          <a:prstGeom prst="rect">
            <a:avLst/>
          </a:prstGeom>
          <a:noFill/>
        </p:spPr>
        <p:txBody>
          <a:bodyPr wrap="square" lIns="36576" tIns="18288" rIns="36576" bIns="18288" anchor="ctr">
            <a:spAutoFit/>
          </a:bodyPr>
          <a:lstStyle/>
          <a:p>
            <a:pPr algn="l"/>
            <a:r>
              <a:rPr sz="1200" b="1" i="0">
                <a:solidFill>
                  <a:srgbClr val="211B42"/>
                </a:solidFill>
                <a:latin typeface="Calibri"/>
              </a:rPr>
              <a:t>Archived</a:t>
            </a:r>
          </a:p>
        </p:txBody>
      </p:sp>
      <p:sp>
        <p:nvSpPr>
          <p:cNvPr id="49" name="Matrix cell"/>
          <p:cNvSpPr/>
          <p:nvPr/>
        </p:nvSpPr>
        <p:spPr>
          <a:xfrm>
            <a:off x="1627632" y="4892040"/>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50" name="Matrix cell"/>
          <p:cNvSpPr/>
          <p:nvPr/>
        </p:nvSpPr>
        <p:spPr>
          <a:xfrm>
            <a:off x="2478024" y="4892040"/>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51" name="Matrix cell"/>
          <p:cNvSpPr/>
          <p:nvPr/>
        </p:nvSpPr>
        <p:spPr>
          <a:xfrm>
            <a:off x="3328416" y="4892040"/>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52" name="Matrix cell"/>
          <p:cNvSpPr/>
          <p:nvPr/>
        </p:nvSpPr>
        <p:spPr>
          <a:xfrm>
            <a:off x="4178808" y="4892040"/>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53" name="Matrix cell"/>
          <p:cNvSpPr/>
          <p:nvPr/>
        </p:nvSpPr>
        <p:spPr>
          <a:xfrm>
            <a:off x="5029200" y="4892040"/>
            <a:ext cx="795528" cy="512064"/>
          </a:xfrm>
          <a:prstGeom prst="rect">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44E43"/>
                </a:solidFill>
                <a:latin typeface="Calibri"/>
              </a:rPr>
              <a:t>✗</a:t>
            </a:r>
          </a:p>
        </p:txBody>
      </p:sp>
      <p:sp>
        <p:nvSpPr>
          <p:cNvPr id="54" name="Matrix cell"/>
          <p:cNvSpPr/>
          <p:nvPr/>
        </p:nvSpPr>
        <p:spPr>
          <a:xfrm>
            <a:off x="5879592" y="4892040"/>
            <a:ext cx="795528" cy="51206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88888"/>
                </a:solidFill>
                <a:latin typeface="Calibri"/>
              </a:rPr>
              <a:t>—</a:t>
            </a:r>
          </a:p>
        </p:txBody>
      </p:sp>
      <p:cxnSp>
        <p:nvCxnSpPr>
          <p:cNvPr id="55" name="Rule"/>
          <p:cNvCxnSpPr/>
          <p:nvPr/>
        </p:nvCxnSpPr>
        <p:spPr>
          <a:xfrm>
            <a:off x="6858000" y="1755648"/>
            <a:ext cx="0" cy="420624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040880" y="1737360"/>
            <a:ext cx="1554480" cy="640080"/>
          </a:xfrm>
          <a:prstGeom prst="rect">
            <a:avLst/>
          </a:prstGeom>
          <a:noFill/>
        </p:spPr>
        <p:txBody>
          <a:bodyPr wrap="square" lIns="36576" tIns="18288" rIns="36576" bIns="18288" anchor="b">
            <a:spAutoFit/>
          </a:bodyPr>
          <a:lstStyle/>
          <a:p>
            <a:pPr algn="l"/>
            <a:r>
              <a:rPr sz="3000" b="1" i="0">
                <a:solidFill>
                  <a:srgbClr val="197566"/>
                </a:solidFill>
                <a:latin typeface="Calibri"/>
              </a:rPr>
              <a:t>34 / 34</a:t>
            </a:r>
          </a:p>
        </p:txBody>
      </p:sp>
      <p:sp>
        <p:nvSpPr>
          <p:cNvPr id="57" name="TextBox 56"/>
          <p:cNvSpPr txBox="1"/>
          <p:nvPr/>
        </p:nvSpPr>
        <p:spPr>
          <a:xfrm>
            <a:off x="7040880" y="2395728"/>
            <a:ext cx="1554480" cy="731520"/>
          </a:xfrm>
          <a:prstGeom prst="rect">
            <a:avLst/>
          </a:prstGeom>
          <a:noFill/>
        </p:spPr>
        <p:txBody>
          <a:bodyPr wrap="square" lIns="36576" tIns="18288" rIns="36576" bIns="18288" anchor="t">
            <a:spAutoFit/>
          </a:bodyPr>
          <a:lstStyle/>
          <a:p>
            <a:pPr algn="l"/>
            <a:r>
              <a:rPr sz="1300" b="0" i="0">
                <a:solidFill>
                  <a:srgbClr val="2B2D33"/>
                </a:solidFill>
                <a:latin typeface="Calibri"/>
              </a:rPr>
              <a:t>requirements traced to test cases</a:t>
            </a:r>
          </a:p>
        </p:txBody>
      </p:sp>
      <p:sp>
        <p:nvSpPr>
          <p:cNvPr id="58" name="TextBox 57"/>
          <p:cNvSpPr txBox="1"/>
          <p:nvPr/>
        </p:nvSpPr>
        <p:spPr>
          <a:xfrm>
            <a:off x="7040880" y="3520440"/>
            <a:ext cx="1554480" cy="411480"/>
          </a:xfrm>
          <a:prstGeom prst="rect">
            <a:avLst/>
          </a:prstGeom>
          <a:noFill/>
        </p:spPr>
        <p:txBody>
          <a:bodyPr wrap="square" lIns="36576" tIns="18288" rIns="36576" bIns="18288" anchor="t">
            <a:spAutoFit/>
          </a:bodyPr>
          <a:lstStyle/>
          <a:p>
            <a:pPr algn="l"/>
            <a:r>
              <a:rPr sz="1250" b="1" i="0">
                <a:solidFill>
                  <a:srgbClr val="197566"/>
                </a:solidFill>
                <a:latin typeface="Calibri"/>
              </a:rPr>
              <a:t>✓ allowed (10)</a:t>
            </a:r>
          </a:p>
        </p:txBody>
      </p:sp>
      <p:sp>
        <p:nvSpPr>
          <p:cNvPr id="59" name="TextBox 58"/>
          <p:cNvSpPr txBox="1"/>
          <p:nvPr/>
        </p:nvSpPr>
        <p:spPr>
          <a:xfrm>
            <a:off x="7040880" y="3977639"/>
            <a:ext cx="1554480" cy="411480"/>
          </a:xfrm>
          <a:prstGeom prst="rect">
            <a:avLst/>
          </a:prstGeom>
          <a:noFill/>
        </p:spPr>
        <p:txBody>
          <a:bodyPr wrap="square" lIns="36576" tIns="18288" rIns="36576" bIns="18288" anchor="t">
            <a:spAutoFit/>
          </a:bodyPr>
          <a:lstStyle/>
          <a:p>
            <a:pPr algn="l"/>
            <a:r>
              <a:rPr sz="1250" b="1" i="0">
                <a:solidFill>
                  <a:srgbClr val="B44E43"/>
                </a:solidFill>
                <a:latin typeface="Calibri"/>
              </a:rPr>
              <a:t>✗ blocked (20)</a:t>
            </a:r>
          </a:p>
        </p:txBody>
      </p:sp>
      <p:sp>
        <p:nvSpPr>
          <p:cNvPr id="60" name="TextBox 59"/>
          <p:cNvSpPr txBox="1"/>
          <p:nvPr/>
        </p:nvSpPr>
        <p:spPr>
          <a:xfrm>
            <a:off x="7040880" y="4434840"/>
            <a:ext cx="1554480" cy="411480"/>
          </a:xfrm>
          <a:prstGeom prst="rect">
            <a:avLst/>
          </a:prstGeom>
          <a:noFill/>
        </p:spPr>
        <p:txBody>
          <a:bodyPr wrap="square" lIns="36576" tIns="18288" rIns="36576" bIns="18288" anchor="t">
            <a:spAutoFit/>
          </a:bodyPr>
          <a:lstStyle/>
          <a:p>
            <a:pPr algn="l"/>
            <a:r>
              <a:rPr sz="1250" b="1" i="0">
                <a:solidFill>
                  <a:srgbClr val="A86A12"/>
                </a:solidFill>
                <a:latin typeface="Calibri"/>
              </a:rPr>
              <a:t>Confirm: skip-to-offer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Automated Testing and Defects Found</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QA AUTOMATION · POOJA TIWARI</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14</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57784" y="1645920"/>
            <a:ext cx="1920240" cy="548640"/>
          </a:xfrm>
          <a:prstGeom prst="rect">
            <a:avLst/>
          </a:prstGeom>
          <a:noFill/>
        </p:spPr>
        <p:txBody>
          <a:bodyPr wrap="square" lIns="36576" tIns="18288" rIns="36576" bIns="18288" anchor="b">
            <a:spAutoFit/>
          </a:bodyPr>
          <a:lstStyle/>
          <a:p>
            <a:pPr algn="l"/>
            <a:r>
              <a:rPr sz="2800" b="1" i="0">
                <a:solidFill>
                  <a:srgbClr val="197566"/>
                </a:solidFill>
                <a:latin typeface="Calibri"/>
              </a:rPr>
              <a:t>117</a:t>
            </a:r>
          </a:p>
        </p:txBody>
      </p:sp>
      <p:sp>
        <p:nvSpPr>
          <p:cNvPr id="7" name="TextBox 6"/>
          <p:cNvSpPr txBox="1"/>
          <p:nvPr/>
        </p:nvSpPr>
        <p:spPr>
          <a:xfrm>
            <a:off x="557784" y="2194560"/>
            <a:ext cx="1920240" cy="292608"/>
          </a:xfrm>
          <a:prstGeom prst="rect">
            <a:avLst/>
          </a:prstGeom>
          <a:noFill/>
        </p:spPr>
        <p:txBody>
          <a:bodyPr wrap="square" lIns="36576" tIns="18288" rIns="36576" bIns="18288" anchor="t">
            <a:spAutoFit/>
          </a:bodyPr>
          <a:lstStyle/>
          <a:p>
            <a:pPr algn="l"/>
            <a:r>
              <a:rPr sz="1250" b="0" i="0">
                <a:solidFill>
                  <a:srgbClr val="2B2D33"/>
                </a:solidFill>
                <a:latin typeface="Calibri"/>
              </a:rPr>
              <a:t>automated tests</a:t>
            </a:r>
          </a:p>
        </p:txBody>
      </p:sp>
      <p:sp>
        <p:nvSpPr>
          <p:cNvPr id="8" name="TextBox 7"/>
          <p:cNvSpPr txBox="1"/>
          <p:nvPr/>
        </p:nvSpPr>
        <p:spPr>
          <a:xfrm>
            <a:off x="2551176" y="1645920"/>
            <a:ext cx="1920240" cy="548640"/>
          </a:xfrm>
          <a:prstGeom prst="rect">
            <a:avLst/>
          </a:prstGeom>
          <a:noFill/>
        </p:spPr>
        <p:txBody>
          <a:bodyPr wrap="square" lIns="36576" tIns="18288" rIns="36576" bIns="18288" anchor="b">
            <a:spAutoFit/>
          </a:bodyPr>
          <a:lstStyle/>
          <a:p>
            <a:pPr algn="l"/>
            <a:r>
              <a:rPr sz="2800" b="1" i="0" dirty="0">
                <a:solidFill>
                  <a:srgbClr val="211B42"/>
                </a:solidFill>
                <a:latin typeface="Calibri"/>
              </a:rPr>
              <a:t>77</a:t>
            </a:r>
          </a:p>
        </p:txBody>
      </p:sp>
      <p:sp>
        <p:nvSpPr>
          <p:cNvPr id="9" name="TextBox 8"/>
          <p:cNvSpPr txBox="1"/>
          <p:nvPr/>
        </p:nvSpPr>
        <p:spPr>
          <a:xfrm>
            <a:off x="2551176" y="2194560"/>
            <a:ext cx="1920240" cy="292608"/>
          </a:xfrm>
          <a:prstGeom prst="rect">
            <a:avLst/>
          </a:prstGeom>
          <a:noFill/>
        </p:spPr>
        <p:txBody>
          <a:bodyPr wrap="square" lIns="36576" tIns="18288" rIns="36576" bIns="18288" anchor="t">
            <a:spAutoFit/>
          </a:bodyPr>
          <a:lstStyle/>
          <a:p>
            <a:pPr algn="l"/>
            <a:r>
              <a:rPr sz="1250" b="0" i="0">
                <a:solidFill>
                  <a:srgbClr val="2B2D33"/>
                </a:solidFill>
                <a:latin typeface="Calibri"/>
              </a:rPr>
              <a:t>API tests</a:t>
            </a:r>
          </a:p>
        </p:txBody>
      </p:sp>
      <p:sp>
        <p:nvSpPr>
          <p:cNvPr id="10" name="TextBox 9"/>
          <p:cNvSpPr txBox="1"/>
          <p:nvPr/>
        </p:nvSpPr>
        <p:spPr>
          <a:xfrm>
            <a:off x="4544568" y="1645920"/>
            <a:ext cx="1920240" cy="548640"/>
          </a:xfrm>
          <a:prstGeom prst="rect">
            <a:avLst/>
          </a:prstGeom>
          <a:noFill/>
        </p:spPr>
        <p:txBody>
          <a:bodyPr wrap="square" lIns="36576" tIns="18288" rIns="36576" bIns="18288" anchor="b">
            <a:spAutoFit/>
          </a:bodyPr>
          <a:lstStyle/>
          <a:p>
            <a:pPr algn="l"/>
            <a:r>
              <a:rPr sz="2800" b="1" i="0">
                <a:solidFill>
                  <a:srgbClr val="211B42"/>
                </a:solidFill>
                <a:latin typeface="Calibri"/>
              </a:rPr>
              <a:t>40</a:t>
            </a:r>
          </a:p>
        </p:txBody>
      </p:sp>
      <p:sp>
        <p:nvSpPr>
          <p:cNvPr id="11" name="TextBox 10"/>
          <p:cNvSpPr txBox="1"/>
          <p:nvPr/>
        </p:nvSpPr>
        <p:spPr>
          <a:xfrm>
            <a:off x="4544568" y="2194560"/>
            <a:ext cx="1920240" cy="292608"/>
          </a:xfrm>
          <a:prstGeom prst="rect">
            <a:avLst/>
          </a:prstGeom>
          <a:noFill/>
        </p:spPr>
        <p:txBody>
          <a:bodyPr wrap="square" lIns="36576" tIns="18288" rIns="36576" bIns="18288" anchor="t">
            <a:spAutoFit/>
          </a:bodyPr>
          <a:lstStyle/>
          <a:p>
            <a:pPr algn="l"/>
            <a:r>
              <a:rPr sz="1250" b="0" i="0">
                <a:solidFill>
                  <a:srgbClr val="2B2D33"/>
                </a:solidFill>
                <a:latin typeface="Calibri"/>
              </a:rPr>
              <a:t>browser UI tests</a:t>
            </a:r>
          </a:p>
        </p:txBody>
      </p:sp>
      <p:sp>
        <p:nvSpPr>
          <p:cNvPr id="12" name="TextBox 11"/>
          <p:cNvSpPr txBox="1"/>
          <p:nvPr/>
        </p:nvSpPr>
        <p:spPr>
          <a:xfrm>
            <a:off x="6537960" y="1645920"/>
            <a:ext cx="1920240" cy="548640"/>
          </a:xfrm>
          <a:prstGeom prst="rect">
            <a:avLst/>
          </a:prstGeom>
          <a:noFill/>
        </p:spPr>
        <p:txBody>
          <a:bodyPr wrap="square" lIns="36576" tIns="18288" rIns="36576" bIns="18288" anchor="b">
            <a:spAutoFit/>
          </a:bodyPr>
          <a:lstStyle/>
          <a:p>
            <a:pPr algn="l"/>
            <a:r>
              <a:rPr sz="2800" b="1" i="0">
                <a:solidFill>
                  <a:srgbClr val="197566"/>
                </a:solidFill>
                <a:latin typeface="Calibri"/>
              </a:rPr>
              <a:t>116 / 117</a:t>
            </a:r>
          </a:p>
        </p:txBody>
      </p:sp>
      <p:sp>
        <p:nvSpPr>
          <p:cNvPr id="13" name="TextBox 12"/>
          <p:cNvSpPr txBox="1"/>
          <p:nvPr/>
        </p:nvSpPr>
        <p:spPr>
          <a:xfrm>
            <a:off x="6537960" y="2194560"/>
            <a:ext cx="1920240" cy="292608"/>
          </a:xfrm>
          <a:prstGeom prst="rect">
            <a:avLst/>
          </a:prstGeom>
          <a:noFill/>
        </p:spPr>
        <p:txBody>
          <a:bodyPr wrap="square" lIns="36576" tIns="18288" rIns="36576" bIns="18288" anchor="t">
            <a:spAutoFit/>
          </a:bodyPr>
          <a:lstStyle/>
          <a:p>
            <a:pPr algn="l"/>
            <a:r>
              <a:rPr sz="1250" b="0" i="0">
                <a:solidFill>
                  <a:srgbClr val="2B2D33"/>
                </a:solidFill>
                <a:latin typeface="Calibri"/>
              </a:rPr>
              <a:t>passed (verification run)</a:t>
            </a:r>
          </a:p>
        </p:txBody>
      </p:sp>
      <p:cxnSp>
        <p:nvCxnSpPr>
          <p:cNvPr id="14" name="Rule"/>
          <p:cNvCxnSpPr/>
          <p:nvPr/>
        </p:nvCxnSpPr>
        <p:spPr>
          <a:xfrm>
            <a:off x="557784" y="2670048"/>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57784" y="2743200"/>
            <a:ext cx="7955279" cy="502920"/>
          </a:xfrm>
          <a:prstGeom prst="rect">
            <a:avLst/>
          </a:prstGeom>
          <a:noFill/>
        </p:spPr>
        <p:txBody>
          <a:bodyPr wrap="square" lIns="36576" tIns="18288" rIns="36576" bIns="18288" anchor="t">
            <a:spAutoFit/>
          </a:bodyPr>
          <a:lstStyle/>
          <a:p>
            <a:pPr algn="l"/>
            <a:r>
              <a:rPr sz="1250" b="0" i="0">
                <a:solidFill>
                  <a:srgbClr val="626771"/>
                </a:solidFill>
                <a:latin typeface="Calibri"/>
              </a:rPr>
              <a:t>Playwright · Page Object Model · HTML and JUnit reports · techniques: equivalence partitioning, boundary values, state transitions, negative and access-control tests</a:t>
            </a:r>
          </a:p>
        </p:txBody>
      </p:sp>
      <p:graphicFrame>
        <p:nvGraphicFramePr>
          <p:cNvPr id="16" name="Table 15"/>
          <p:cNvGraphicFramePr>
            <a:graphicFrameLocks noGrp="1"/>
          </p:cNvGraphicFramePr>
          <p:nvPr/>
        </p:nvGraphicFramePr>
        <p:xfrm>
          <a:off x="557784" y="3383280"/>
          <a:ext cx="7955280" cy="201168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670560">
                <a:tc>
                  <a:txBody>
                    <a:bodyPr/>
                    <a:lstStyle/>
                    <a:p>
                      <a:r>
                        <a:rPr sz="1300" b="1">
                          <a:solidFill>
                            <a:srgbClr val="211B42"/>
                          </a:solidFill>
                          <a:latin typeface="Calibri"/>
                        </a:rPr>
                        <a:t>ID</a:t>
                      </a:r>
                    </a:p>
                  </a:txBody>
                  <a:tcPr anchor="ctr">
                    <a:solidFill>
                      <a:srgbClr val="F2F4F7"/>
                    </a:solidFill>
                  </a:tcPr>
                </a:tc>
                <a:tc>
                  <a:txBody>
                    <a:bodyPr/>
                    <a:lstStyle/>
                    <a:p>
                      <a:r>
                        <a:rPr sz="1300" b="1">
                          <a:solidFill>
                            <a:srgbClr val="211B42"/>
                          </a:solidFill>
                          <a:latin typeface="Calibri"/>
                        </a:rPr>
                        <a:t>Severity</a:t>
                      </a:r>
                    </a:p>
                  </a:txBody>
                  <a:tcPr anchor="ctr">
                    <a:solidFill>
                      <a:srgbClr val="F2F4F7"/>
                    </a:solidFill>
                  </a:tcPr>
                </a:tc>
                <a:tc>
                  <a:txBody>
                    <a:bodyPr/>
                    <a:lstStyle/>
                    <a:p>
                      <a:r>
                        <a:rPr sz="1300" b="1">
                          <a:solidFill>
                            <a:srgbClr val="211B42"/>
                          </a:solidFill>
                          <a:latin typeface="Calibri"/>
                        </a:rPr>
                        <a:t>Defect</a:t>
                      </a:r>
                    </a:p>
                  </a:txBody>
                  <a:tcPr anchor="ctr">
                    <a:solidFill>
                      <a:srgbClr val="F2F4F7"/>
                    </a:solidFill>
                  </a:tcPr>
                </a:tc>
                <a:tc>
                  <a:txBody>
                    <a:bodyPr/>
                    <a:lstStyle/>
                    <a:p>
                      <a:r>
                        <a:rPr sz="1300" b="1">
                          <a:solidFill>
                            <a:srgbClr val="211B42"/>
                          </a:solidFill>
                          <a:latin typeface="Calibri"/>
                        </a:rPr>
                        <a:t>Found by</a:t>
                      </a:r>
                    </a:p>
                  </a:txBody>
                  <a:tcPr anchor="ctr">
                    <a:solidFill>
                      <a:srgbClr val="F2F4F7"/>
                    </a:solidFill>
                  </a:tcPr>
                </a:tc>
                <a:extLst>
                  <a:ext uri="{0D108BD9-81ED-4DB2-BD59-A6C34878D82A}">
                    <a16:rowId xmlns:a16="http://schemas.microsoft.com/office/drawing/2014/main" val="10000"/>
                  </a:ext>
                </a:extLst>
              </a:tr>
              <a:tr h="670560">
                <a:tc>
                  <a:txBody>
                    <a:bodyPr/>
                    <a:lstStyle/>
                    <a:p>
                      <a:r>
                        <a:rPr sz="1300" b="1">
                          <a:solidFill>
                            <a:srgbClr val="211B42"/>
                          </a:solidFill>
                          <a:latin typeface="Calibri"/>
                        </a:rPr>
                        <a:t>DEF-01</a:t>
                      </a:r>
                    </a:p>
                  </a:txBody>
                  <a:tcPr anchor="ctr">
                    <a:solidFill>
                      <a:srgbClr val="FFFFFF"/>
                    </a:solidFill>
                  </a:tcPr>
                </a:tc>
                <a:tc>
                  <a:txBody>
                    <a:bodyPr/>
                    <a:lstStyle/>
                    <a:p>
                      <a:r>
                        <a:rPr sz="1300" b="0">
                          <a:solidFill>
                            <a:srgbClr val="B44E43"/>
                          </a:solidFill>
                          <a:latin typeface="Calibri"/>
                        </a:rPr>
                        <a:t>Medium</a:t>
                      </a:r>
                    </a:p>
                  </a:txBody>
                  <a:tcPr anchor="ctr">
                    <a:solidFill>
                      <a:srgbClr val="FFFFFF"/>
                    </a:solidFill>
                  </a:tcPr>
                </a:tc>
                <a:tc>
                  <a:txBody>
                    <a:bodyPr/>
                    <a:lstStyle/>
                    <a:p>
                      <a:r>
                        <a:rPr sz="1300" b="0">
                          <a:solidFill>
                            <a:srgbClr val="2B2D33"/>
                          </a:solidFill>
                          <a:latin typeface="Calibri"/>
                        </a:rPr>
                        <a:t>Clearing a saved link fails: the API rejects the empty value the detail page sends.</a:t>
                      </a:r>
                    </a:p>
                  </a:txBody>
                  <a:tcPr anchor="ctr">
                    <a:solidFill>
                      <a:srgbClr val="FFFFFF"/>
                    </a:solidFill>
                  </a:tcPr>
                </a:tc>
                <a:tc>
                  <a:txBody>
                    <a:bodyPr/>
                    <a:lstStyle/>
                    <a:p>
                      <a:r>
                        <a:rPr sz="1300" b="0">
                          <a:solidFill>
                            <a:srgbClr val="2B2D33"/>
                          </a:solidFill>
                          <a:latin typeface="Calibri"/>
                        </a:rPr>
                        <a:t>API-JA-10</a:t>
                      </a:r>
                    </a:p>
                  </a:txBody>
                  <a:tcPr anchor="ctr">
                    <a:solidFill>
                      <a:srgbClr val="FFFFFF"/>
                    </a:solidFill>
                  </a:tcPr>
                </a:tc>
                <a:extLst>
                  <a:ext uri="{0D108BD9-81ED-4DB2-BD59-A6C34878D82A}">
                    <a16:rowId xmlns:a16="http://schemas.microsoft.com/office/drawing/2014/main" val="10001"/>
                  </a:ext>
                </a:extLst>
              </a:tr>
              <a:tr h="670560">
                <a:tc>
                  <a:txBody>
                    <a:bodyPr/>
                    <a:lstStyle/>
                    <a:p>
                      <a:r>
                        <a:rPr sz="1300" b="1">
                          <a:solidFill>
                            <a:srgbClr val="211B42"/>
                          </a:solidFill>
                          <a:latin typeface="Calibri"/>
                        </a:rPr>
                        <a:t>DEF-02</a:t>
                      </a:r>
                    </a:p>
                  </a:txBody>
                  <a:tcPr anchor="ctr">
                    <a:solidFill>
                      <a:srgbClr val="FFFFFF"/>
                    </a:solidFill>
                  </a:tcPr>
                </a:tc>
                <a:tc>
                  <a:txBody>
                    <a:bodyPr/>
                    <a:lstStyle/>
                    <a:p>
                      <a:r>
                        <a:rPr sz="1300" b="0">
                          <a:solidFill>
                            <a:srgbClr val="A86A12"/>
                          </a:solidFill>
                          <a:latin typeface="Calibri"/>
                        </a:rPr>
                        <a:t>Low</a:t>
                      </a:r>
                    </a:p>
                  </a:txBody>
                  <a:tcPr anchor="ctr">
                    <a:solidFill>
                      <a:srgbClr val="FFFFFF"/>
                    </a:solidFill>
                  </a:tcPr>
                </a:tc>
                <a:tc>
                  <a:txBody>
                    <a:bodyPr/>
                    <a:lstStyle/>
                    <a:p>
                      <a:r>
                        <a:rPr sz="1300" b="0">
                          <a:solidFill>
                            <a:srgbClr val="2B2D33"/>
                          </a:solidFill>
                          <a:latin typeface="Calibri"/>
                        </a:rPr>
                        <a:t>Date-range error message never shows: the browser’s own date check runs first.</a:t>
                      </a:r>
                    </a:p>
                  </a:txBody>
                  <a:tcPr anchor="ctr">
                    <a:solidFill>
                      <a:srgbClr val="FFFFFF"/>
                    </a:solidFill>
                  </a:tcPr>
                </a:tc>
                <a:tc>
                  <a:txBody>
                    <a:bodyPr/>
                    <a:lstStyle/>
                    <a:p>
                      <a:r>
                        <a:rPr sz="1300" b="0">
                          <a:solidFill>
                            <a:srgbClr val="2B2D33"/>
                          </a:solidFill>
                          <a:latin typeface="Calibri"/>
                        </a:rPr>
                        <a:t>UI-SF-07</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557784" y="5577840"/>
            <a:ext cx="7955279" cy="411480"/>
          </a:xfrm>
          <a:prstGeom prst="rect">
            <a:avLst/>
          </a:prstGeom>
          <a:noFill/>
        </p:spPr>
        <p:txBody>
          <a:bodyPr wrap="square" lIns="36576" tIns="18288" rIns="36576" bIns="18288" anchor="t">
            <a:spAutoFit/>
          </a:bodyPr>
          <a:lstStyle/>
          <a:p>
            <a:pPr algn="l"/>
            <a:r>
              <a:rPr sz="1450" b="1" i="0">
                <a:solidFill>
                  <a:srgbClr val="B44E43"/>
                </a:solidFill>
                <a:latin typeface="Calibri"/>
              </a:rPr>
              <a:t>Next: </a:t>
            </a:r>
            <a:r>
              <a:rPr sz="1450" b="1" i="0">
                <a:solidFill>
                  <a:srgbClr val="211B42"/>
                </a:solidFill>
                <a:latin typeface="Calibri"/>
              </a:rPr>
              <a:t>fix both defects, then re-run the full suite.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256BB-2331-0309-8DC8-A5A5F5096DD7}"/>
            </a:ext>
          </a:extLst>
        </p:cNvPr>
        <p:cNvGrpSpPr/>
        <p:nvPr/>
      </p:nvGrpSpPr>
      <p:grpSpPr>
        <a:xfrm>
          <a:off x="0" y="0"/>
          <a:ext cx="0" cy="0"/>
          <a:chOff x="0" y="0"/>
          <a:chExt cx="0" cy="0"/>
        </a:xfrm>
      </p:grpSpPr>
      <p:sp>
        <p:nvSpPr>
          <p:cNvPr id="3" name="Role tag">
            <a:extLst>
              <a:ext uri="{FF2B5EF4-FFF2-40B4-BE49-F238E27FC236}">
                <a16:creationId xmlns:a16="http://schemas.microsoft.com/office/drawing/2014/main" id="{E692BA5C-F7BE-E4FC-30B1-4EBAF976CC2C}"/>
              </a:ext>
            </a:extLst>
          </p:cNvPr>
          <p:cNvSpPr txBox="1"/>
          <p:nvPr/>
        </p:nvSpPr>
        <p:spPr>
          <a:xfrm>
            <a:off x="512064" y="384048"/>
            <a:ext cx="6949440" cy="206210"/>
          </a:xfrm>
          <a:prstGeom prst="rect">
            <a:avLst/>
          </a:prstGeom>
          <a:noFill/>
        </p:spPr>
        <p:txBody>
          <a:bodyPr wrap="square" lIns="36576" tIns="18288" rIns="36576" bIns="18288" anchor="t">
            <a:spAutoFit/>
          </a:bodyPr>
          <a:lstStyle/>
          <a:p>
            <a:pPr>
              <a:defRPr sz="1000" b="1">
                <a:solidFill>
                  <a:srgbClr val="238477"/>
                </a:solidFill>
                <a:latin typeface="Aptos"/>
              </a:defRPr>
            </a:pPr>
            <a:r>
              <a:rPr lang="en-US" sz="1100" dirty="0"/>
              <a:t>TESTER · PRINCE KUMAR SAH</a:t>
            </a:r>
          </a:p>
        </p:txBody>
      </p:sp>
      <p:sp>
        <p:nvSpPr>
          <p:cNvPr id="4" name="Slide Number Placeholder 3">
            <a:extLst>
              <a:ext uri="{FF2B5EF4-FFF2-40B4-BE49-F238E27FC236}">
                <a16:creationId xmlns:a16="http://schemas.microsoft.com/office/drawing/2014/main" id="{449925C7-47E0-36F1-528B-818FF896F5D2}"/>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15</a:t>
            </a:fld>
            <a:endParaRPr/>
          </a:p>
        </p:txBody>
      </p:sp>
      <p:sp>
        <p:nvSpPr>
          <p:cNvPr id="5" name="Footer Placeholder 4">
            <a:extLst>
              <a:ext uri="{FF2B5EF4-FFF2-40B4-BE49-F238E27FC236}">
                <a16:creationId xmlns:a16="http://schemas.microsoft.com/office/drawing/2014/main" id="{1233A59E-892F-A497-7800-2FC070FAF8A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10" name="TextBox 9">
            <a:extLst>
              <a:ext uri="{FF2B5EF4-FFF2-40B4-BE49-F238E27FC236}">
                <a16:creationId xmlns:a16="http://schemas.microsoft.com/office/drawing/2014/main" id="{098617E8-73D7-C805-25D5-8DD2DCBACB69}"/>
              </a:ext>
            </a:extLst>
          </p:cNvPr>
          <p:cNvSpPr txBox="1"/>
          <p:nvPr/>
        </p:nvSpPr>
        <p:spPr>
          <a:xfrm>
            <a:off x="594360" y="658368"/>
            <a:ext cx="7086600" cy="523220"/>
          </a:xfrm>
          <a:prstGeom prst="rect">
            <a:avLst/>
          </a:prstGeom>
          <a:noFill/>
        </p:spPr>
        <p:txBody>
          <a:bodyPr wrap="square">
            <a:spAutoFit/>
          </a:bodyPr>
          <a:lstStyle/>
          <a:p>
            <a:pPr>
              <a:defRPr sz="2800">
                <a:solidFill>
                  <a:srgbClr val="262746"/>
                </a:solidFill>
                <a:latin typeface="Aptos Display"/>
              </a:defRPr>
            </a:pPr>
            <a:r>
              <a:t>Manual Testing Strategy</a:t>
            </a:r>
          </a:p>
        </p:txBody>
      </p:sp>
      <p:sp>
        <p:nvSpPr>
          <p:cNvPr id="12" name="Rectangle 11">
            <a:extLst>
              <a:ext uri="{FF2B5EF4-FFF2-40B4-BE49-F238E27FC236}">
                <a16:creationId xmlns:a16="http://schemas.microsoft.com/office/drawing/2014/main" id="{CC8ADEC3-8726-A522-6F06-890B91FE0785}"/>
              </a:ext>
            </a:extLst>
          </p:cNvPr>
          <p:cNvSpPr/>
          <p:nvPr/>
        </p:nvSpPr>
        <p:spPr>
          <a:xfrm>
            <a:off x="594360" y="1325879"/>
            <a:ext cx="7863840" cy="45719"/>
          </a:xfrm>
          <a:prstGeom prst="rect">
            <a:avLst/>
          </a:prstGeom>
          <a:solidFill>
            <a:srgbClr val="D2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4">
            <a:extLst>
              <a:ext uri="{FF2B5EF4-FFF2-40B4-BE49-F238E27FC236}">
                <a16:creationId xmlns:a16="http://schemas.microsoft.com/office/drawing/2014/main" id="{70EF2307-B65A-1D7D-0099-7D23184179BF}"/>
              </a:ext>
            </a:extLst>
          </p:cNvPr>
          <p:cNvSpPr/>
          <p:nvPr/>
        </p:nvSpPr>
        <p:spPr>
          <a:xfrm>
            <a:off x="685800" y="1627632"/>
            <a:ext cx="2020330" cy="1078992"/>
          </a:xfrm>
          <a:prstGeom prst="roundRect">
            <a:avLst/>
          </a:prstGeom>
          <a:solidFill>
            <a:srgbClr val="FFFFFF"/>
          </a:solidFill>
          <a:ln>
            <a:solidFill>
              <a:srgbClr val="D7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238477"/>
                </a:solidFill>
                <a:latin typeface="Aptos Display"/>
              </a:defRPr>
            </a:pPr>
            <a:r>
              <a:t>80</a:t>
            </a:r>
          </a:p>
          <a:p>
            <a:pPr algn="ctr">
              <a:defRPr sz="1050">
                <a:solidFill>
                  <a:srgbClr val="5C5C66"/>
                </a:solidFill>
                <a:latin typeface="Aptos"/>
              </a:defRPr>
            </a:pPr>
            <a:r>
              <a:t>manual test cases</a:t>
            </a:r>
          </a:p>
        </p:txBody>
      </p:sp>
      <p:sp>
        <p:nvSpPr>
          <p:cNvPr id="16" name="Rounded Rectangle 5">
            <a:extLst>
              <a:ext uri="{FF2B5EF4-FFF2-40B4-BE49-F238E27FC236}">
                <a16:creationId xmlns:a16="http://schemas.microsoft.com/office/drawing/2014/main" id="{B5BA77AC-6D5D-D657-37A3-8F47AEE429F6}"/>
              </a:ext>
            </a:extLst>
          </p:cNvPr>
          <p:cNvSpPr/>
          <p:nvPr/>
        </p:nvSpPr>
        <p:spPr>
          <a:xfrm>
            <a:off x="3291840" y="1627632"/>
            <a:ext cx="2020330" cy="1078992"/>
          </a:xfrm>
          <a:prstGeom prst="roundRect">
            <a:avLst/>
          </a:prstGeom>
          <a:solidFill>
            <a:srgbClr val="FFFFFF"/>
          </a:solidFill>
          <a:ln>
            <a:solidFill>
              <a:srgbClr val="D7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238477"/>
                </a:solidFill>
                <a:latin typeface="Aptos Display"/>
              </a:defRPr>
            </a:pPr>
            <a:r>
              <a:t>100%</a:t>
            </a:r>
          </a:p>
          <a:p>
            <a:pPr algn="ctr">
              <a:defRPr sz="1050">
                <a:solidFill>
                  <a:srgbClr val="5C5C66"/>
                </a:solidFill>
                <a:latin typeface="Aptos"/>
              </a:defRPr>
            </a:pPr>
            <a:r>
              <a:t>passed</a:t>
            </a:r>
          </a:p>
        </p:txBody>
      </p:sp>
      <p:sp>
        <p:nvSpPr>
          <p:cNvPr id="18" name="Rounded Rectangle 6">
            <a:extLst>
              <a:ext uri="{FF2B5EF4-FFF2-40B4-BE49-F238E27FC236}">
                <a16:creationId xmlns:a16="http://schemas.microsoft.com/office/drawing/2014/main" id="{44743702-32BD-59A0-6C82-0BDFABD98BB2}"/>
              </a:ext>
            </a:extLst>
          </p:cNvPr>
          <p:cNvSpPr/>
          <p:nvPr/>
        </p:nvSpPr>
        <p:spPr>
          <a:xfrm>
            <a:off x="6000750" y="1627632"/>
            <a:ext cx="2020330" cy="1078992"/>
          </a:xfrm>
          <a:prstGeom prst="roundRect">
            <a:avLst/>
          </a:prstGeom>
          <a:solidFill>
            <a:srgbClr val="FFFFFF"/>
          </a:solidFill>
          <a:ln>
            <a:solidFill>
              <a:srgbClr val="D7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238477"/>
                </a:solidFill>
                <a:latin typeface="Aptos Display"/>
              </a:defRPr>
            </a:pPr>
            <a:r>
              <a:t>Positive + Negative</a:t>
            </a:r>
          </a:p>
          <a:p>
            <a:pPr algn="ctr">
              <a:defRPr sz="1050">
                <a:solidFill>
                  <a:srgbClr val="5C5C66"/>
                </a:solidFill>
                <a:latin typeface="Aptos"/>
              </a:defRPr>
            </a:pPr>
            <a:r>
              <a:t>coverage</a:t>
            </a:r>
          </a:p>
        </p:txBody>
      </p:sp>
      <p:sp>
        <p:nvSpPr>
          <p:cNvPr id="20" name="Rounded Rectangle 7">
            <a:extLst>
              <a:ext uri="{FF2B5EF4-FFF2-40B4-BE49-F238E27FC236}">
                <a16:creationId xmlns:a16="http://schemas.microsoft.com/office/drawing/2014/main" id="{801825F1-8D0C-5639-13F2-5F7DB71C994C}"/>
              </a:ext>
            </a:extLst>
          </p:cNvPr>
          <p:cNvSpPr/>
          <p:nvPr/>
        </p:nvSpPr>
        <p:spPr>
          <a:xfrm>
            <a:off x="685800" y="2971800"/>
            <a:ext cx="3703320" cy="2423160"/>
          </a:xfrm>
          <a:prstGeom prst="roundRect">
            <a:avLst/>
          </a:prstGeom>
          <a:solidFill>
            <a:srgbClr val="F4F5F8"/>
          </a:solidFill>
          <a:ln>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62746"/>
                </a:solidFill>
                <a:latin typeface="Aptos"/>
              </a:defRPr>
            </a:pPr>
            <a:r>
              <a:t>What I tested</a:t>
            </a:r>
          </a:p>
          <a:p>
            <a:pPr>
              <a:spcBef>
                <a:spcPts val="600"/>
              </a:spcBef>
              <a:defRPr sz="1220">
                <a:solidFill>
                  <a:srgbClr val="262746"/>
                </a:solidFill>
                <a:latin typeface="Aptos"/>
              </a:defRPr>
            </a:pPr>
            <a:r>
              <a:t>Authentication and account validation</a:t>
            </a:r>
          </a:p>
          <a:p>
            <a:pPr>
              <a:spcBef>
                <a:spcPts val="600"/>
              </a:spcBef>
              <a:defRPr sz="1220">
                <a:solidFill>
                  <a:srgbClr val="262746"/>
                </a:solidFill>
                <a:latin typeface="Aptos"/>
              </a:defRPr>
            </a:pPr>
            <a:r>
              <a:t>Application creation, editing, archiving and restoring</a:t>
            </a:r>
          </a:p>
          <a:p>
            <a:pPr>
              <a:spcBef>
                <a:spcPts val="600"/>
              </a:spcBef>
              <a:defRPr sz="1220">
                <a:solidFill>
                  <a:srgbClr val="262746"/>
                </a:solidFill>
                <a:latin typeface="Aptos"/>
              </a:defRPr>
            </a:pPr>
            <a:r>
              <a:t>Search and filtering behaviour</a:t>
            </a:r>
          </a:p>
          <a:p>
            <a:pPr>
              <a:spcBef>
                <a:spcPts val="600"/>
              </a:spcBef>
              <a:defRPr sz="1220">
                <a:solidFill>
                  <a:srgbClr val="262746"/>
                </a:solidFill>
                <a:latin typeface="Aptos"/>
              </a:defRPr>
            </a:pPr>
            <a:r>
              <a:t>Status tracking and transition rules</a:t>
            </a:r>
          </a:p>
          <a:p>
            <a:pPr>
              <a:spcBef>
                <a:spcPts val="600"/>
              </a:spcBef>
              <a:defRPr sz="1220">
                <a:solidFill>
                  <a:srgbClr val="262746"/>
                </a:solidFill>
                <a:latin typeface="Aptos"/>
              </a:defRPr>
            </a:pPr>
            <a:r>
              <a:t>Document tracking and reusable versions</a:t>
            </a:r>
          </a:p>
          <a:p>
            <a:pPr>
              <a:spcBef>
                <a:spcPts val="600"/>
              </a:spcBef>
              <a:defRPr sz="1220">
                <a:solidFill>
                  <a:srgbClr val="262746"/>
                </a:solidFill>
                <a:latin typeface="Aptos"/>
              </a:defRPr>
            </a:pPr>
            <a:r>
              <a:t>Interviews, follow-ups and dashboard behaviour</a:t>
            </a:r>
          </a:p>
        </p:txBody>
      </p:sp>
      <p:sp>
        <p:nvSpPr>
          <p:cNvPr id="22" name="Rounded Rectangle 8">
            <a:extLst>
              <a:ext uri="{FF2B5EF4-FFF2-40B4-BE49-F238E27FC236}">
                <a16:creationId xmlns:a16="http://schemas.microsoft.com/office/drawing/2014/main" id="{BF604274-96AC-D820-BFEB-8CC496F73ABE}"/>
              </a:ext>
            </a:extLst>
          </p:cNvPr>
          <p:cNvSpPr/>
          <p:nvPr/>
        </p:nvSpPr>
        <p:spPr>
          <a:xfrm>
            <a:off x="4754882" y="2971800"/>
            <a:ext cx="3703318" cy="2423160"/>
          </a:xfrm>
          <a:prstGeom prst="roundRect">
            <a:avLst/>
          </a:prstGeom>
          <a:solidFill>
            <a:srgbClr val="F4F5F8"/>
          </a:solidFill>
          <a:ln>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62746"/>
                </a:solidFill>
                <a:latin typeface="Aptos"/>
              </a:defRPr>
            </a:pPr>
            <a:r>
              <a:t>Testing approach</a:t>
            </a:r>
          </a:p>
          <a:p>
            <a:pPr>
              <a:spcBef>
                <a:spcPts val="600"/>
              </a:spcBef>
              <a:defRPr sz="1220">
                <a:solidFill>
                  <a:srgbClr val="262746"/>
                </a:solidFill>
                <a:latin typeface="Aptos"/>
              </a:defRPr>
            </a:pPr>
            <a:r>
              <a:t>Used defined test scenarios with preconditions and test data</a:t>
            </a:r>
          </a:p>
          <a:p>
            <a:pPr>
              <a:spcBef>
                <a:spcPts val="600"/>
              </a:spcBef>
              <a:defRPr sz="1220">
                <a:solidFill>
                  <a:srgbClr val="262746"/>
                </a:solidFill>
                <a:latin typeface="Aptos"/>
              </a:defRPr>
            </a:pPr>
            <a:r>
              <a:t>Compared actual behaviour against expected results</a:t>
            </a:r>
          </a:p>
          <a:p>
            <a:pPr>
              <a:spcBef>
                <a:spcPts val="600"/>
              </a:spcBef>
              <a:defRPr sz="1220">
                <a:solidFill>
                  <a:srgbClr val="262746"/>
                </a:solidFill>
                <a:latin typeface="Aptos"/>
              </a:defRPr>
            </a:pPr>
            <a:r>
              <a:t>Covered positive, negative, security and workflow cases</a:t>
            </a:r>
          </a:p>
          <a:p>
            <a:pPr>
              <a:spcBef>
                <a:spcPts val="600"/>
              </a:spcBef>
              <a:defRPr sz="1220">
                <a:solidFill>
                  <a:srgbClr val="262746"/>
                </a:solidFill>
                <a:latin typeface="Aptos"/>
              </a:defRPr>
            </a:pPr>
            <a:r>
              <a:t>Recorded status, actual result, evidence and defect notes</a:t>
            </a:r>
          </a:p>
        </p:txBody>
      </p:sp>
      <p:sp>
        <p:nvSpPr>
          <p:cNvPr id="25" name="TextBox 24">
            <a:extLst>
              <a:ext uri="{FF2B5EF4-FFF2-40B4-BE49-F238E27FC236}">
                <a16:creationId xmlns:a16="http://schemas.microsoft.com/office/drawing/2014/main" id="{970971EF-0E5F-5593-52E6-34966A7805E4}"/>
              </a:ext>
            </a:extLst>
          </p:cNvPr>
          <p:cNvSpPr txBox="1"/>
          <p:nvPr/>
        </p:nvSpPr>
        <p:spPr>
          <a:xfrm>
            <a:off x="822960" y="5715000"/>
            <a:ext cx="7425690" cy="284693"/>
          </a:xfrm>
          <a:prstGeom prst="rect">
            <a:avLst/>
          </a:prstGeom>
          <a:noFill/>
        </p:spPr>
        <p:txBody>
          <a:bodyPr wrap="square">
            <a:spAutoFit/>
          </a:bodyPr>
          <a:lstStyle/>
          <a:p>
            <a:pPr algn="ctr">
              <a:defRPr sz="1250" b="1">
                <a:solidFill>
                  <a:srgbClr val="238477"/>
                </a:solidFill>
                <a:latin typeface="Aptos"/>
              </a:defRPr>
            </a:pPr>
            <a:r>
              <a:rPr dirty="0"/>
              <a:t>Goal: verify that implemented features satisfy expected user behavior before final demonstration.</a:t>
            </a:r>
          </a:p>
        </p:txBody>
      </p:sp>
    </p:spTree>
    <p:extLst>
      <p:ext uri="{BB962C8B-B14F-4D97-AF65-F5344CB8AC3E}">
        <p14:creationId xmlns:p14="http://schemas.microsoft.com/office/powerpoint/2010/main" val="2793445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F9077-0C87-A863-D215-BC256D71F44A}"/>
            </a:ext>
          </a:extLst>
        </p:cNvPr>
        <p:cNvGrpSpPr/>
        <p:nvPr/>
      </p:nvGrpSpPr>
      <p:grpSpPr>
        <a:xfrm>
          <a:off x="0" y="0"/>
          <a:ext cx="0" cy="0"/>
          <a:chOff x="0" y="0"/>
          <a:chExt cx="0" cy="0"/>
        </a:xfrm>
      </p:grpSpPr>
      <p:sp>
        <p:nvSpPr>
          <p:cNvPr id="3" name="Role tag">
            <a:extLst>
              <a:ext uri="{FF2B5EF4-FFF2-40B4-BE49-F238E27FC236}">
                <a16:creationId xmlns:a16="http://schemas.microsoft.com/office/drawing/2014/main" id="{E223E6B5-1517-C522-71EF-90473E3DD451}"/>
              </a:ext>
            </a:extLst>
          </p:cNvPr>
          <p:cNvSpPr txBox="1"/>
          <p:nvPr/>
        </p:nvSpPr>
        <p:spPr>
          <a:xfrm>
            <a:off x="512064" y="384048"/>
            <a:ext cx="6949440" cy="206210"/>
          </a:xfrm>
          <a:prstGeom prst="rect">
            <a:avLst/>
          </a:prstGeom>
          <a:noFill/>
        </p:spPr>
        <p:txBody>
          <a:bodyPr wrap="square" lIns="36576" tIns="18288" rIns="36576" bIns="18288" anchor="t">
            <a:spAutoFit/>
          </a:bodyPr>
          <a:lstStyle/>
          <a:p>
            <a:pPr>
              <a:defRPr sz="1000" b="1">
                <a:solidFill>
                  <a:srgbClr val="238477"/>
                </a:solidFill>
                <a:latin typeface="Aptos"/>
              </a:defRPr>
            </a:pPr>
            <a:r>
              <a:rPr lang="fr-FR" sz="1100" dirty="0"/>
              <a:t>TESTER · PRINCE KUMAR SAH</a:t>
            </a:r>
          </a:p>
        </p:txBody>
      </p:sp>
      <p:sp>
        <p:nvSpPr>
          <p:cNvPr id="4" name="Slide Number Placeholder 3">
            <a:extLst>
              <a:ext uri="{FF2B5EF4-FFF2-40B4-BE49-F238E27FC236}">
                <a16:creationId xmlns:a16="http://schemas.microsoft.com/office/drawing/2014/main" id="{DE2ADDE3-F643-F9BC-AE0D-CD6A46B9AA0A}"/>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16</a:t>
            </a:fld>
            <a:endParaRPr/>
          </a:p>
        </p:txBody>
      </p:sp>
      <p:sp>
        <p:nvSpPr>
          <p:cNvPr id="5" name="Footer Placeholder 4">
            <a:extLst>
              <a:ext uri="{FF2B5EF4-FFF2-40B4-BE49-F238E27FC236}">
                <a16:creationId xmlns:a16="http://schemas.microsoft.com/office/drawing/2014/main" id="{3682063C-4F07-3091-7D14-E7DF4A88E5A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2" name="TextBox 1">
            <a:extLst>
              <a:ext uri="{FF2B5EF4-FFF2-40B4-BE49-F238E27FC236}">
                <a16:creationId xmlns:a16="http://schemas.microsoft.com/office/drawing/2014/main" id="{B75E994A-A6F6-A06B-3F9D-4C4D30EF9420}"/>
              </a:ext>
            </a:extLst>
          </p:cNvPr>
          <p:cNvSpPr txBox="1"/>
          <p:nvPr/>
        </p:nvSpPr>
        <p:spPr>
          <a:xfrm>
            <a:off x="411480" y="731520"/>
            <a:ext cx="6377940" cy="538609"/>
          </a:xfrm>
          <a:prstGeom prst="rect">
            <a:avLst/>
          </a:prstGeom>
          <a:noFill/>
        </p:spPr>
        <p:txBody>
          <a:bodyPr wrap="square" rtlCol="0">
            <a:spAutoFit/>
          </a:bodyPr>
          <a:lstStyle/>
          <a:p>
            <a:pPr>
              <a:defRPr sz="2900">
                <a:solidFill>
                  <a:srgbClr val="262746"/>
                </a:solidFill>
                <a:latin typeface="Aptos Display"/>
              </a:defRPr>
            </a:pPr>
            <a:r>
              <a:rPr lang="en-US" sz="2800" dirty="0"/>
              <a:t>Testing Results and Evidence</a:t>
            </a:r>
          </a:p>
        </p:txBody>
      </p:sp>
      <p:sp>
        <p:nvSpPr>
          <p:cNvPr id="15" name="Rounded Rectangle 8">
            <a:extLst>
              <a:ext uri="{FF2B5EF4-FFF2-40B4-BE49-F238E27FC236}">
                <a16:creationId xmlns:a16="http://schemas.microsoft.com/office/drawing/2014/main" id="{388C5243-AB24-90A5-D202-DE0F8E694D30}"/>
              </a:ext>
            </a:extLst>
          </p:cNvPr>
          <p:cNvSpPr/>
          <p:nvPr/>
        </p:nvSpPr>
        <p:spPr>
          <a:xfrm>
            <a:off x="640080" y="5349240"/>
            <a:ext cx="7780020" cy="731520"/>
          </a:xfrm>
          <a:prstGeom prst="roundRect">
            <a:avLst/>
          </a:prstGeom>
          <a:solidFill>
            <a:srgbClr val="EB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38477"/>
                </a:solidFill>
                <a:latin typeface="Aptos"/>
              </a:defRPr>
            </a:pPr>
            <a:r>
              <a:t>TEST EVIDENCE   •   Screenshots   •   Test videos   •   Playwright traces   •   HTML reports</a:t>
            </a:r>
          </a:p>
        </p:txBody>
      </p:sp>
      <p:sp>
        <p:nvSpPr>
          <p:cNvPr id="8" name="Rounded Rectangle 4">
            <a:extLst>
              <a:ext uri="{FF2B5EF4-FFF2-40B4-BE49-F238E27FC236}">
                <a16:creationId xmlns:a16="http://schemas.microsoft.com/office/drawing/2014/main" id="{8C7544D6-1912-344B-62DE-DF79F078C3A5}"/>
              </a:ext>
            </a:extLst>
          </p:cNvPr>
          <p:cNvSpPr/>
          <p:nvPr/>
        </p:nvSpPr>
        <p:spPr>
          <a:xfrm>
            <a:off x="640081" y="1645920"/>
            <a:ext cx="3667506" cy="3326130"/>
          </a:xfrm>
          <a:prstGeom prst="roundRect">
            <a:avLst/>
          </a:prstGeom>
          <a:solidFill>
            <a:srgbClr val="F4F5F8"/>
          </a:solidFill>
          <a:ln>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262746"/>
                </a:solidFill>
                <a:latin typeface="Aptos"/>
              </a:defRPr>
            </a:pPr>
            <a:r>
              <a:rPr dirty="0"/>
              <a:t>Key Testing Findings</a:t>
            </a:r>
          </a:p>
          <a:p>
            <a:pPr marL="285750" indent="-285750">
              <a:spcBef>
                <a:spcPts val="700"/>
              </a:spcBef>
              <a:buFont typeface="Arial" panose="020B0604020202020204" pitchFamily="34" charset="0"/>
              <a:buChar char="•"/>
              <a:defRPr sz="1300">
                <a:solidFill>
                  <a:srgbClr val="262746"/>
                </a:solidFill>
                <a:latin typeface="Aptos"/>
              </a:defRPr>
            </a:pPr>
            <a:r>
              <a:rPr dirty="0"/>
              <a:t>Duplicate application data could cause locator conflicts</a:t>
            </a:r>
          </a:p>
          <a:p>
            <a:pPr marL="285750" indent="-285750">
              <a:spcBef>
                <a:spcPts val="700"/>
              </a:spcBef>
              <a:buFont typeface="Arial" panose="020B0604020202020204" pitchFamily="34" charset="0"/>
              <a:buChar char="•"/>
              <a:defRPr sz="1300">
                <a:solidFill>
                  <a:srgbClr val="262746"/>
                </a:solidFill>
                <a:latin typeface="Aptos"/>
              </a:defRPr>
            </a:pPr>
            <a:r>
              <a:rPr dirty="0"/>
              <a:t>Broad UI locators could match multiple elements</a:t>
            </a:r>
          </a:p>
          <a:p>
            <a:pPr marL="285750" indent="-285750">
              <a:spcBef>
                <a:spcPts val="700"/>
              </a:spcBef>
              <a:buFont typeface="Arial" panose="020B0604020202020204" pitchFamily="34" charset="0"/>
              <a:buChar char="•"/>
              <a:defRPr sz="1300">
                <a:solidFill>
                  <a:srgbClr val="262746"/>
                </a:solidFill>
                <a:latin typeface="Aptos"/>
              </a:defRPr>
            </a:pPr>
            <a:r>
              <a:rPr dirty="0"/>
              <a:t>Status workflow rules were verified</a:t>
            </a:r>
          </a:p>
          <a:p>
            <a:pPr marL="285750" indent="-285750">
              <a:spcBef>
                <a:spcPts val="700"/>
              </a:spcBef>
              <a:buFont typeface="Arial" panose="020B0604020202020204" pitchFamily="34" charset="0"/>
              <a:buChar char="•"/>
              <a:defRPr sz="1300">
                <a:solidFill>
                  <a:srgbClr val="262746"/>
                </a:solidFill>
                <a:latin typeface="Aptos"/>
              </a:defRPr>
            </a:pPr>
            <a:r>
              <a:rPr dirty="0"/>
              <a:t>Invalid status transitions were correctly blocked</a:t>
            </a:r>
          </a:p>
          <a:p>
            <a:pPr marL="285750" indent="-285750">
              <a:spcBef>
                <a:spcPts val="700"/>
              </a:spcBef>
              <a:buFont typeface="Arial" panose="020B0604020202020204" pitchFamily="34" charset="0"/>
              <a:buChar char="•"/>
              <a:defRPr sz="1300">
                <a:solidFill>
                  <a:srgbClr val="262746"/>
                </a:solidFill>
                <a:latin typeface="Aptos"/>
              </a:defRPr>
            </a:pPr>
            <a:r>
              <a:rPr dirty="0"/>
              <a:t>Duplicate document filenames were rejected by the system</a:t>
            </a:r>
          </a:p>
          <a:p>
            <a:pPr marL="285750" indent="-285750">
              <a:spcBef>
                <a:spcPts val="700"/>
              </a:spcBef>
              <a:buFont typeface="Arial" panose="020B0604020202020204" pitchFamily="34" charset="0"/>
              <a:buChar char="•"/>
              <a:defRPr sz="1300">
                <a:solidFill>
                  <a:srgbClr val="262746"/>
                </a:solidFill>
                <a:latin typeface="Aptos"/>
              </a:defRPr>
            </a:pPr>
            <a:r>
              <a:rPr dirty="0"/>
              <a:t>Automation was updated with unique test data and specific locators</a:t>
            </a:r>
          </a:p>
        </p:txBody>
      </p:sp>
      <p:sp>
        <p:nvSpPr>
          <p:cNvPr id="12" name="Rounded Rectangle 5">
            <a:extLst>
              <a:ext uri="{FF2B5EF4-FFF2-40B4-BE49-F238E27FC236}">
                <a16:creationId xmlns:a16="http://schemas.microsoft.com/office/drawing/2014/main" id="{88FFC026-948A-C0F7-E24F-6878B8DE1805}"/>
              </a:ext>
            </a:extLst>
          </p:cNvPr>
          <p:cNvSpPr/>
          <p:nvPr/>
        </p:nvSpPr>
        <p:spPr>
          <a:xfrm>
            <a:off x="4924044" y="1554480"/>
            <a:ext cx="3667506" cy="3417570"/>
          </a:xfrm>
          <a:prstGeom prst="roundRect">
            <a:avLst/>
          </a:prstGeom>
          <a:solidFill>
            <a:srgbClr val="F4F5F8"/>
          </a:solidFill>
          <a:ln>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262746"/>
                </a:solidFill>
                <a:latin typeface="Aptos"/>
              </a:defRPr>
            </a:pPr>
            <a:r>
              <a:rPr dirty="0"/>
              <a:t>Test Evidence</a:t>
            </a:r>
          </a:p>
          <a:p>
            <a:pPr marL="285750" indent="-285750">
              <a:spcBef>
                <a:spcPts val="700"/>
              </a:spcBef>
              <a:buFont typeface="Arial" panose="020B0604020202020204" pitchFamily="34" charset="0"/>
              <a:buChar char="•"/>
              <a:defRPr sz="1300">
                <a:solidFill>
                  <a:srgbClr val="262746"/>
                </a:solidFill>
                <a:latin typeface="Aptos"/>
              </a:defRPr>
            </a:pPr>
            <a:r>
              <a:rPr dirty="0"/>
              <a:t>Manual test results and screenshots</a:t>
            </a:r>
          </a:p>
          <a:p>
            <a:pPr marL="285750" indent="-285750">
              <a:spcBef>
                <a:spcPts val="700"/>
              </a:spcBef>
              <a:buFont typeface="Arial" panose="020B0604020202020204" pitchFamily="34" charset="0"/>
              <a:buChar char="•"/>
              <a:defRPr sz="1300">
                <a:solidFill>
                  <a:srgbClr val="262746"/>
                </a:solidFill>
                <a:latin typeface="Aptos"/>
              </a:defRPr>
            </a:pPr>
            <a:r>
              <a:rPr dirty="0"/>
              <a:t>Playwright screenshots on failures</a:t>
            </a:r>
          </a:p>
          <a:p>
            <a:pPr marL="285750" indent="-285750">
              <a:spcBef>
                <a:spcPts val="700"/>
              </a:spcBef>
              <a:buFont typeface="Arial" panose="020B0604020202020204" pitchFamily="34" charset="0"/>
              <a:buChar char="•"/>
              <a:defRPr sz="1300">
                <a:solidFill>
                  <a:srgbClr val="262746"/>
                </a:solidFill>
                <a:latin typeface="Aptos"/>
              </a:defRPr>
            </a:pPr>
            <a:r>
              <a:rPr dirty="0"/>
              <a:t>Playwright video recordings</a:t>
            </a:r>
          </a:p>
          <a:p>
            <a:pPr marL="285750" indent="-285750">
              <a:spcBef>
                <a:spcPts val="700"/>
              </a:spcBef>
              <a:buFont typeface="Arial" panose="020B0604020202020204" pitchFamily="34" charset="0"/>
              <a:buChar char="•"/>
              <a:defRPr sz="1300">
                <a:solidFill>
                  <a:srgbClr val="262746"/>
                </a:solidFill>
                <a:latin typeface="Aptos"/>
              </a:defRPr>
            </a:pPr>
            <a:r>
              <a:rPr dirty="0"/>
              <a:t>Trace files for debugging</a:t>
            </a:r>
          </a:p>
          <a:p>
            <a:pPr marL="285750" indent="-285750">
              <a:spcBef>
                <a:spcPts val="700"/>
              </a:spcBef>
              <a:buFont typeface="Arial" panose="020B0604020202020204" pitchFamily="34" charset="0"/>
              <a:buChar char="•"/>
              <a:defRPr sz="1300">
                <a:solidFill>
                  <a:srgbClr val="262746"/>
                </a:solidFill>
                <a:latin typeface="Aptos"/>
              </a:defRPr>
            </a:pPr>
            <a:r>
              <a:rPr dirty="0"/>
              <a:t>HTML test reports</a:t>
            </a:r>
          </a:p>
          <a:p>
            <a:pPr marL="285750" indent="-285750">
              <a:spcBef>
                <a:spcPts val="700"/>
              </a:spcBef>
              <a:buFont typeface="Arial" panose="020B0604020202020204" pitchFamily="34" charset="0"/>
              <a:buChar char="•"/>
              <a:defRPr sz="1300">
                <a:solidFill>
                  <a:srgbClr val="262746"/>
                </a:solidFill>
                <a:latin typeface="Aptos"/>
              </a:defRPr>
            </a:pPr>
            <a:r>
              <a:rPr dirty="0"/>
              <a:t>Retesting after fixes</a:t>
            </a:r>
          </a:p>
        </p:txBody>
      </p:sp>
    </p:spTree>
    <p:extLst>
      <p:ext uri="{BB962C8B-B14F-4D97-AF65-F5344CB8AC3E}">
        <p14:creationId xmlns:p14="http://schemas.microsoft.com/office/powerpoint/2010/main" val="1146520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Team Collaboration and the Mythical Man-Month</a:t>
            </a:r>
          </a:p>
        </p:txBody>
      </p:sp>
      <p:sp>
        <p:nvSpPr>
          <p:cNvPr id="3" name="TextBox 2"/>
          <p:cNvSpPr txBox="1"/>
          <p:nvPr/>
        </p:nvSpPr>
        <p:spPr>
          <a:xfrm>
            <a:off x="512064" y="384048"/>
            <a:ext cx="6949440" cy="320040"/>
          </a:xfrm>
          <a:prstGeom prst="rect">
            <a:avLst/>
          </a:prstGeom>
          <a:noFill/>
        </p:spPr>
        <p:txBody>
          <a:bodyPr wrap="square" lIns="36576" rIns="36576" anchor="t">
            <a:spAutoFit/>
          </a:bodyPr>
          <a:lstStyle/>
          <a:p>
            <a:pPr algn="l"/>
            <a:r>
              <a:rPr sz="1100" b="1" i="0">
                <a:solidFill>
                  <a:srgbClr val="197566"/>
                </a:solidFill>
                <a:latin typeface="Calibri"/>
              </a:rPr>
              <a:t>DEVELOPMENT PROCESSES · PRINCE KUMAR SAH</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17</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48640" y="1645920"/>
            <a:ext cx="7973568" cy="685800"/>
          </a:xfrm>
          <a:prstGeom prst="rect">
            <a:avLst/>
          </a:prstGeom>
          <a:noFill/>
        </p:spPr>
        <p:txBody>
          <a:bodyPr wrap="square" lIns="36576" rIns="36576" anchor="t">
            <a:spAutoFit/>
          </a:bodyPr>
          <a:lstStyle/>
          <a:p>
            <a:pPr algn="ctr"/>
            <a:r>
              <a:rPr sz="1700" b="1" i="0">
                <a:solidFill>
                  <a:srgbClr val="B44E43"/>
                </a:solidFill>
                <a:latin typeface="Calibri"/>
              </a:rPr>
              <a:t>Brooks’s law: </a:t>
            </a:r>
            <a:r>
              <a:rPr sz="1700" b="1" i="0">
                <a:solidFill>
                  <a:srgbClr val="211B42"/>
                </a:solidFill>
                <a:latin typeface="Calibri"/>
              </a:rPr>
              <a:t>adding people to a late software project makes it later.</a:t>
            </a:r>
          </a:p>
        </p:txBody>
      </p:sp>
      <p:cxnSp>
        <p:nvCxnSpPr>
          <p:cNvPr id="7" name="Connector 6"/>
          <p:cNvCxnSpPr/>
          <p:nvPr/>
        </p:nvCxnSpPr>
        <p:spPr>
          <a:xfrm>
            <a:off x="557784" y="2423160"/>
            <a:ext cx="7955279"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5216" y="2606040"/>
            <a:ext cx="2514600" cy="365760"/>
          </a:xfrm>
          <a:prstGeom prst="rect">
            <a:avLst/>
          </a:prstGeom>
          <a:noFill/>
        </p:spPr>
        <p:txBody>
          <a:bodyPr wrap="square" lIns="36576" rIns="36576" anchor="t">
            <a:spAutoFit/>
          </a:bodyPr>
          <a:lstStyle/>
          <a:p>
            <a:pPr algn="l"/>
            <a:r>
              <a:rPr sz="1600" b="1" i="0">
                <a:solidFill>
                  <a:srgbClr val="211B42"/>
                </a:solidFill>
                <a:latin typeface="Calibri"/>
              </a:rPr>
              <a:t>Clear ownership</a:t>
            </a:r>
          </a:p>
        </p:txBody>
      </p:sp>
      <p:cxnSp>
        <p:nvCxnSpPr>
          <p:cNvPr id="9" name="Connector 8"/>
          <p:cNvCxnSpPr/>
          <p:nvPr/>
        </p:nvCxnSpPr>
        <p:spPr>
          <a:xfrm>
            <a:off x="585216" y="30449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5216" y="3154680"/>
            <a:ext cx="2514600" cy="3017520"/>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Hieu: Developer and DBA</a:t>
            </a:r>
          </a:p>
          <a:p>
            <a:pPr>
              <a:spcAft>
                <a:spcPts val="500"/>
              </a:spcAft>
            </a:pPr>
            <a:r>
              <a:rPr sz="1300" b="1">
                <a:solidFill>
                  <a:srgbClr val="197566"/>
                </a:solidFill>
                <a:latin typeface="Calibri"/>
              </a:rPr>
              <a:t>•  </a:t>
            </a:r>
            <a:r>
              <a:rPr sz="1300" b="0">
                <a:solidFill>
                  <a:srgbClr val="2B2D33"/>
                </a:solidFill>
                <a:latin typeface="Calibri"/>
              </a:rPr>
              <a:t>Pooja: BA, Report and Data Analyst, QA</a:t>
            </a:r>
          </a:p>
          <a:p>
            <a:pPr>
              <a:spcAft>
                <a:spcPts val="500"/>
              </a:spcAft>
            </a:pPr>
            <a:r>
              <a:rPr sz="1300" b="1">
                <a:solidFill>
                  <a:srgbClr val="197566"/>
                </a:solidFill>
                <a:latin typeface="Calibri"/>
              </a:rPr>
              <a:t>•  </a:t>
            </a:r>
            <a:r>
              <a:rPr sz="1300" b="0">
                <a:solidFill>
                  <a:srgbClr val="2B2D33"/>
                </a:solidFill>
                <a:latin typeface="Calibri"/>
              </a:rPr>
              <a:t>Prince: Tester</a:t>
            </a:r>
          </a:p>
          <a:p>
            <a:pPr>
              <a:spcAft>
                <a:spcPts val="500"/>
              </a:spcAft>
            </a:pPr>
            <a:r>
              <a:rPr sz="1300" b="1">
                <a:solidFill>
                  <a:srgbClr val="197566"/>
                </a:solidFill>
                <a:latin typeface="Calibri"/>
              </a:rPr>
              <a:t>•  </a:t>
            </a:r>
            <a:r>
              <a:rPr sz="1300" b="0">
                <a:solidFill>
                  <a:srgbClr val="2B2D33"/>
                </a:solidFill>
                <a:latin typeface="Calibri"/>
              </a:rPr>
              <a:t>Small team, no late handovers</a:t>
            </a:r>
          </a:p>
        </p:txBody>
      </p:sp>
      <p:cxnSp>
        <p:nvCxnSpPr>
          <p:cNvPr id="11" name="Connector 10"/>
          <p:cNvCxnSpPr/>
          <p:nvPr/>
        </p:nvCxnSpPr>
        <p:spPr>
          <a:xfrm>
            <a:off x="3136392" y="2651760"/>
            <a:ext cx="0" cy="3474719"/>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91840" y="2606040"/>
            <a:ext cx="2514600" cy="365760"/>
          </a:xfrm>
          <a:prstGeom prst="rect">
            <a:avLst/>
          </a:prstGeom>
          <a:noFill/>
        </p:spPr>
        <p:txBody>
          <a:bodyPr wrap="square" lIns="36576" rIns="36576" anchor="t">
            <a:spAutoFit/>
          </a:bodyPr>
          <a:lstStyle/>
          <a:p>
            <a:pPr algn="l"/>
            <a:r>
              <a:rPr sz="1600" b="1" i="0">
                <a:solidFill>
                  <a:srgbClr val="211B42"/>
                </a:solidFill>
                <a:latin typeface="Calibri"/>
              </a:rPr>
              <a:t>Collaboration</a:t>
            </a:r>
          </a:p>
        </p:txBody>
      </p:sp>
      <p:cxnSp>
        <p:nvCxnSpPr>
          <p:cNvPr id="13" name="Connector 12"/>
          <p:cNvCxnSpPr/>
          <p:nvPr/>
        </p:nvCxnSpPr>
        <p:spPr>
          <a:xfrm>
            <a:off x="3291840" y="30449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91840" y="3154680"/>
            <a:ext cx="2514600" cy="3017520"/>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Weekly meetings with action items</a:t>
            </a:r>
          </a:p>
          <a:p>
            <a:pPr>
              <a:spcAft>
                <a:spcPts val="500"/>
              </a:spcAft>
            </a:pPr>
            <a:r>
              <a:rPr sz="1300" b="1">
                <a:solidFill>
                  <a:srgbClr val="197566"/>
                </a:solidFill>
                <a:latin typeface="Calibri"/>
              </a:rPr>
              <a:t>•  </a:t>
            </a:r>
            <a:r>
              <a:rPr sz="1300" b="0">
                <a:solidFill>
                  <a:srgbClr val="2B2D33"/>
                </a:solidFill>
                <a:latin typeface="Calibri"/>
              </a:rPr>
              <a:t>BRD/SRS as single source of truth</a:t>
            </a:r>
          </a:p>
          <a:p>
            <a:pPr>
              <a:spcAft>
                <a:spcPts val="500"/>
              </a:spcAft>
            </a:pPr>
            <a:r>
              <a:rPr sz="1300" b="1">
                <a:solidFill>
                  <a:srgbClr val="197566"/>
                </a:solidFill>
                <a:latin typeface="Calibri"/>
              </a:rPr>
              <a:t>•  </a:t>
            </a:r>
            <a:r>
              <a:rPr sz="1300" b="0">
                <a:solidFill>
                  <a:srgbClr val="2B2D33"/>
                </a:solidFill>
                <a:latin typeface="Calibri"/>
              </a:rPr>
              <a:t>Shared GitHub repository</a:t>
            </a:r>
          </a:p>
        </p:txBody>
      </p:sp>
      <p:cxnSp>
        <p:nvCxnSpPr>
          <p:cNvPr id="15" name="Connector 14"/>
          <p:cNvCxnSpPr/>
          <p:nvPr/>
        </p:nvCxnSpPr>
        <p:spPr>
          <a:xfrm>
            <a:off x="5843016" y="2651760"/>
            <a:ext cx="0" cy="3474719"/>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98464" y="2606040"/>
            <a:ext cx="2514600" cy="365760"/>
          </a:xfrm>
          <a:prstGeom prst="rect">
            <a:avLst/>
          </a:prstGeom>
          <a:noFill/>
        </p:spPr>
        <p:txBody>
          <a:bodyPr wrap="square" lIns="36576" rIns="36576" anchor="t">
            <a:spAutoFit/>
          </a:bodyPr>
          <a:lstStyle/>
          <a:p>
            <a:pPr algn="l"/>
            <a:r>
              <a:rPr sz="1600" b="1" i="0">
                <a:solidFill>
                  <a:srgbClr val="211B42"/>
                </a:solidFill>
                <a:latin typeface="Calibri"/>
              </a:rPr>
              <a:t>Adaptive practices</a:t>
            </a:r>
          </a:p>
        </p:txBody>
      </p:sp>
      <p:cxnSp>
        <p:nvCxnSpPr>
          <p:cNvPr id="17" name="Connector 16"/>
          <p:cNvCxnSpPr/>
          <p:nvPr/>
        </p:nvCxnSpPr>
        <p:spPr>
          <a:xfrm>
            <a:off x="5998464" y="3044952"/>
            <a:ext cx="2423160" cy="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98464" y="3154680"/>
            <a:ext cx="2514600" cy="3017520"/>
          </a:xfrm>
          <a:prstGeom prst="rect">
            <a:avLst/>
          </a:prstGeom>
          <a:noFill/>
        </p:spPr>
        <p:txBody>
          <a:bodyPr wrap="square">
            <a:spAutoFit/>
          </a:bodyPr>
          <a:lstStyle/>
          <a:p>
            <a:pPr>
              <a:spcAft>
                <a:spcPts val="500"/>
              </a:spcAft>
            </a:pPr>
            <a:r>
              <a:rPr sz="1300" b="1">
                <a:solidFill>
                  <a:srgbClr val="197566"/>
                </a:solidFill>
                <a:latin typeface="Calibri"/>
              </a:rPr>
              <a:t>•  </a:t>
            </a:r>
            <a:r>
              <a:rPr sz="1300" b="0">
                <a:solidFill>
                  <a:srgbClr val="2B2D33"/>
                </a:solidFill>
                <a:latin typeface="Calibri"/>
              </a:rPr>
              <a:t>Updated requirements to v2.0 as the build changed</a:t>
            </a:r>
          </a:p>
          <a:p>
            <a:pPr>
              <a:spcAft>
                <a:spcPts val="500"/>
              </a:spcAft>
            </a:pPr>
            <a:r>
              <a:rPr sz="1300" b="1">
                <a:solidFill>
                  <a:srgbClr val="197566"/>
                </a:solidFill>
                <a:latin typeface="Calibri"/>
              </a:rPr>
              <a:t>•  </a:t>
            </a:r>
            <a:r>
              <a:rPr sz="1300" b="0">
                <a:solidFill>
                  <a:srgbClr val="2B2D33"/>
                </a:solidFill>
                <a:latin typeface="Calibri"/>
              </a:rPr>
              <a:t>Unique test data and specific locators after test clashes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Summary</a:t>
            </a:r>
          </a:p>
        </p:txBody>
      </p:sp>
      <p:sp>
        <p:nvSpPr>
          <p:cNvPr id="3" name="TextBox 2"/>
          <p:cNvSpPr txBox="1"/>
          <p:nvPr/>
        </p:nvSpPr>
        <p:spPr>
          <a:xfrm>
            <a:off x="512064" y="384048"/>
            <a:ext cx="6949440" cy="320040"/>
          </a:xfrm>
          <a:prstGeom prst="rect">
            <a:avLst/>
          </a:prstGeom>
          <a:noFill/>
        </p:spPr>
        <p:txBody>
          <a:bodyPr wrap="square" lIns="36576" rIns="36576" anchor="t">
            <a:spAutoFit/>
          </a:bodyPr>
          <a:lstStyle/>
          <a:p>
            <a:pPr algn="l"/>
            <a:r>
              <a:rPr sz="1100" b="1" i="0">
                <a:solidFill>
                  <a:srgbClr val="197566"/>
                </a:solidFill>
                <a:latin typeface="Calibri"/>
              </a:rPr>
              <a:t>CONCLUSION · PRINCE KUMAR SAH</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18</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Rounded Rectangle 5"/>
          <p:cNvSpPr/>
          <p:nvPr/>
        </p:nvSpPr>
        <p:spPr>
          <a:xfrm>
            <a:off x="557784" y="1737360"/>
            <a:ext cx="3886200" cy="16459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920240"/>
            <a:ext cx="3474720" cy="411480"/>
          </a:xfrm>
          <a:prstGeom prst="rect">
            <a:avLst/>
          </a:prstGeom>
          <a:noFill/>
        </p:spPr>
        <p:txBody>
          <a:bodyPr wrap="square" lIns="36576" rIns="36576" anchor="t">
            <a:spAutoFit/>
          </a:bodyPr>
          <a:lstStyle/>
          <a:p>
            <a:pPr algn="l"/>
            <a:r>
              <a:rPr sz="1800" b="1" i="0">
                <a:solidFill>
                  <a:srgbClr val="197566"/>
                </a:solidFill>
                <a:latin typeface="Calibri"/>
              </a:rPr>
              <a:t>One private workspace</a:t>
            </a:r>
          </a:p>
        </p:txBody>
      </p:sp>
      <p:sp>
        <p:nvSpPr>
          <p:cNvPr id="8" name="TextBox 7"/>
          <p:cNvSpPr txBox="1"/>
          <p:nvPr/>
        </p:nvSpPr>
        <p:spPr>
          <a:xfrm>
            <a:off x="786384" y="2423160"/>
            <a:ext cx="3474720" cy="822960"/>
          </a:xfrm>
          <a:prstGeom prst="rect">
            <a:avLst/>
          </a:prstGeom>
          <a:noFill/>
        </p:spPr>
        <p:txBody>
          <a:bodyPr wrap="square" lIns="36576" rIns="36576" anchor="t">
            <a:spAutoFit/>
          </a:bodyPr>
          <a:lstStyle/>
          <a:p>
            <a:pPr algn="l"/>
            <a:r>
              <a:rPr sz="1400" b="0" i="0">
                <a:solidFill>
                  <a:srgbClr val="2B2D33"/>
                </a:solidFill>
                <a:latin typeface="Calibri"/>
              </a:rPr>
              <a:t>Applications, interviews, follow-ups and documents together</a:t>
            </a:r>
          </a:p>
        </p:txBody>
      </p:sp>
      <p:sp>
        <p:nvSpPr>
          <p:cNvPr id="9" name="Rounded Rectangle 8"/>
          <p:cNvSpPr/>
          <p:nvPr/>
        </p:nvSpPr>
        <p:spPr>
          <a:xfrm>
            <a:off x="4626864" y="1737360"/>
            <a:ext cx="3886200" cy="16459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55464" y="1920240"/>
            <a:ext cx="3474720" cy="411480"/>
          </a:xfrm>
          <a:prstGeom prst="rect">
            <a:avLst/>
          </a:prstGeom>
          <a:noFill/>
        </p:spPr>
        <p:txBody>
          <a:bodyPr wrap="square" lIns="36576" rIns="36576" anchor="t">
            <a:spAutoFit/>
          </a:bodyPr>
          <a:lstStyle/>
          <a:p>
            <a:pPr algn="l"/>
            <a:r>
              <a:rPr sz="1800" b="1" i="0">
                <a:solidFill>
                  <a:srgbClr val="197566"/>
                </a:solidFill>
                <a:latin typeface="Calibri"/>
              </a:rPr>
              <a:t>Secure and maintainable</a:t>
            </a:r>
          </a:p>
        </p:txBody>
      </p:sp>
      <p:sp>
        <p:nvSpPr>
          <p:cNvPr id="11" name="TextBox 10"/>
          <p:cNvSpPr txBox="1"/>
          <p:nvPr/>
        </p:nvSpPr>
        <p:spPr>
          <a:xfrm>
            <a:off x="4855464" y="2423160"/>
            <a:ext cx="3474720" cy="822960"/>
          </a:xfrm>
          <a:prstGeom prst="rect">
            <a:avLst/>
          </a:prstGeom>
          <a:noFill/>
        </p:spPr>
        <p:txBody>
          <a:bodyPr wrap="square" lIns="36576" rIns="36576" anchor="t">
            <a:spAutoFit/>
          </a:bodyPr>
          <a:lstStyle/>
          <a:p>
            <a:pPr algn="l"/>
            <a:r>
              <a:rPr sz="1400" b="0" i="0">
                <a:solidFill>
                  <a:srgbClr val="2B2D33"/>
                </a:solidFill>
                <a:latin typeface="Calibri"/>
              </a:rPr>
              <a:t>Layered architecture, server-side rules, hashed passwords</a:t>
            </a:r>
          </a:p>
        </p:txBody>
      </p:sp>
      <p:sp>
        <p:nvSpPr>
          <p:cNvPr id="12" name="Rounded Rectangle 11"/>
          <p:cNvSpPr/>
          <p:nvPr/>
        </p:nvSpPr>
        <p:spPr>
          <a:xfrm>
            <a:off x="557784" y="3611879"/>
            <a:ext cx="3886200" cy="16459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3794759"/>
            <a:ext cx="3474720" cy="411480"/>
          </a:xfrm>
          <a:prstGeom prst="rect">
            <a:avLst/>
          </a:prstGeom>
          <a:noFill/>
        </p:spPr>
        <p:txBody>
          <a:bodyPr wrap="square" lIns="36576" rIns="36576" anchor="t">
            <a:spAutoFit/>
          </a:bodyPr>
          <a:lstStyle/>
          <a:p>
            <a:pPr algn="l"/>
            <a:r>
              <a:rPr sz="1800" b="1" i="0">
                <a:solidFill>
                  <a:srgbClr val="197566"/>
                </a:solidFill>
                <a:latin typeface="Calibri"/>
              </a:rPr>
              <a:t>Tested and traceable</a:t>
            </a:r>
          </a:p>
        </p:txBody>
      </p:sp>
      <p:sp>
        <p:nvSpPr>
          <p:cNvPr id="14" name="TextBox 13"/>
          <p:cNvSpPr txBox="1"/>
          <p:nvPr/>
        </p:nvSpPr>
        <p:spPr>
          <a:xfrm>
            <a:off x="786384" y="4297679"/>
            <a:ext cx="3474720" cy="822960"/>
          </a:xfrm>
          <a:prstGeom prst="rect">
            <a:avLst/>
          </a:prstGeom>
          <a:noFill/>
        </p:spPr>
        <p:txBody>
          <a:bodyPr wrap="square" lIns="36576" rIns="36576" anchor="t">
            <a:spAutoFit/>
          </a:bodyPr>
          <a:lstStyle/>
          <a:p>
            <a:pPr algn="l"/>
            <a:r>
              <a:rPr sz="1400" b="0" i="0">
                <a:solidFill>
                  <a:srgbClr val="2B2D33"/>
                </a:solidFill>
                <a:latin typeface="Calibri"/>
              </a:rPr>
              <a:t>34 requirements traced · 80 manual · 117 automated tests</a:t>
            </a:r>
          </a:p>
        </p:txBody>
      </p:sp>
      <p:sp>
        <p:nvSpPr>
          <p:cNvPr id="15" name="Rounded Rectangle 14"/>
          <p:cNvSpPr/>
          <p:nvPr/>
        </p:nvSpPr>
        <p:spPr>
          <a:xfrm>
            <a:off x="4626864" y="3611879"/>
            <a:ext cx="3886200" cy="16459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55464" y="3794759"/>
            <a:ext cx="3474720" cy="411480"/>
          </a:xfrm>
          <a:prstGeom prst="rect">
            <a:avLst/>
          </a:prstGeom>
          <a:noFill/>
        </p:spPr>
        <p:txBody>
          <a:bodyPr wrap="square" lIns="36576" rIns="36576" anchor="t">
            <a:spAutoFit/>
          </a:bodyPr>
          <a:lstStyle/>
          <a:p>
            <a:pPr algn="l"/>
            <a:r>
              <a:rPr sz="1800" b="1" i="0">
                <a:solidFill>
                  <a:srgbClr val="197566"/>
                </a:solidFill>
                <a:latin typeface="Calibri"/>
              </a:rPr>
              <a:t>Built as a team</a:t>
            </a:r>
          </a:p>
        </p:txBody>
      </p:sp>
      <p:sp>
        <p:nvSpPr>
          <p:cNvPr id="17" name="TextBox 16"/>
          <p:cNvSpPr txBox="1"/>
          <p:nvPr/>
        </p:nvSpPr>
        <p:spPr>
          <a:xfrm>
            <a:off x="4855464" y="4297679"/>
            <a:ext cx="3474720" cy="822960"/>
          </a:xfrm>
          <a:prstGeom prst="rect">
            <a:avLst/>
          </a:prstGeom>
          <a:noFill/>
        </p:spPr>
        <p:txBody>
          <a:bodyPr wrap="square" lIns="36576" rIns="36576" anchor="t">
            <a:spAutoFit/>
          </a:bodyPr>
          <a:lstStyle/>
          <a:p>
            <a:pPr algn="l"/>
            <a:r>
              <a:rPr sz="1400" b="0" i="0">
                <a:solidFill>
                  <a:srgbClr val="2B2D33"/>
                </a:solidFill>
                <a:latin typeface="Calibri"/>
              </a:rPr>
              <a:t>Agile sprints, clear roles, 207 commits</a:t>
            </a:r>
          </a:p>
        </p:txBody>
      </p:sp>
      <p:sp>
        <p:nvSpPr>
          <p:cNvPr id="18" name="TextBox 17"/>
          <p:cNvSpPr txBox="1"/>
          <p:nvPr/>
        </p:nvSpPr>
        <p:spPr>
          <a:xfrm>
            <a:off x="557784" y="5486400"/>
            <a:ext cx="7955279" cy="365760"/>
          </a:xfrm>
          <a:prstGeom prst="rect">
            <a:avLst/>
          </a:prstGeom>
          <a:noFill/>
        </p:spPr>
        <p:txBody>
          <a:bodyPr wrap="square" lIns="36576" rIns="36576" anchor="t">
            <a:spAutoFit/>
          </a:bodyPr>
          <a:lstStyle/>
          <a:p>
            <a:pPr algn="ctr"/>
            <a:r>
              <a:rPr sz="1500" b="1" i="0">
                <a:solidFill>
                  <a:srgbClr val="211B42"/>
                </a:solidFill>
                <a:latin typeface="Calibri"/>
              </a:rPr>
              <a:t>JobTrack is ready for continued development — and so is our team.</a:t>
            </a:r>
          </a:p>
        </p:txBody>
      </p:sp>
      <p:sp>
        <p:nvSpPr>
          <p:cNvPr id="19" name="TextBox 18"/>
          <p:cNvSpPr txBox="1"/>
          <p:nvPr/>
        </p:nvSpPr>
        <p:spPr>
          <a:xfrm>
            <a:off x="557784" y="5870448"/>
            <a:ext cx="7955279" cy="411480"/>
          </a:xfrm>
          <a:prstGeom prst="rect">
            <a:avLst/>
          </a:prstGeom>
          <a:noFill/>
        </p:spPr>
        <p:txBody>
          <a:bodyPr wrap="square" lIns="36576" rIns="36576" anchor="t">
            <a:spAutoFit/>
          </a:bodyPr>
          <a:lstStyle/>
          <a:p>
            <a:pPr algn="ctr"/>
            <a:r>
              <a:rPr sz="1800" b="1" i="0">
                <a:solidFill>
                  <a:srgbClr val="197566"/>
                </a:solidFill>
                <a:latin typeface="Calibri"/>
              </a:rPr>
              <a:t>Thank you — questions?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813816"/>
            <a:ext cx="8092440" cy="640080"/>
          </a:xfrm>
        </p:spPr>
        <p:txBody>
          <a:bodyPr/>
          <a:lstStyle/>
          <a:p>
            <a:pPr algn="ctr"/>
            <a:r>
              <a:rPr sz="2800">
                <a:solidFill>
                  <a:srgbClr val="2B2D33"/>
                </a:solidFill>
                <a:latin typeface="Calibri"/>
              </a:rPr>
              <a:t>Live Demo</a:t>
            </a:r>
          </a:p>
        </p:txBody>
      </p:sp>
      <p:sp>
        <p:nvSpPr>
          <p:cNvPr id="3" name="Role tag"/>
          <p:cNvSpPr txBox="1"/>
          <p:nvPr/>
        </p:nvSpPr>
        <p:spPr>
          <a:xfrm>
            <a:off x="512064" y="384048"/>
            <a:ext cx="6949440" cy="320040"/>
          </a:xfrm>
          <a:prstGeom prst="rect">
            <a:avLst/>
          </a:prstGeom>
          <a:noFill/>
        </p:spPr>
        <p:txBody>
          <a:bodyPr wrap="square" lIns="36576" tIns="18288" rIns="36576" bIns="18288" anchor="t">
            <a:spAutoFit/>
          </a:bodyPr>
          <a:lstStyle/>
          <a:p>
            <a:pPr algn="l"/>
            <a:r>
              <a:rPr sz="1100" b="1" i="0">
                <a:solidFill>
                  <a:srgbClr val="197566"/>
                </a:solidFill>
                <a:latin typeface="Calibri"/>
              </a:rPr>
              <a:t>DEMO · TRINH HIEU TRAN</a:t>
            </a:r>
          </a:p>
        </p:txBody>
      </p:sp>
      <p:sp>
        <p:nvSpPr>
          <p:cNvPr id="4" name="Slide Number Placeholder 3">
            <a:extLst>
              <a:ext uri="{FF2B5EF4-FFF2-40B4-BE49-F238E27FC236}">
                <a16:creationId xmlns:a16="http://schemas.microsoft.com/office/drawing/2014/main" id="{3A33BBBA-5B2E-87C2-2F38-B5349597D1DF}"/>
              </a:ext>
            </a:extLst>
          </p:cNvPr>
          <p:cNvSpPr>
            <a:spLocks noGrp="1"/>
          </p:cNvSpPr>
          <p:nvPr>
            <p:ph type="sldNum" idx="12"/>
          </p:nvPr>
        </p:nvSpPr>
        <p:spPr>
          <a:xfrm>
            <a:off x="8248650" y="6457950"/>
            <a:ext cx="342900" cy="228600"/>
          </a:xfrm>
        </p:spPr>
        <p:txBody>
          <a:bodyPr lIns="0" tIns="0" rIns="0" bIns="0">
            <a:noAutofit/>
          </a:bodyPr>
          <a:lstStyle/>
          <a:p>
            <a:pPr algn="r">
              <a:defRPr sz="1200">
                <a:solidFill>
                  <a:srgbClr val="888888"/>
                </a:solidFill>
                <a:latin typeface="Calibri"/>
                <a:ea typeface="Calibri"/>
                <a:cs typeface="Calibri"/>
              </a:defRPr>
            </a:pPr>
            <a:fld id="{E2598689-54C9-18A7-3A19-ED76AA08988F}" type="slidenum">
              <a:rPr sz="1200">
                <a:solidFill>
                  <a:srgbClr val="888888"/>
                </a:solidFill>
                <a:latin typeface="Calibri"/>
                <a:ea typeface="Calibri"/>
                <a:cs typeface="Calibri"/>
              </a:rPr>
              <a:t>19</a:t>
            </a:fld>
            <a:endParaRPr/>
          </a:p>
        </p:txBody>
      </p:sp>
      <p:sp>
        <p:nvSpPr>
          <p:cNvPr id="5" name="Footer Placeholder 4">
            <a:extLst>
              <a:ext uri="{FF2B5EF4-FFF2-40B4-BE49-F238E27FC236}">
                <a16:creationId xmlns:a16="http://schemas.microsoft.com/office/drawing/2014/main" id="{1638663E-1BD3-96A6-7654-C5F8B5603654}"/>
              </a:ext>
            </a:extLst>
          </p:cNvPr>
          <p:cNvSpPr>
            <a:spLocks noGrp="1"/>
          </p:cNvSpPr>
          <p:nvPr>
            <p:ph type="ftr" idx="11"/>
          </p:nvPr>
        </p:nvSpPr>
        <p:spPr>
          <a:xfrm>
            <a:off x="3095625" y="6457950"/>
            <a:ext cx="2905125" cy="228600"/>
          </a:xfrm>
        </p:spPr>
        <p:txBody>
          <a:bodyPr lIns="0" tIns="0" rIns="0" bIns="0">
            <a:noAutofit/>
          </a:bodyPr>
          <a:lstStyle/>
          <a:p>
            <a:pPr algn="ctr">
              <a:defRPr sz="1200">
                <a:solidFill>
                  <a:srgbClr val="888888"/>
                </a:solidFill>
                <a:latin typeface="Calibri"/>
                <a:ea typeface="Calibri"/>
                <a:cs typeface="Calibri"/>
              </a:defRPr>
            </a:pPr>
            <a:r>
              <a:rPr sz="1200">
                <a:solidFill>
                  <a:srgbClr val="888888"/>
                </a:solidFill>
                <a:latin typeface="Calibri"/>
                <a:ea typeface="Calibri"/>
                <a:cs typeface="Calibri"/>
              </a:rPr>
              <a:t>PRT681 Software Practice · Group 3</a:t>
            </a:r>
          </a:p>
        </p:txBody>
      </p:sp>
      <p:sp>
        <p:nvSpPr>
          <p:cNvPr id="6" name="TextBox 5"/>
          <p:cNvSpPr txBox="1"/>
          <p:nvPr/>
        </p:nvSpPr>
        <p:spPr>
          <a:xfrm>
            <a:off x="548640" y="1691640"/>
            <a:ext cx="3840480" cy="365760"/>
          </a:xfrm>
          <a:prstGeom prst="rect">
            <a:avLst/>
          </a:prstGeom>
          <a:noFill/>
        </p:spPr>
        <p:txBody>
          <a:bodyPr wrap="square" lIns="36576" tIns="18288" rIns="36576" bIns="18288" anchor="t">
            <a:spAutoFit/>
          </a:bodyPr>
          <a:lstStyle/>
          <a:p>
            <a:pPr algn="l"/>
            <a:r>
              <a:rPr sz="1800" b="1" i="0">
                <a:solidFill>
                  <a:srgbClr val="211B42"/>
                </a:solidFill>
                <a:latin typeface="Calibri"/>
              </a:rPr>
              <a:t>One application, start to finish</a:t>
            </a:r>
          </a:p>
        </p:txBody>
      </p:sp>
      <p:sp>
        <p:nvSpPr>
          <p:cNvPr id="7" name="TextBox 6"/>
          <p:cNvSpPr txBox="1"/>
          <p:nvPr/>
        </p:nvSpPr>
        <p:spPr>
          <a:xfrm>
            <a:off x="548640" y="2194560"/>
            <a:ext cx="411480" cy="457200"/>
          </a:xfrm>
          <a:prstGeom prst="rect">
            <a:avLst/>
          </a:prstGeom>
          <a:noFill/>
        </p:spPr>
        <p:txBody>
          <a:bodyPr wrap="square" lIns="36576" tIns="18288" rIns="36576" bIns="18288" anchor="ctr">
            <a:spAutoFit/>
          </a:bodyPr>
          <a:lstStyle/>
          <a:p>
            <a:pPr algn="l"/>
            <a:r>
              <a:rPr sz="2000" b="1" i="0">
                <a:solidFill>
                  <a:srgbClr val="197566"/>
                </a:solidFill>
                <a:latin typeface="Calibri"/>
              </a:rPr>
              <a:t>1</a:t>
            </a:r>
          </a:p>
        </p:txBody>
      </p:sp>
      <p:sp>
        <p:nvSpPr>
          <p:cNvPr id="8" name="TextBox 7"/>
          <p:cNvSpPr txBox="1"/>
          <p:nvPr/>
        </p:nvSpPr>
        <p:spPr>
          <a:xfrm>
            <a:off x="960120" y="2194560"/>
            <a:ext cx="3383280" cy="457200"/>
          </a:xfrm>
          <a:prstGeom prst="rect">
            <a:avLst/>
          </a:prstGeom>
          <a:noFill/>
        </p:spPr>
        <p:txBody>
          <a:bodyPr wrap="square" lIns="36576" tIns="18288" rIns="36576" bIns="18288" anchor="ctr">
            <a:spAutoFit/>
          </a:bodyPr>
          <a:lstStyle/>
          <a:p>
            <a:pPr algn="l"/>
            <a:r>
              <a:rPr sz="1450" b="0" i="0">
                <a:solidFill>
                  <a:srgbClr val="2B2D33"/>
                </a:solidFill>
                <a:latin typeface="Calibri"/>
              </a:rPr>
              <a:t>Register and sign in</a:t>
            </a:r>
          </a:p>
        </p:txBody>
      </p:sp>
      <p:sp>
        <p:nvSpPr>
          <p:cNvPr id="9" name="TextBox 8"/>
          <p:cNvSpPr txBox="1"/>
          <p:nvPr/>
        </p:nvSpPr>
        <p:spPr>
          <a:xfrm>
            <a:off x="548640" y="2798064"/>
            <a:ext cx="411480" cy="457200"/>
          </a:xfrm>
          <a:prstGeom prst="rect">
            <a:avLst/>
          </a:prstGeom>
          <a:noFill/>
        </p:spPr>
        <p:txBody>
          <a:bodyPr wrap="square" lIns="36576" tIns="18288" rIns="36576" bIns="18288" anchor="ctr">
            <a:spAutoFit/>
          </a:bodyPr>
          <a:lstStyle/>
          <a:p>
            <a:pPr algn="l"/>
            <a:r>
              <a:rPr sz="2000" b="1" i="0">
                <a:solidFill>
                  <a:srgbClr val="197566"/>
                </a:solidFill>
                <a:latin typeface="Calibri"/>
              </a:rPr>
              <a:t>2</a:t>
            </a:r>
          </a:p>
        </p:txBody>
      </p:sp>
      <p:sp>
        <p:nvSpPr>
          <p:cNvPr id="10" name="TextBox 9"/>
          <p:cNvSpPr txBox="1"/>
          <p:nvPr/>
        </p:nvSpPr>
        <p:spPr>
          <a:xfrm>
            <a:off x="960120" y="2798064"/>
            <a:ext cx="3383280" cy="457200"/>
          </a:xfrm>
          <a:prstGeom prst="rect">
            <a:avLst/>
          </a:prstGeom>
          <a:noFill/>
        </p:spPr>
        <p:txBody>
          <a:bodyPr wrap="square" lIns="36576" tIns="18288" rIns="36576" bIns="18288" anchor="ctr">
            <a:spAutoFit/>
          </a:bodyPr>
          <a:lstStyle/>
          <a:p>
            <a:pPr algn="l"/>
            <a:r>
              <a:rPr sz="1450" b="0" i="0">
                <a:solidFill>
                  <a:srgbClr val="2B2D33"/>
                </a:solidFill>
                <a:latin typeface="Calibri"/>
              </a:rPr>
              <a:t>Add an application</a:t>
            </a:r>
          </a:p>
        </p:txBody>
      </p:sp>
      <p:sp>
        <p:nvSpPr>
          <p:cNvPr id="11" name="TextBox 10"/>
          <p:cNvSpPr txBox="1"/>
          <p:nvPr/>
        </p:nvSpPr>
        <p:spPr>
          <a:xfrm>
            <a:off x="548640" y="3401568"/>
            <a:ext cx="411480" cy="457200"/>
          </a:xfrm>
          <a:prstGeom prst="rect">
            <a:avLst/>
          </a:prstGeom>
          <a:noFill/>
        </p:spPr>
        <p:txBody>
          <a:bodyPr wrap="square" lIns="36576" tIns="18288" rIns="36576" bIns="18288" anchor="ctr">
            <a:spAutoFit/>
          </a:bodyPr>
          <a:lstStyle/>
          <a:p>
            <a:pPr algn="l"/>
            <a:r>
              <a:rPr sz="2000" b="1" i="0">
                <a:solidFill>
                  <a:srgbClr val="197566"/>
                </a:solidFill>
                <a:latin typeface="Calibri"/>
              </a:rPr>
              <a:t>3</a:t>
            </a:r>
          </a:p>
        </p:txBody>
      </p:sp>
      <p:sp>
        <p:nvSpPr>
          <p:cNvPr id="12" name="TextBox 11"/>
          <p:cNvSpPr txBox="1"/>
          <p:nvPr/>
        </p:nvSpPr>
        <p:spPr>
          <a:xfrm>
            <a:off x="960120" y="3401568"/>
            <a:ext cx="3383280" cy="457200"/>
          </a:xfrm>
          <a:prstGeom prst="rect">
            <a:avLst/>
          </a:prstGeom>
          <a:noFill/>
        </p:spPr>
        <p:txBody>
          <a:bodyPr wrap="square" lIns="36576" tIns="18288" rIns="36576" bIns="18288" anchor="ctr">
            <a:spAutoFit/>
          </a:bodyPr>
          <a:lstStyle/>
          <a:p>
            <a:pPr algn="l"/>
            <a:r>
              <a:rPr sz="1450" b="0" i="0">
                <a:solidFill>
                  <a:srgbClr val="2B2D33"/>
                </a:solidFill>
                <a:latin typeface="Calibri"/>
              </a:rPr>
              <a:t>Move it to Interview; add an interview round</a:t>
            </a:r>
          </a:p>
        </p:txBody>
      </p:sp>
      <p:sp>
        <p:nvSpPr>
          <p:cNvPr id="13" name="TextBox 12"/>
          <p:cNvSpPr txBox="1"/>
          <p:nvPr/>
        </p:nvSpPr>
        <p:spPr>
          <a:xfrm>
            <a:off x="548640" y="4005072"/>
            <a:ext cx="411480" cy="457200"/>
          </a:xfrm>
          <a:prstGeom prst="rect">
            <a:avLst/>
          </a:prstGeom>
          <a:noFill/>
        </p:spPr>
        <p:txBody>
          <a:bodyPr wrap="square" lIns="36576" tIns="18288" rIns="36576" bIns="18288" anchor="ctr">
            <a:spAutoFit/>
          </a:bodyPr>
          <a:lstStyle/>
          <a:p>
            <a:pPr algn="l"/>
            <a:r>
              <a:rPr sz="2000" b="1" i="0">
                <a:solidFill>
                  <a:srgbClr val="197566"/>
                </a:solidFill>
                <a:latin typeface="Calibri"/>
              </a:rPr>
              <a:t>4</a:t>
            </a:r>
          </a:p>
        </p:txBody>
      </p:sp>
      <p:sp>
        <p:nvSpPr>
          <p:cNvPr id="14" name="TextBox 13"/>
          <p:cNvSpPr txBox="1"/>
          <p:nvPr/>
        </p:nvSpPr>
        <p:spPr>
          <a:xfrm>
            <a:off x="960120" y="4005072"/>
            <a:ext cx="3383280" cy="457200"/>
          </a:xfrm>
          <a:prstGeom prst="rect">
            <a:avLst/>
          </a:prstGeom>
          <a:noFill/>
        </p:spPr>
        <p:txBody>
          <a:bodyPr wrap="square" lIns="36576" tIns="18288" rIns="36576" bIns="18288" anchor="ctr">
            <a:spAutoFit/>
          </a:bodyPr>
          <a:lstStyle/>
          <a:p>
            <a:pPr algn="l"/>
            <a:r>
              <a:rPr sz="1450" b="0" i="0">
                <a:solidFill>
                  <a:srgbClr val="2B2D33"/>
                </a:solidFill>
                <a:latin typeface="Calibri"/>
              </a:rPr>
              <a:t>Add a follow-up</a:t>
            </a:r>
          </a:p>
        </p:txBody>
      </p:sp>
      <p:sp>
        <p:nvSpPr>
          <p:cNvPr id="15" name="TextBox 14"/>
          <p:cNvSpPr txBox="1"/>
          <p:nvPr/>
        </p:nvSpPr>
        <p:spPr>
          <a:xfrm>
            <a:off x="548640" y="4608576"/>
            <a:ext cx="411480" cy="457200"/>
          </a:xfrm>
          <a:prstGeom prst="rect">
            <a:avLst/>
          </a:prstGeom>
          <a:noFill/>
        </p:spPr>
        <p:txBody>
          <a:bodyPr wrap="square" lIns="36576" tIns="18288" rIns="36576" bIns="18288" anchor="ctr">
            <a:spAutoFit/>
          </a:bodyPr>
          <a:lstStyle/>
          <a:p>
            <a:pPr algn="l"/>
            <a:r>
              <a:rPr sz="2000" b="1" i="0">
                <a:solidFill>
                  <a:srgbClr val="197566"/>
                </a:solidFill>
                <a:latin typeface="Calibri"/>
              </a:rPr>
              <a:t>5</a:t>
            </a:r>
          </a:p>
        </p:txBody>
      </p:sp>
      <p:sp>
        <p:nvSpPr>
          <p:cNvPr id="16" name="TextBox 15"/>
          <p:cNvSpPr txBox="1"/>
          <p:nvPr/>
        </p:nvSpPr>
        <p:spPr>
          <a:xfrm>
            <a:off x="960120" y="4608576"/>
            <a:ext cx="3383280" cy="457200"/>
          </a:xfrm>
          <a:prstGeom prst="rect">
            <a:avLst/>
          </a:prstGeom>
          <a:noFill/>
        </p:spPr>
        <p:txBody>
          <a:bodyPr wrap="square" lIns="36576" tIns="18288" rIns="36576" bIns="18288" anchor="ctr">
            <a:spAutoFit/>
          </a:bodyPr>
          <a:lstStyle/>
          <a:p>
            <a:pPr algn="l"/>
            <a:r>
              <a:rPr sz="1450" b="0" i="0">
                <a:solidFill>
                  <a:srgbClr val="2B2D33"/>
                </a:solidFill>
                <a:latin typeface="Calibri"/>
              </a:rPr>
              <a:t>Check the dashboard updates</a:t>
            </a:r>
          </a:p>
        </p:txBody>
      </p:sp>
      <p:sp>
        <p:nvSpPr>
          <p:cNvPr id="17" name="TextBox 16"/>
          <p:cNvSpPr txBox="1"/>
          <p:nvPr/>
        </p:nvSpPr>
        <p:spPr>
          <a:xfrm>
            <a:off x="548640" y="5212080"/>
            <a:ext cx="411480" cy="457200"/>
          </a:xfrm>
          <a:prstGeom prst="rect">
            <a:avLst/>
          </a:prstGeom>
          <a:noFill/>
        </p:spPr>
        <p:txBody>
          <a:bodyPr wrap="square" lIns="36576" tIns="18288" rIns="36576" bIns="18288" anchor="ctr">
            <a:spAutoFit/>
          </a:bodyPr>
          <a:lstStyle/>
          <a:p>
            <a:pPr algn="l"/>
            <a:r>
              <a:rPr sz="2000" b="1" i="0">
                <a:solidFill>
                  <a:srgbClr val="197566"/>
                </a:solidFill>
                <a:latin typeface="Calibri"/>
              </a:rPr>
              <a:t>6</a:t>
            </a:r>
          </a:p>
        </p:txBody>
      </p:sp>
      <p:sp>
        <p:nvSpPr>
          <p:cNvPr id="18" name="TextBox 17"/>
          <p:cNvSpPr txBox="1"/>
          <p:nvPr/>
        </p:nvSpPr>
        <p:spPr>
          <a:xfrm>
            <a:off x="960120" y="5212080"/>
            <a:ext cx="3383280" cy="457200"/>
          </a:xfrm>
          <a:prstGeom prst="rect">
            <a:avLst/>
          </a:prstGeom>
          <a:noFill/>
        </p:spPr>
        <p:txBody>
          <a:bodyPr wrap="square" lIns="36576" tIns="18288" rIns="36576" bIns="18288" anchor="ctr">
            <a:spAutoFit/>
          </a:bodyPr>
          <a:lstStyle/>
          <a:p>
            <a:pPr algn="l"/>
            <a:r>
              <a:rPr sz="1450" b="0" i="0">
                <a:solidFill>
                  <a:srgbClr val="2B2D33"/>
                </a:solidFill>
                <a:latin typeface="Calibri"/>
              </a:rPr>
              <a:t>Record an offer, archive, restore</a:t>
            </a:r>
          </a:p>
        </p:txBody>
      </p:sp>
      <p:cxnSp>
        <p:nvCxnSpPr>
          <p:cNvPr id="19" name="Rule"/>
          <p:cNvCxnSpPr/>
          <p:nvPr/>
        </p:nvCxnSpPr>
        <p:spPr>
          <a:xfrm>
            <a:off x="4572000" y="1755648"/>
            <a:ext cx="0" cy="4206240"/>
          </a:xfrm>
          <a:prstGeom prst="line">
            <a:avLst/>
          </a:prstGeom>
          <a:ln w="15875">
            <a:solidFill>
              <a:srgbClr val="D9DBE1"/>
            </a:solidFill>
          </a:ln>
        </p:spPr>
        <p:style>
          <a:lnRef idx="2">
            <a:schemeClr val="accent1"/>
          </a:lnRef>
          <a:fillRef idx="0">
            <a:schemeClr val="accent1"/>
          </a:fillRef>
          <a:effectRef idx="1">
            <a:schemeClr val="accent1"/>
          </a:effectRef>
          <a:fontRef idx="minor">
            <a:schemeClr val="tx1"/>
          </a:fontRef>
        </p:style>
      </p:cxnSp>
      <p:pic>
        <p:nvPicPr>
          <p:cNvPr id="20" name="Picture 19" descr="03-list.jpg"/>
          <p:cNvPicPr>
            <a:picLocks noChangeAspect="1"/>
          </p:cNvPicPr>
          <p:nvPr/>
        </p:nvPicPr>
        <p:blipFill>
          <a:blip r:embed="rId3"/>
          <a:stretch>
            <a:fillRect/>
          </a:stretch>
        </p:blipFill>
        <p:spPr>
          <a:xfrm>
            <a:off x="4800600" y="1828800"/>
            <a:ext cx="3703320" cy="2331519"/>
          </a:xfrm>
          <a:prstGeom prst="rect">
            <a:avLst/>
          </a:prstGeom>
          <a:ln w="9525">
            <a:solidFill>
              <a:srgbClr val="D9DBE1"/>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FF25558A6F2E94B9D84476B9DADC2AB" ma:contentTypeVersion="11" ma:contentTypeDescription="Create a new document." ma:contentTypeScope="" ma:versionID="7401b269871349f3c267a0005a73f15b">
  <xsd:schema xmlns:xsd="http://www.w3.org/2001/XMLSchema" xmlns:xs="http://www.w3.org/2001/XMLSchema" xmlns:p="http://schemas.microsoft.com/office/2006/metadata/properties" xmlns:ns2="8d74efda-c1d1-4d4f-8770-ff07e077231c" xmlns:ns3="b79cfa9d-f477-462b-92ee-73a6e8ad6fbf" targetNamespace="http://schemas.microsoft.com/office/2006/metadata/properties" ma:root="true" ma:fieldsID="f7a8c94085015e814c31d7573e225f30" ns2:_="" ns3:_="">
    <xsd:import namespace="8d74efda-c1d1-4d4f-8770-ff07e077231c"/>
    <xsd:import namespace="b79cfa9d-f477-462b-92ee-73a6e8ad6fb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74efda-c1d1-4d4f-8770-ff07e07723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85a206b-fc84-4f46-8343-fed2d1d570c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9cfa9d-f477-462b-92ee-73a6e8ad6fb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3f3d6f5-fe4a-45ff-bfa8-1f901502e118}" ma:internalName="TaxCatchAll" ma:showField="CatchAllData" ma:web="b79cfa9d-f477-462b-92ee-73a6e8ad6f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d74efda-c1d1-4d4f-8770-ff07e077231c">
      <Terms xmlns="http://schemas.microsoft.com/office/infopath/2007/PartnerControls"/>
    </lcf76f155ced4ddcb4097134ff3c332f>
    <TaxCatchAll xmlns="b79cfa9d-f477-462b-92ee-73a6e8ad6fb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C802DB-EADF-4B11-9AA3-9F78D759E8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74efda-c1d1-4d4f-8770-ff07e077231c"/>
    <ds:schemaRef ds:uri="b79cfa9d-f477-462b-92ee-73a6e8ad6f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2EF9A9-9EAF-4A12-80FD-55A650D2E943}">
  <ds:schemaRefs>
    <ds:schemaRef ds:uri="http://schemas.microsoft.com/office/2006/metadata/properties"/>
    <ds:schemaRef ds:uri="http://schemas.microsoft.com/office/infopath/2007/PartnerControls"/>
    <ds:schemaRef ds:uri="8d74efda-c1d1-4d4f-8770-ff07e077231c"/>
    <ds:schemaRef ds:uri="b79cfa9d-f477-462b-92ee-73a6e8ad6fbf"/>
  </ds:schemaRefs>
</ds:datastoreItem>
</file>

<file path=customXml/itemProps3.xml><?xml version="1.0" encoding="utf-8"?>
<ds:datastoreItem xmlns:ds="http://schemas.openxmlformats.org/officeDocument/2006/customXml" ds:itemID="{C65EC0B4-3655-466A-B852-A339B6BECC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133</TotalTime>
  <Words>1870</Words>
  <Application>Microsoft Macintosh PowerPoint</Application>
  <DocSecurity>0</DocSecurity>
  <PresentationFormat>On-screen Show (4:3)</PresentationFormat>
  <Paragraphs>403</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JobTrack</vt:lpstr>
      <vt:lpstr>Acknowledgements and Our Journey</vt:lpstr>
      <vt:lpstr>What JobTrack Is and How It Works</vt:lpstr>
      <vt:lpstr>Team and Roles</vt:lpstr>
      <vt:lpstr>Why Choose JobTrack?</vt:lpstr>
      <vt:lpstr>Requirements and Status Workflow</vt:lpstr>
      <vt:lpstr>System Architecture</vt:lpstr>
      <vt:lpstr>Technology Stack and Security</vt:lpstr>
      <vt:lpstr>Database Design</vt:lpstr>
      <vt:lpstr>Maintainability, Improvements and Future</vt:lpstr>
      <vt:lpstr>Development Process</vt:lpstr>
      <vt:lpstr>Sample Dataset and Power BI Model</vt:lpstr>
      <vt:lpstr>Status Transition and Traceability Matrices</vt:lpstr>
      <vt:lpstr>Automated Testing and Defects Found</vt:lpstr>
      <vt:lpstr>PowerPoint Presentation</vt:lpstr>
      <vt:lpstr>PowerPoint Presentation</vt:lpstr>
      <vt:lpstr>Team Collaboration and the Mythical Man-Month</vt:lpstr>
      <vt:lpstr>Summary</vt:lpstr>
      <vt:lpstr>Live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Trinh Hieu Tran</cp:lastModifiedBy>
  <cp:revision>26</cp:revision>
  <dcterms:created xsi:type="dcterms:W3CDTF">2026-09-25T11:33:40Z</dcterms:created>
  <dcterms:modified xsi:type="dcterms:W3CDTF">2026-10-13T05:21:47Z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0x0101007FF25558A6F2E94B9D84476B9DADC2AB</vt:lpwstr>
  </property>
</Properties>
</file>