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7" r:id="rId4"/>
    <p:sldId id="276" r:id="rId5"/>
    <p:sldId id="259" r:id="rId6"/>
    <p:sldId id="260" r:id="rId7"/>
    <p:sldId id="261" r:id="rId8"/>
    <p:sldId id="263" r:id="rId9"/>
    <p:sldId id="277" r:id="rId10"/>
    <p:sldId id="278" r:id="rId11"/>
    <p:sldId id="265" r:id="rId12"/>
    <p:sldId id="266" r:id="rId13"/>
    <p:sldId id="267" r:id="rId14"/>
    <p:sldId id="271" r:id="rId15"/>
    <p:sldId id="273" r:id="rId16"/>
    <p:sldId id="279" r:id="rId17"/>
    <p:sldId id="280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556" autoAdjust="0"/>
  </p:normalViewPr>
  <p:slideViewPr>
    <p:cSldViewPr snapToGrid="0" snapToObjects="1">
      <p:cViewPr varScale="1">
        <p:scale>
          <a:sx n="67" d="100"/>
          <a:sy n="67" d="100"/>
        </p:scale>
        <p:origin x="1668" y="3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>
                <a:solidFill>
                  <a:srgbClr val="211B42"/>
                </a:solidFill>
              </a:rPr>
              <a:t>Conversion by platform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Reached interview (%)</c:v>
                </c:pt>
              </c:strCache>
            </c:strRef>
          </c:tx>
          <c:spPr>
            <a:solidFill>
              <a:srgbClr val="19756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B2D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Referral</c:v>
                </c:pt>
                <c:pt idx="1">
                  <c:v>Indeed</c:v>
                </c:pt>
                <c:pt idx="2">
                  <c:v>LinkedIn</c:v>
                </c:pt>
                <c:pt idx="3">
                  <c:v>SEEK</c:v>
                </c:pt>
                <c:pt idx="4">
                  <c:v>Company Website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59</c:v>
                </c:pt>
                <c:pt idx="2">
                  <c:v>56</c:v>
                </c:pt>
                <c:pt idx="3">
                  <c:v>50</c:v>
                </c:pt>
                <c:pt idx="4">
                  <c:v>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3AF-4955-96D0-98532955CB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Reached offer (%)</c:v>
                </c:pt>
              </c:strCache>
            </c:strRef>
          </c:tx>
          <c:spPr>
            <a:solidFill>
              <a:srgbClr val="211B4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B2D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Referral</c:v>
                </c:pt>
                <c:pt idx="1">
                  <c:v>Indeed</c:v>
                </c:pt>
                <c:pt idx="2">
                  <c:v>LinkedIn</c:v>
                </c:pt>
                <c:pt idx="3">
                  <c:v>SEEK</c:v>
                </c:pt>
                <c:pt idx="4">
                  <c:v>Company Website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</c:v>
                </c:pt>
                <c:pt idx="1">
                  <c:v>12</c:v>
                </c:pt>
                <c:pt idx="2">
                  <c:v>12</c:v>
                </c:pt>
                <c:pt idx="3">
                  <c:v>0</c:v>
                </c:pt>
                <c:pt idx="4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3AF-4955-96D0-98532955CB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DB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2B2D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40E4A-438F-20EB-EADF-45A66996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28F76-5DB7-389A-9B06-680E4C062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6B12D-B2A0-EEC8-F9A7-EBDB93EA6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3CA8C-8112-23EA-34C3-A6E1FFFDD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324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34CF-2E8B-E9B0-2267-D93A4333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A289C-2077-11CF-F0D3-8E87E317F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B2287-6BEF-1FF5-7907-07C08BA88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45CB-89FC-C3D1-6A43-C7EA40598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697193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714D-91DB-42DF-8626-9D68014A1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369C4-E61B-4BAA-9A53-7E89719EF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04F3C-3FD9-4D54-8256-66C691A080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9CC865-6D52-E54D-B382-345C402D5468}" type="datetime1">
              <a:t>10/13/2026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77F5-5E74-4CBA-AA7F-C5E6AC53DE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8E0D-C787-468C-81CB-E880B40AD1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7A04-837C-4D46-BB92-EA700745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26722"/>
            <a:ext cx="8229600" cy="88338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D9587-3C63-43A7-8CE6-908A1C6D7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3866"/>
            <a:ext cx="8229600" cy="448229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89D5-9707-4C11-A3B1-6E75E3415E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B0D8D5-D149-2545-BAF4-79F9494FE907}" type="datetime1">
              <a:t>10/13/2026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3E4C3-6244-4E16-B48A-00CB51E72E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8CD9-1815-473A-B978-C4425AE9C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C709-54E0-4C74-9B9E-736E65B9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9E8EE-ADA9-4195-9D2D-00511BCAC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8B79-0553-4B28-9474-ED792B35F1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9B5313-C981-2B4F-80BE-C1F095AA66CE}" type="datetime1">
              <a:t>10/13/2026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730A1-755F-41BD-A5E4-3AE00992C9D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15601-700A-4114-9D9C-C10C7E81B6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A609-7BB3-452B-9ED2-756BC48D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4804"/>
            <a:ext cx="8229600" cy="8628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5ACB0-9478-4CDA-B1CC-4C7E9187D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32B55-E84D-499C-A6C2-8CEBAE8DE5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B3EE8-1D19-4354-B733-592D79F1E6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0B0A21-EEF9-764A-BC86-5BA0DB794A69}" type="datetime1">
              <a:t>10/13/2026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4930E-64E1-477D-9644-5859DE1B8F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54484-88F8-4298-98A5-4DF4546393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724A-B1FB-40B9-AA18-1987E51D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5900"/>
            <a:ext cx="8229600" cy="821737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33A82-320E-4467-A7CD-408066D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A1125-6400-4052-89C2-29C290C4DAA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18E97-440E-483A-8EBE-74D37C590C6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910BC-FAC3-4A52-A0A9-C33CB9D3CD6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AE398-D48F-449E-B4C8-D0D256E871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7AED93F-8787-E54F-AA7A-D9E03DD9A0C0}" type="datetime1">
              <a:t>10/13/2026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D6CE7-B8C7-427E-970B-1EE4BBCB58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2A567-83E9-425B-8F3D-58B304124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0EAA-C309-40EE-B8FF-E578AFB9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6174"/>
            <a:ext cx="8229600" cy="8114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27F25-805C-47A6-9A71-A5285FDF56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6E1100-2E55-3E49-927D-EA4DC8195044}" type="datetime1">
              <a:t>10/13/2026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2FE2C-A6EA-4C4F-8991-6B02681DAF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7340D-BE08-4FC5-81E4-8DF1F51A5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96FEA-2FAF-4020-80FF-17197E9657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D69CDE-3657-1D4E-991F-B935E24DC12F}" type="datetime1">
              <a:t>10/13/2026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DA9F1-0F3D-4A82-9EBC-648C2BEA37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A1245-D69D-4E01-BA01-BA824C2AC5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34AF-0649-405D-8319-CCBC06DA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0999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6816-01E6-4615-9316-B4D5D2AB9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65079"/>
            <a:ext cx="5111750" cy="5561084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29A06-619B-449A-AEF4-F8C8DC3F5E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818526"/>
            <a:ext cx="3008313" cy="43076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F5178-A082-459B-B868-D6DD0B747A5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8BEFA6-B94C-C942-9779-508607DA7916}" type="datetime1">
              <a:t>10/13/2026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2C294-4839-4079-B20E-B7CF6A8ADB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08DFA-01D9-41B9-8F0B-D4C433E2FA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01DD-6142-4142-8FF9-1CCCE81E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F2B69-5BCB-4383-9A95-C526B3D42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AF460-D8C7-4338-81C7-24B4CF33C5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79B03-9732-4439-A735-084D188CAD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CC0DA8-7E67-634D-BA8D-E6696C658906}" type="datetime1">
              <a:t>10/13/2026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60DB-769B-42EC-AAB1-B2F8870981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Fotter to add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4B93D-6518-460B-9DC3-8B7ED64F4C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70008-461F-42CB-9E14-41BA1024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DDFAA-01F5-42F3-8E4D-88106C084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B354-0A7C-4F19-B50E-5668CDE2DB8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AAD3C-B392-3449-8E47-923A29A46E2E}" type="datetime1">
              <a:t>10/13/2026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FB34-03B3-42ED-984B-B863D6AFA58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Fotter to add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20046-111B-4191-AE3C-EA81A0CD35F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675087" y="44451"/>
            <a:ext cx="1468914" cy="787756"/>
          </a:xfrm>
          <a:prstGeom prst="rect">
            <a:avLst/>
          </a:prstGeom>
        </p:spPr>
      </p:pic>
      <p:pic>
        <p:nvPicPr>
          <p:cNvPr id="15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3150" y="6236413"/>
            <a:ext cx="480850" cy="6215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82EE-1DDA-4063-8BCB-456253E98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1762125"/>
            <a:ext cx="7715250" cy="866775"/>
          </a:xfrm>
        </p:spPr>
        <p:txBody>
          <a:bodyPr lIns="0" tIns="0" rIns="0" bIns="0" anchor="ctr">
            <a:noAutofit/>
          </a:bodyPr>
          <a:lstStyle/>
          <a:p>
            <a:pPr algn="ctr">
              <a:defRPr sz="3675">
                <a:solidFill>
                  <a:srgbClr val="211B42"/>
                </a:solidFill>
                <a:latin typeface="Calibri"/>
                <a:ea typeface="Calibri"/>
                <a:cs typeface="Calibri"/>
              </a:defRPr>
            </a:pPr>
            <a:r>
              <a:rPr sz="3675">
                <a:solidFill>
                  <a:srgbClr val="211B42"/>
                </a:solidFill>
                <a:latin typeface="Calibri"/>
                <a:ea typeface="Calibri"/>
                <a:cs typeface="Calibri"/>
              </a:rPr>
              <a:t>JobTrack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8DB1A-EA3D-A8D6-F5AF-65E0902317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AD75FED6-38D0-DE9C-92C0-6E7FA635581C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DFA9C-55A3-0CA1-0910-54121EAA24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Unit">
            <a:extLst>
              <a:ext uri="{FF2B5EF4-FFF2-40B4-BE49-F238E27FC236}">
                <a16:creationId xmlns:a16="http://schemas.microsoft.com/office/drawing/2014/main" id="{85087C2A-EBDC-4732-BC5E-57BB1621FBEC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0">
                <a:solidFill>
                  <a:srgbClr val="2B2D33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B2D33"/>
                </a:solidFill>
                <a:latin typeface="Calibri"/>
                <a:ea typeface="Calibri"/>
                <a:cs typeface="Calibri"/>
              </a:rPr>
              <a:t>Job Application Tracking System — PRT681 Software Practice</a:t>
            </a:r>
          </a:p>
        </p:txBody>
      </p:sp>
      <p:sp>
        <p:nvSpPr>
          <p:cNvPr id="7" name="Campus">
            <a:extLst>
              <a:ext uri="{FF2B5EF4-FFF2-40B4-BE49-F238E27FC236}">
                <a16:creationId xmlns:a16="http://schemas.microsoft.com/office/drawing/2014/main" id="{B3081747-D1EE-49CD-B2DD-EBB51E066179}"/>
              </a:ext>
            </a:extLst>
          </p:cNvPr>
          <p:cNvSpPr>
            <a:spLocks noGrp="1"/>
          </p:cNvSpPr>
          <p:nvPr/>
        </p:nvSpPr>
        <p:spPr>
          <a:xfrm>
            <a:off x="952500" y="3489158"/>
            <a:ext cx="7239000" cy="53777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0">
                <a:solidFill>
                  <a:srgbClr val="626771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626771"/>
                </a:solidFill>
                <a:latin typeface="Calibri"/>
                <a:ea typeface="Calibri"/>
                <a:cs typeface="Calibri"/>
              </a:rPr>
              <a:t>Sydney campus</a:t>
            </a:r>
            <a:endParaRPr lang="en-US" sz="1725" b="0" dirty="0">
              <a:solidFill>
                <a:srgbClr val="62677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Divider">
            <a:extLst>
              <a:ext uri="{FF2B5EF4-FFF2-40B4-BE49-F238E27FC236}">
                <a16:creationId xmlns:a16="http://schemas.microsoft.com/office/drawing/2014/main" id="{2DDB8822-A123-4C32-B17F-78A4445205A6}"/>
              </a:ext>
            </a:extLst>
          </p:cNvPr>
          <p:cNvSpPr>
            <a:spLocks noGrp="1"/>
          </p:cNvSpPr>
          <p:nvPr/>
        </p:nvSpPr>
        <p:spPr>
          <a:xfrm>
            <a:off x="2971800" y="4105275"/>
            <a:ext cx="3200400" cy="19050"/>
          </a:xfrm>
          <a:prstGeom prst="rect">
            <a:avLst/>
          </a:prstGeom>
          <a:solidFill>
            <a:srgbClr val="D9DBE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embers">
            <a:extLst>
              <a:ext uri="{FF2B5EF4-FFF2-40B4-BE49-F238E27FC236}">
                <a16:creationId xmlns:a16="http://schemas.microsoft.com/office/drawing/2014/main" id="{6EAA8189-83CC-46A2-9839-08B1AE5082BA}"/>
              </a:ext>
            </a:extLst>
          </p:cNvPr>
          <p:cNvSpPr>
            <a:spLocks noGrp="1"/>
          </p:cNvSpPr>
          <p:nvPr/>
        </p:nvSpPr>
        <p:spPr>
          <a:xfrm>
            <a:off x="1714500" y="4545976"/>
            <a:ext cx="57150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0">
                <a:solidFill>
                  <a:srgbClr val="2B2D33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B2D33"/>
                </a:solidFill>
                <a:latin typeface="Calibri"/>
                <a:ea typeface="Calibri"/>
                <a:cs typeface="Calibri"/>
              </a:rPr>
              <a:t>Trinh Hieu Tran (S394100)</a:t>
            </a:r>
          </a:p>
          <a:p>
            <a:pPr algn="ctr">
              <a:defRPr sz="1725" b="0">
                <a:solidFill>
                  <a:srgbClr val="2B2D33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B2D33"/>
                </a:solidFill>
                <a:latin typeface="Calibri"/>
                <a:ea typeface="Calibri"/>
                <a:cs typeface="Calibri"/>
              </a:rPr>
              <a:t>Prince Kumar Sah (S388535)</a:t>
            </a:r>
          </a:p>
          <a:p>
            <a:pPr algn="ctr">
              <a:defRPr sz="1725" b="0">
                <a:solidFill>
                  <a:srgbClr val="2B2D33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2B2D33"/>
                </a:solidFill>
                <a:latin typeface="Calibri"/>
                <a:ea typeface="Calibri"/>
                <a:cs typeface="Calibri"/>
              </a:rPr>
              <a:t>Pooja Tiwari (S396163)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86057-D87F-6935-B698-1752575B2771}"/>
              </a:ext>
            </a:extLst>
          </p:cNvPr>
          <p:cNvSpPr txBox="1"/>
          <p:nvPr/>
        </p:nvSpPr>
        <p:spPr>
          <a:xfrm>
            <a:off x="5502442" y="3673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Campus">
            <a:extLst>
              <a:ext uri="{FF2B5EF4-FFF2-40B4-BE49-F238E27FC236}">
                <a16:creationId xmlns:a16="http://schemas.microsoft.com/office/drawing/2014/main" id="{3BE09F2F-F779-4366-3101-4615302F04B7}"/>
              </a:ext>
            </a:extLst>
          </p:cNvPr>
          <p:cNvSpPr>
            <a:spLocks noGrp="1"/>
          </p:cNvSpPr>
          <p:nvPr/>
        </p:nvSpPr>
        <p:spPr>
          <a:xfrm>
            <a:off x="2062162" y="4175415"/>
            <a:ext cx="4972050" cy="53777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0">
                <a:solidFill>
                  <a:srgbClr val="626771"/>
                </a:solidFill>
                <a:latin typeface="Calibri"/>
                <a:ea typeface="Calibri"/>
                <a:cs typeface="Calibri"/>
              </a:defRPr>
            </a:pPr>
            <a:r>
              <a:rPr lang="en-AU" sz="1725" dirty="0">
                <a:solidFill>
                  <a:srgbClr val="626771"/>
                </a:solidFill>
                <a:latin typeface="Calibri"/>
                <a:ea typeface="Calibri"/>
                <a:cs typeface="Calibri"/>
              </a:rPr>
              <a:t>Group 3</a:t>
            </a:r>
            <a:endParaRPr sz="1725" b="0" dirty="0">
              <a:solidFill>
                <a:srgbClr val="62677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Acknowledgements and Our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CONTEXT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37744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211B42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64208"/>
            <a:ext cx="548640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1" i="0">
                <a:solidFill>
                  <a:srgbClr val="197566"/>
                </a:solidFill>
                <a:latin typeface="Calibri"/>
              </a:rPr>
              <a:t>Ahmedi Azra</a:t>
            </a:r>
            <a:r>
              <a:rPr sz="1400" b="0" i="0">
                <a:solidFill>
                  <a:srgbClr val="2B2D33"/>
                </a:solidFill>
                <a:latin typeface="Calibri"/>
              </a:rPr>
              <a:t>, unit coordinator, for guidance and feedback, and our classmates who tested JobTrack.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" y="2423160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6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Background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Three part-time Master of IT students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First time using parts of the stack: .NET 10, AWS S3, Playwright, Power BI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Learned new tools while building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2" y="2651760"/>
            <a:ext cx="0" cy="3474719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0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Constraints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291840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About 8 weeks of development in a 12-week semester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Around 6 hours per person per week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Fixed technology stack and local-only deployment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43016" y="2651760"/>
            <a:ext cx="0" cy="3474719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98464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Challenges overcome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8464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98464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Requirements drifted from the build → BRD/SRS v2.0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Secure file storage → S3 presigned URLs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Test data clashes → unique data per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What JobTrack Is and How It Works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ABOUT JOBTRACK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973568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211B42"/>
                </a:solidFill>
                <a:latin typeface="Calibri"/>
              </a:rPr>
              <a:t>JobTrack is one private workspace where a job seeker records every application, tracks each status change and never misses an interview or follow-up.</a:t>
            </a:r>
          </a:p>
        </p:txBody>
      </p:sp>
      <p:cxnSp>
        <p:nvCxnSpPr>
          <p:cNvPr id="7" name="Rule"/>
          <p:cNvCxnSpPr/>
          <p:nvPr/>
        </p:nvCxnSpPr>
        <p:spPr>
          <a:xfrm>
            <a:off x="557784" y="2395728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2514600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926080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Sign up and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264408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Private account with email and a strong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26080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Add an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64408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Company, role and platform; date and status set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514600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926080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Move through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3264408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Applied → Interview → Offer, or Rejected / Withdrawn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959352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4370832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Plan interviews and follow-ups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709160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Rounds with times and contacts; reminders with due 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959352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70832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Attach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709160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The exact resume and cover letter that were 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98464" y="3959352"/>
            <a:ext cx="45720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200" b="1" i="0">
                <a:solidFill>
                  <a:srgbClr val="197566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370832"/>
            <a:ext cx="2560320" cy="3291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See what to do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4709160"/>
            <a:ext cx="2468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Dashboard: active count, interviews, overdue follow-ups</a:t>
            </a:r>
          </a:p>
        </p:txBody>
      </p:sp>
      <p:cxnSp>
        <p:nvCxnSpPr>
          <p:cNvPr id="26" name="Rule"/>
          <p:cNvCxnSpPr/>
          <p:nvPr/>
        </p:nvCxnSpPr>
        <p:spPr>
          <a:xfrm>
            <a:off x="557784" y="5468112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7784" y="557784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Behind the scenes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577840"/>
            <a:ext cx="557784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0" i="0">
                <a:solidFill>
                  <a:srgbClr val="2B2D33"/>
                </a:solidFill>
                <a:latin typeface="Calibri"/>
              </a:rPr>
              <a:t>React web app → ASP.NET Core API → PostgreSQL · documents in AWS 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Why Choose JobTrack?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PRODUCT OVERVIEW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Key strengths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Private by design: each user sees only their own data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One place for applications, interviews, follow-ups and documents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Business rules enforced by the server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6392" y="1737360"/>
            <a:ext cx="0" cy="384048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91840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Built on quality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34 requirements traced to tests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Manual and automated testing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Clear, layered architecture that is easy to extend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43016" y="1737360"/>
            <a:ext cx="0" cy="384048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98464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Usability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98464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Only valid next steps are shown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Confirmation before changes that cannot be undone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Inline editing and clear error messages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26-page user manual with screenshots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5760720"/>
            <a:ext cx="7955279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1" i="0">
                <a:solidFill>
                  <a:srgbClr val="197566"/>
                </a:solidFill>
                <a:latin typeface="Calibri"/>
              </a:rPr>
              <a:t>Value for users: </a:t>
            </a:r>
            <a:r>
              <a:rPr sz="1400" b="0" i="0">
                <a:solidFill>
                  <a:srgbClr val="2B2D33"/>
                </a:solidFill>
                <a:latin typeface="Calibri"/>
              </a:rPr>
              <a:t>fewer missed follow-ups, no duplicate applications, and a clear view of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Requirements and Status Workflow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BUSINESS ANALYST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pic>
        <p:nvPicPr>
          <p:cNvPr id="6" name="Picture 5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472" y="1600200"/>
            <a:ext cx="6117903" cy="1691640"/>
          </a:xfrm>
          <a:prstGeom prst="rect">
            <a:avLst/>
          </a:prstGeom>
        </p:spPr>
      </p:pic>
      <p:cxnSp>
        <p:nvCxnSpPr>
          <p:cNvPr id="7" name="Rule"/>
          <p:cNvCxnSpPr/>
          <p:nvPr/>
        </p:nvCxnSpPr>
        <p:spPr>
          <a:xfrm>
            <a:off x="557784" y="3429000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784" y="3520440"/>
            <a:ext cx="1920240" cy="50292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40233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B2D33"/>
                </a:solidFill>
                <a:latin typeface="Calibri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1176" y="3520440"/>
            <a:ext cx="1920240" cy="50292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40233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B2D33"/>
                </a:solidFill>
                <a:latin typeface="Calibri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520440"/>
            <a:ext cx="1920240" cy="50292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40233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B2D33"/>
                </a:solidFill>
                <a:latin typeface="Calibri"/>
              </a:rPr>
              <a:t>user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520440"/>
            <a:ext cx="1920240" cy="50292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B2D33"/>
                </a:solidFill>
                <a:latin typeface="Calibri"/>
              </a:rPr>
              <a:t>use cases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557784" y="4498848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7784" y="4617720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Ten allowed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956048"/>
            <a:ext cx="256032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Enforced by the API; the UI shows only valid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4617720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Skip to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4956048"/>
            <a:ext cx="256032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Applied → Offer only with explicit confirmation.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17720"/>
            <a:ext cx="26060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211B42"/>
                </a:solidFill>
                <a:latin typeface="Calibri"/>
              </a:rPr>
              <a:t>Restore and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956048"/>
            <a:ext cx="2560320" cy="685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Unarchive returns the prior status; every change is logged.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" y="5760720"/>
            <a:ext cx="795527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0" i="1">
                <a:solidFill>
                  <a:srgbClr val="626771"/>
                </a:solidFill>
                <a:latin typeface="Calibri"/>
              </a:rPr>
              <a:t>Documented in BRD v2.0 and SRS v2.0 (as built), with every requirement traced to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DEVELOPER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pic>
        <p:nvPicPr>
          <p:cNvPr id="6" name="Picture 5" descr="arch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91640"/>
            <a:ext cx="7955279" cy="3244262"/>
          </a:xfrm>
          <a:prstGeom prst="rect">
            <a:avLst/>
          </a:prstGeom>
          <a:ln w="9525">
            <a:solidFill>
              <a:srgbClr val="D9DB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57784" y="5349240"/>
            <a:ext cx="7955279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50" b="1" i="0">
                <a:solidFill>
                  <a:srgbClr val="211B42"/>
                </a:solidFill>
                <a:latin typeface="Calibri"/>
              </a:rPr>
              <a:t>Three tiers: </a:t>
            </a:r>
            <a:r>
              <a:rPr sz="1450" b="0" i="0">
                <a:solidFill>
                  <a:srgbClr val="2B2D33"/>
                </a:solidFill>
                <a:latin typeface="Calibri"/>
              </a:rPr>
              <a:t>the browser talks only to the API, except documents — the API issues short-lived presigned URLs so files go directly to and from S3.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Technology Stack and Security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DEVELOPER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840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50" b="1" i="0">
                <a:solidFill>
                  <a:srgbClr val="211B42"/>
                </a:solidFill>
                <a:latin typeface="Calibri"/>
              </a:rPr>
              <a:t>Technology stack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48840"/>
          <a:ext cx="3886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React 18, TypeScript, Vite, Tailwind CSS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ASP.NET Core on .NET 10, layered modules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PostgreSQL 16, Entity Framework 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AWS S3 with presigned URLs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API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Swagger / OpenAPI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Rule"/>
          <p:cNvCxnSpPr/>
          <p:nvPr/>
        </p:nvCxnSpPr>
        <p:spPr>
          <a:xfrm>
            <a:off x="4663440" y="1755648"/>
            <a:ext cx="0" cy="420624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50" b="1" i="0">
                <a:solidFill>
                  <a:srgbClr val="211B42"/>
                </a:solidFill>
                <a:latin typeface="Calibri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197566"/>
                </a:solidFill>
                <a:latin typeface="Calibri"/>
              </a:rPr>
              <a:t>Short-lived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52374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15-minute JWTs; refresh tokens rotated and revoked at logout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127248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197566"/>
                </a:solidFill>
                <a:latin typeface="Calibri"/>
              </a:rPr>
              <a:t>Hashed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456432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Passwords hashed (PBKDF2); refresh tokens stored as 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59935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197566"/>
                </a:solidFill>
                <a:latin typeface="Calibri"/>
              </a:rPr>
              <a:t>Per-user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389120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Every query scoped to the signed-in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992624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197566"/>
                </a:solidFill>
                <a:latin typeface="Calibri"/>
              </a:rPr>
              <a:t>Server-side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321808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Validation and status workflow enforced by the API; CORS restricted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Database Design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DATABASE ADMINISTRATOR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pic>
        <p:nvPicPr>
          <p:cNvPr id="6" name="Picture 5" descr="er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91640"/>
            <a:ext cx="7955279" cy="3399639"/>
          </a:xfrm>
          <a:prstGeom prst="rect">
            <a:avLst/>
          </a:prstGeom>
          <a:ln w="9525">
            <a:solidFill>
              <a:srgbClr val="D9DB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57784" y="5349240"/>
            <a:ext cx="7955279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i="0">
                <a:solidFill>
                  <a:srgbClr val="211B42"/>
                </a:solidFill>
                <a:latin typeface="Calibri"/>
              </a:rPr>
              <a:t>Seven tables: </a:t>
            </a:r>
            <a:r>
              <a:rPr sz="1400" b="0" i="0">
                <a:solidFill>
                  <a:srgbClr val="2B2D33"/>
                </a:solidFill>
                <a:latin typeface="Calibri"/>
              </a:rPr>
              <a:t>job_application is the core; users own applications and a resume library; each application has interviews, follow-ups, status history and at most one cover letter.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Maintainability, Improvements and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DEVELOPER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Maintainability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Layered backend: Api, Modules, Database, Core, Common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Feature-based React modules in TypeScript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6 versioned EF Core migrations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Swagger API docs; README setup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80 manual + 117 automated tests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6392" y="1737360"/>
            <a:ext cx="0" cy="384048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91840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Improvement areas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Add backend unit tests (xUnit)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CI pipeline: tests on every push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Fix DEF-01 and DEF-02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Performance and accessibility testing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43016" y="1737360"/>
            <a:ext cx="0" cy="384048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98464" y="16916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Future enhancements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21305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98464" y="2240280"/>
            <a:ext cx="251460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Email follow-up reminders → never miss one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Status history on screen → full timeline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Outcome reports → best platforms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Password reset → self-service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Cloud deployment → use anywhere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Development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DEVELOPMENT PROCESSES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600200"/>
            <a:ext cx="1920240" cy="548640"/>
          </a:xfrm>
          <a:prstGeom prst="rect">
            <a:avLst/>
          </a:prstGeom>
          <a:noFill/>
        </p:spPr>
        <p:txBody>
          <a:bodyPr wrap="square" lIns="36576" rIns="36576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207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commits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1600200"/>
            <a:ext cx="1920240" cy="548640"/>
          </a:xfrm>
          <a:prstGeom prst="rect">
            <a:avLst/>
          </a:prstGeom>
          <a:noFill/>
        </p:spPr>
        <p:txBody>
          <a:bodyPr wrap="square" lIns="36576" rIns="36576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contributors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1920240" cy="548640"/>
          </a:xfrm>
          <a:prstGeom prst="rect">
            <a:avLst/>
          </a:prstGeom>
          <a:noFill/>
        </p:spPr>
        <p:txBody>
          <a:bodyPr wrap="square" lIns="36576" rIns="36576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merges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1920240" cy="548640"/>
          </a:xfrm>
          <a:prstGeom prst="rect">
            <a:avLst/>
          </a:prstGeom>
          <a:noFill/>
        </p:spPr>
        <p:txBody>
          <a:bodyPr wrap="square" lIns="36576" rIns="36576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8 wks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192024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Aug 4 – Sep 29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" y="2578608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784" y="2697480"/>
            <a:ext cx="27432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i="0">
                <a:solidFill>
                  <a:srgbClr val="211B42"/>
                </a:solidFill>
                <a:latin typeface="Calibri"/>
              </a:rPr>
              <a:t>Commit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3017520"/>
            <a:ext cx="795527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 i="0">
                <a:solidFill>
                  <a:srgbClr val="197566"/>
                </a:solidFill>
                <a:latin typeface="Calibri"/>
              </a:rPr>
              <a:t>feat(dashboard): </a:t>
            </a:r>
            <a:r>
              <a:rPr sz="1300" b="0" i="0">
                <a:solidFill>
                  <a:srgbClr val="2B2D33"/>
                </a:solidFill>
                <a:latin typeface="Calibri"/>
              </a:rPr>
              <a:t>implement api for dashboard     </a:t>
            </a:r>
            <a:r>
              <a:rPr sz="1300" b="1" i="0">
                <a:solidFill>
                  <a:srgbClr val="B44E43"/>
                </a:solidFill>
                <a:latin typeface="Calibri"/>
              </a:rPr>
              <a:t>fix(auth): </a:t>
            </a:r>
            <a:r>
              <a:rPr sz="1300" b="0" i="0">
                <a:solidFill>
                  <a:srgbClr val="2B2D33"/>
                </a:solidFill>
                <a:latin typeface="Calibri"/>
              </a:rPr>
              <a:t>disable retry on use register hook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7784" y="3611880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6" y="370332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Agile / Scrum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" y="4142231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216" y="4251959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Weekly sprints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Sprint reviews in team meetings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Adapted plans as the build evolved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749039"/>
            <a:ext cx="0" cy="237744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91840" y="370332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Task management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142231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91840" y="4251959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Backlog groomed weekly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Prioritised with MoSCoW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Tasks allocated by role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Task names match commit scopes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43016" y="3749039"/>
            <a:ext cx="0" cy="237744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98464" y="370332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Tracking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98464" y="4142231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98464" y="4251959"/>
            <a:ext cx="2514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Meeting minutes every week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Individual and group timesheets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97566"/>
                </a:solidFill>
                <a:latin typeface="Calibri"/>
              </a:rPr>
              <a:t>•  </a:t>
            </a:r>
            <a:r>
              <a:rPr sz="1250" b="0">
                <a:solidFill>
                  <a:srgbClr val="2B2D33"/>
                </a:solidFill>
                <a:latin typeface="Calibri"/>
              </a:rPr>
              <a:t>Evidence linked in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Sample Dataset and Power BI Model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DATA ANALYST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54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129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status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interviews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1600200"/>
            <a:ext cx="1280160" cy="475488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400" b="1" i="0">
                <a:solidFill>
                  <a:srgbClr val="197566"/>
                </a:solidFill>
                <a:latin typeface="Calibri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2075688"/>
            <a:ext cx="1280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>
                <a:solidFill>
                  <a:srgbClr val="2B2D33"/>
                </a:solidFill>
                <a:latin typeface="Calibri"/>
              </a:rPr>
              <a:t>follow-ups</a:t>
            </a:r>
          </a:p>
        </p:txBody>
      </p:sp>
      <p:cxnSp>
        <p:nvCxnSpPr>
          <p:cNvPr id="18" name="Rule"/>
          <p:cNvCxnSpPr/>
          <p:nvPr/>
        </p:nvCxnSpPr>
        <p:spPr>
          <a:xfrm>
            <a:off x="557784" y="2487168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2578608"/>
          <a:ext cx="41148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0" name="Picture 19" descr="ModelView_Datas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697480"/>
            <a:ext cx="3840480" cy="2391068"/>
          </a:xfrm>
          <a:prstGeom prst="rect">
            <a:avLst/>
          </a:prstGeom>
          <a:ln w="9525">
            <a:solidFill>
              <a:srgbClr val="D9DBE1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663440" y="5486400"/>
            <a:ext cx="3840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i="0">
                <a:solidFill>
                  <a:srgbClr val="626771"/>
                </a:solidFill>
                <a:latin typeface="Calibri"/>
              </a:rPr>
              <a:t>Power BI model: table 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" y="5806440"/>
            <a:ext cx="7955279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50" b="1" i="0">
                <a:solidFill>
                  <a:srgbClr val="197566"/>
                </a:solidFill>
                <a:latin typeface="Calibri"/>
              </a:rPr>
              <a:t>Insight: </a:t>
            </a:r>
            <a:r>
              <a:rPr sz="1350" b="0" i="0">
                <a:solidFill>
                  <a:srgbClr val="2B2D33"/>
                </a:solidFill>
                <a:latin typeface="Calibri"/>
              </a:rPr>
              <a:t>referrals convert best — 62% reached interview and 19% an offer, vs 39% and 4% for company websites.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Status Transition and Traceability Matrices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QA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51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1" i="0">
                <a:solidFill>
                  <a:srgbClr val="626771"/>
                </a:solidFill>
                <a:latin typeface="Calibri"/>
              </a:rPr>
              <a:t>From ↓  To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00984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1376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Rejected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Withdrawn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91640"/>
            <a:ext cx="85039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 i="0">
                <a:solidFill>
                  <a:srgbClr val="211B42"/>
                </a:solidFill>
                <a:latin typeface="Calibri"/>
              </a:rPr>
              <a:t>Archived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57400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Applied</a:t>
            </a:r>
          </a:p>
        </p:txBody>
      </p:sp>
      <p:sp>
        <p:nvSpPr>
          <p:cNvPr id="14" name="Matrix cell"/>
          <p:cNvSpPr/>
          <p:nvPr/>
        </p:nvSpPr>
        <p:spPr>
          <a:xfrm>
            <a:off x="1627632" y="2057400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15" name="Matrix cell"/>
          <p:cNvSpPr/>
          <p:nvPr/>
        </p:nvSpPr>
        <p:spPr>
          <a:xfrm>
            <a:off x="2478024" y="2057400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16" name="Matrix cell"/>
          <p:cNvSpPr/>
          <p:nvPr/>
        </p:nvSpPr>
        <p:spPr>
          <a:xfrm>
            <a:off x="3328416" y="2057400"/>
            <a:ext cx="795528" cy="512064"/>
          </a:xfrm>
          <a:prstGeom prst="rect">
            <a:avLst/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A86A12"/>
                </a:solidFill>
                <a:latin typeface="Calibri"/>
              </a:rPr>
              <a:t>Confirm</a:t>
            </a:r>
          </a:p>
        </p:txBody>
      </p:sp>
      <p:sp>
        <p:nvSpPr>
          <p:cNvPr id="17" name="Matrix cell"/>
          <p:cNvSpPr/>
          <p:nvPr/>
        </p:nvSpPr>
        <p:spPr>
          <a:xfrm>
            <a:off x="4178808" y="2057400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18" name="Matrix cell"/>
          <p:cNvSpPr/>
          <p:nvPr/>
        </p:nvSpPr>
        <p:spPr>
          <a:xfrm>
            <a:off x="5029200" y="2057400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19" name="Matrix cell"/>
          <p:cNvSpPr/>
          <p:nvPr/>
        </p:nvSpPr>
        <p:spPr>
          <a:xfrm>
            <a:off x="5879592" y="205740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24328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Interview</a:t>
            </a:r>
          </a:p>
        </p:txBody>
      </p:sp>
      <p:sp>
        <p:nvSpPr>
          <p:cNvPr id="21" name="Matrix cell"/>
          <p:cNvSpPr/>
          <p:nvPr/>
        </p:nvSpPr>
        <p:spPr>
          <a:xfrm>
            <a:off x="1627632" y="2624328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22" name="Matrix cell"/>
          <p:cNvSpPr/>
          <p:nvPr/>
        </p:nvSpPr>
        <p:spPr>
          <a:xfrm>
            <a:off x="2478024" y="2624328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23" name="Matrix cell"/>
          <p:cNvSpPr/>
          <p:nvPr/>
        </p:nvSpPr>
        <p:spPr>
          <a:xfrm>
            <a:off x="3328416" y="2624328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24" name="Matrix cell"/>
          <p:cNvSpPr/>
          <p:nvPr/>
        </p:nvSpPr>
        <p:spPr>
          <a:xfrm>
            <a:off x="4178808" y="2624328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25" name="Matrix cell"/>
          <p:cNvSpPr/>
          <p:nvPr/>
        </p:nvSpPr>
        <p:spPr>
          <a:xfrm>
            <a:off x="5029200" y="2624328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26" name="Matrix cell"/>
          <p:cNvSpPr/>
          <p:nvPr/>
        </p:nvSpPr>
        <p:spPr>
          <a:xfrm>
            <a:off x="5879592" y="2624328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91256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Offer</a:t>
            </a:r>
          </a:p>
        </p:txBody>
      </p:sp>
      <p:sp>
        <p:nvSpPr>
          <p:cNvPr id="28" name="Matrix cell"/>
          <p:cNvSpPr/>
          <p:nvPr/>
        </p:nvSpPr>
        <p:spPr>
          <a:xfrm>
            <a:off x="1627632" y="3191256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29" name="Matrix cell"/>
          <p:cNvSpPr/>
          <p:nvPr/>
        </p:nvSpPr>
        <p:spPr>
          <a:xfrm>
            <a:off x="2478024" y="3191256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30" name="Matrix cell"/>
          <p:cNvSpPr/>
          <p:nvPr/>
        </p:nvSpPr>
        <p:spPr>
          <a:xfrm>
            <a:off x="3328416" y="3191256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31" name="Matrix cell"/>
          <p:cNvSpPr/>
          <p:nvPr/>
        </p:nvSpPr>
        <p:spPr>
          <a:xfrm>
            <a:off x="4178808" y="3191256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32" name="Matrix cell"/>
          <p:cNvSpPr/>
          <p:nvPr/>
        </p:nvSpPr>
        <p:spPr>
          <a:xfrm>
            <a:off x="5029200" y="3191256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33" name="Matrix cell"/>
          <p:cNvSpPr/>
          <p:nvPr/>
        </p:nvSpPr>
        <p:spPr>
          <a:xfrm>
            <a:off x="5879592" y="3191256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58183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Rejected</a:t>
            </a:r>
          </a:p>
        </p:txBody>
      </p:sp>
      <p:sp>
        <p:nvSpPr>
          <p:cNvPr id="35" name="Matrix cell"/>
          <p:cNvSpPr/>
          <p:nvPr/>
        </p:nvSpPr>
        <p:spPr>
          <a:xfrm>
            <a:off x="1627632" y="3758183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36" name="Matrix cell"/>
          <p:cNvSpPr/>
          <p:nvPr/>
        </p:nvSpPr>
        <p:spPr>
          <a:xfrm>
            <a:off x="2478024" y="3758183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37" name="Matrix cell"/>
          <p:cNvSpPr/>
          <p:nvPr/>
        </p:nvSpPr>
        <p:spPr>
          <a:xfrm>
            <a:off x="3328416" y="3758183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38" name="Matrix cell"/>
          <p:cNvSpPr/>
          <p:nvPr/>
        </p:nvSpPr>
        <p:spPr>
          <a:xfrm>
            <a:off x="4178808" y="3758183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39" name="Matrix cell"/>
          <p:cNvSpPr/>
          <p:nvPr/>
        </p:nvSpPr>
        <p:spPr>
          <a:xfrm>
            <a:off x="5029200" y="3758183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40" name="Matrix cell"/>
          <p:cNvSpPr/>
          <p:nvPr/>
        </p:nvSpPr>
        <p:spPr>
          <a:xfrm>
            <a:off x="5879592" y="3758183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325112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Withdrawn</a:t>
            </a:r>
          </a:p>
        </p:txBody>
      </p:sp>
      <p:sp>
        <p:nvSpPr>
          <p:cNvPr id="42" name="Matrix cell"/>
          <p:cNvSpPr/>
          <p:nvPr/>
        </p:nvSpPr>
        <p:spPr>
          <a:xfrm>
            <a:off x="1627632" y="4325112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43" name="Matrix cell"/>
          <p:cNvSpPr/>
          <p:nvPr/>
        </p:nvSpPr>
        <p:spPr>
          <a:xfrm>
            <a:off x="2478024" y="4325112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44" name="Matrix cell"/>
          <p:cNvSpPr/>
          <p:nvPr/>
        </p:nvSpPr>
        <p:spPr>
          <a:xfrm>
            <a:off x="3328416" y="4325112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45" name="Matrix cell"/>
          <p:cNvSpPr/>
          <p:nvPr/>
        </p:nvSpPr>
        <p:spPr>
          <a:xfrm>
            <a:off x="4178808" y="4325112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46" name="Matrix cell"/>
          <p:cNvSpPr/>
          <p:nvPr/>
        </p:nvSpPr>
        <p:spPr>
          <a:xfrm>
            <a:off x="5029200" y="4325112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47" name="Matrix cell"/>
          <p:cNvSpPr/>
          <p:nvPr/>
        </p:nvSpPr>
        <p:spPr>
          <a:xfrm>
            <a:off x="5879592" y="4325112"/>
            <a:ext cx="795528" cy="512064"/>
          </a:xfrm>
          <a:prstGeom prst="rect">
            <a:avLst/>
          </a:prstGeom>
          <a:solidFill>
            <a:srgbClr val="E6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97566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105156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i="0">
                <a:solidFill>
                  <a:srgbClr val="211B42"/>
                </a:solidFill>
                <a:latin typeface="Calibri"/>
              </a:rPr>
              <a:t>Archived</a:t>
            </a:r>
          </a:p>
        </p:txBody>
      </p:sp>
      <p:sp>
        <p:nvSpPr>
          <p:cNvPr id="49" name="Matrix cell"/>
          <p:cNvSpPr/>
          <p:nvPr/>
        </p:nvSpPr>
        <p:spPr>
          <a:xfrm>
            <a:off x="1627632" y="489204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50" name="Matrix cell"/>
          <p:cNvSpPr/>
          <p:nvPr/>
        </p:nvSpPr>
        <p:spPr>
          <a:xfrm>
            <a:off x="2478024" y="489204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51" name="Matrix cell"/>
          <p:cNvSpPr/>
          <p:nvPr/>
        </p:nvSpPr>
        <p:spPr>
          <a:xfrm>
            <a:off x="3328416" y="489204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52" name="Matrix cell"/>
          <p:cNvSpPr/>
          <p:nvPr/>
        </p:nvSpPr>
        <p:spPr>
          <a:xfrm>
            <a:off x="4178808" y="489204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53" name="Matrix cell"/>
          <p:cNvSpPr/>
          <p:nvPr/>
        </p:nvSpPr>
        <p:spPr>
          <a:xfrm>
            <a:off x="5029200" y="4892040"/>
            <a:ext cx="795528" cy="512064"/>
          </a:xfrm>
          <a:prstGeom prst="rect">
            <a:avLst/>
          </a:prstGeom>
          <a:solidFill>
            <a:srgbClr val="F8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44E43"/>
                </a:solidFill>
                <a:latin typeface="Calibri"/>
              </a:rPr>
              <a:t>✗</a:t>
            </a:r>
          </a:p>
        </p:txBody>
      </p:sp>
      <p:sp>
        <p:nvSpPr>
          <p:cNvPr id="54" name="Matrix cell"/>
          <p:cNvSpPr/>
          <p:nvPr/>
        </p:nvSpPr>
        <p:spPr>
          <a:xfrm>
            <a:off x="5879592" y="4892040"/>
            <a:ext cx="795528" cy="51206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cxnSp>
        <p:nvCxnSpPr>
          <p:cNvPr id="55" name="Rule"/>
          <p:cNvCxnSpPr/>
          <p:nvPr/>
        </p:nvCxnSpPr>
        <p:spPr>
          <a:xfrm>
            <a:off x="6858000" y="1755648"/>
            <a:ext cx="0" cy="420624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040880" y="1737360"/>
            <a:ext cx="1554480" cy="64008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3000" b="1" i="0">
                <a:solidFill>
                  <a:srgbClr val="197566"/>
                </a:solidFill>
                <a:latin typeface="Calibri"/>
              </a:rPr>
              <a:t>34 / 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2395728"/>
            <a:ext cx="15544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0">
                <a:solidFill>
                  <a:srgbClr val="2B2D33"/>
                </a:solidFill>
                <a:latin typeface="Calibri"/>
              </a:rPr>
              <a:t>requirements traced to test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352044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197566"/>
                </a:solidFill>
                <a:latin typeface="Calibri"/>
              </a:rPr>
              <a:t>✓ allowed (10)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3977639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B44E43"/>
                </a:solidFill>
                <a:latin typeface="Calibri"/>
              </a:rPr>
              <a:t>✗ blocked (20)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4434840"/>
            <a:ext cx="15544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1" i="0">
                <a:solidFill>
                  <a:srgbClr val="A86A12"/>
                </a:solidFill>
                <a:latin typeface="Calibri"/>
              </a:rPr>
              <a:t>Confirm: skip-to-offer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Automated Testing and Defects Found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QA AUTOMATION · POOJA TIWARI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64592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1945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164592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 dirty="0">
                <a:solidFill>
                  <a:srgbClr val="211B42"/>
                </a:solidFill>
                <a:latin typeface="Calibri"/>
              </a:rPr>
              <a:t>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1945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API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64592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211B42"/>
                </a:solidFill>
                <a:latin typeface="Calibri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1945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browser UI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1920240" cy="548640"/>
          </a:xfrm>
          <a:prstGeom prst="rect">
            <a:avLst/>
          </a:prstGeom>
          <a:noFill/>
        </p:spPr>
        <p:txBody>
          <a:bodyPr wrap="square" lIns="36576" tIns="18288" rIns="36576" bIns="18288" anchor="b">
            <a:spAutoFit/>
          </a:bodyPr>
          <a:lstStyle/>
          <a:p>
            <a:pPr algn="l"/>
            <a:r>
              <a:rPr sz="2800" b="1" i="0">
                <a:solidFill>
                  <a:srgbClr val="197566"/>
                </a:solidFill>
                <a:latin typeface="Calibri"/>
              </a:rPr>
              <a:t>116 / 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2B2D33"/>
                </a:solidFill>
                <a:latin typeface="Calibri"/>
              </a:rPr>
              <a:t>passed (verification run)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557784" y="2670048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784" y="2743200"/>
            <a:ext cx="7955279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626771"/>
                </a:solidFill>
                <a:latin typeface="Calibri"/>
              </a:rPr>
              <a:t>Playwright · Page Object Model · HTML and JUnit reports · techniques: equivalence partitioning, boundary values, state transitions, negative and access-control tests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" y="3383280"/>
          <a:ext cx="7955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Defect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Found by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DEF-01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B44E4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Clearing a saved link fails: the API rejects the empty value the detail page sends.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API-JA-10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11B42"/>
                          </a:solidFill>
                          <a:latin typeface="Calibri"/>
                        </a:rPr>
                        <a:t>DEF-02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A86A1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Date-range error message never shows: the browser’s own date check runs first.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D33"/>
                          </a:solidFill>
                          <a:latin typeface="Calibri"/>
                        </a:rPr>
                        <a:t>UI-SF-07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57784" y="5577840"/>
            <a:ext cx="795527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i="0">
                <a:solidFill>
                  <a:srgbClr val="B44E43"/>
                </a:solidFill>
                <a:latin typeface="Calibri"/>
              </a:rPr>
              <a:t>Next: </a:t>
            </a:r>
            <a:r>
              <a:rPr sz="1450" b="1" i="0">
                <a:solidFill>
                  <a:srgbClr val="211B42"/>
                </a:solidFill>
                <a:latin typeface="Calibri"/>
              </a:rPr>
              <a:t>fix both defects, then re-run the full suite.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56BB-2331-0309-8DC8-A5A5F509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le tag">
            <a:extLst>
              <a:ext uri="{FF2B5EF4-FFF2-40B4-BE49-F238E27FC236}">
                <a16:creationId xmlns:a16="http://schemas.microsoft.com/office/drawing/2014/main" id="{E692BA5C-F7BE-E4FC-30B1-4EBAF976CC2C}"/>
              </a:ext>
            </a:extLst>
          </p:cNvPr>
          <p:cNvSpPr txBox="1"/>
          <p:nvPr/>
        </p:nvSpPr>
        <p:spPr>
          <a:xfrm>
            <a:off x="512064" y="384048"/>
            <a:ext cx="694944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238477"/>
                </a:solidFill>
                <a:latin typeface="Aptos"/>
              </a:defRPr>
            </a:pPr>
            <a:r>
              <a:rPr lang="en-US" sz="1100" dirty="0"/>
              <a:t>TESTER · PRINCE KUMAR SAH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25C7-47E0-36F1-528B-818FF896F5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A59E-892F-A497-7800-2FC070FAF8A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8617E8-73D7-C805-25D5-8DD2DCBACB69}"/>
              </a:ext>
            </a:extLst>
          </p:cNvPr>
          <p:cNvSpPr txBox="1"/>
          <p:nvPr/>
        </p:nvSpPr>
        <p:spPr>
          <a:xfrm>
            <a:off x="594360" y="658368"/>
            <a:ext cx="708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62746"/>
                </a:solidFill>
                <a:latin typeface="Aptos Display"/>
              </a:defRPr>
            </a:pPr>
            <a:r>
              <a:t>Manual Testing 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8ADEC3-8726-A522-6F06-890B91FE0785}"/>
              </a:ext>
            </a:extLst>
          </p:cNvPr>
          <p:cNvSpPr/>
          <p:nvPr/>
        </p:nvSpPr>
        <p:spPr>
          <a:xfrm>
            <a:off x="594360" y="1325879"/>
            <a:ext cx="7863840" cy="45719"/>
          </a:xfrm>
          <a:prstGeom prst="rect">
            <a:avLst/>
          </a:prstGeom>
          <a:solidFill>
            <a:srgbClr val="D2D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70EF2307-B65A-1D7D-0099-7D23184179BF}"/>
              </a:ext>
            </a:extLst>
          </p:cNvPr>
          <p:cNvSpPr/>
          <p:nvPr/>
        </p:nvSpPr>
        <p:spPr>
          <a:xfrm>
            <a:off x="685800" y="1627632"/>
            <a:ext cx="202033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8477"/>
                </a:solidFill>
                <a:latin typeface="Aptos Display"/>
              </a:defRPr>
            </a:pPr>
            <a:r>
              <a:t>80</a:t>
            </a:r>
          </a:p>
          <a:p>
            <a:pPr algn="ctr">
              <a:defRPr sz="1050">
                <a:solidFill>
                  <a:srgbClr val="5C5C66"/>
                </a:solidFill>
                <a:latin typeface="Aptos"/>
              </a:defRPr>
            </a:pPr>
            <a:r>
              <a:t>manual test cases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B5BA77AC-6D5D-D657-37A3-8F47AEE429F6}"/>
              </a:ext>
            </a:extLst>
          </p:cNvPr>
          <p:cNvSpPr/>
          <p:nvPr/>
        </p:nvSpPr>
        <p:spPr>
          <a:xfrm>
            <a:off x="3291840" y="1627632"/>
            <a:ext cx="202033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38477"/>
                </a:solidFill>
                <a:latin typeface="Aptos Display"/>
              </a:defRPr>
            </a:pPr>
            <a:r>
              <a:t>100%</a:t>
            </a:r>
          </a:p>
          <a:p>
            <a:pPr algn="ctr">
              <a:defRPr sz="1050">
                <a:solidFill>
                  <a:srgbClr val="5C5C66"/>
                </a:solidFill>
                <a:latin typeface="Aptos"/>
              </a:defRPr>
            </a:pPr>
            <a:r>
              <a:t>passed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44743702-32BD-59A0-6C82-0BDFABD98BB2}"/>
              </a:ext>
            </a:extLst>
          </p:cNvPr>
          <p:cNvSpPr/>
          <p:nvPr/>
        </p:nvSpPr>
        <p:spPr>
          <a:xfrm>
            <a:off x="6000750" y="1627632"/>
            <a:ext cx="202033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7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8477"/>
                </a:solidFill>
                <a:latin typeface="Aptos Display"/>
              </a:defRPr>
            </a:pPr>
            <a:r>
              <a:t>Positive + Negative</a:t>
            </a:r>
          </a:p>
          <a:p>
            <a:pPr algn="ctr">
              <a:defRPr sz="1050">
                <a:solidFill>
                  <a:srgbClr val="5C5C66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801825F1-8D0C-5639-13F2-5F7DB71C994C}"/>
              </a:ext>
            </a:extLst>
          </p:cNvPr>
          <p:cNvSpPr/>
          <p:nvPr/>
        </p:nvSpPr>
        <p:spPr>
          <a:xfrm>
            <a:off x="685800" y="2971800"/>
            <a:ext cx="3703320" cy="2423160"/>
          </a:xfrm>
          <a:prstGeom prst="roundRect">
            <a:avLst/>
          </a:prstGeom>
          <a:solidFill>
            <a:srgbClr val="F4F5F8"/>
          </a:solidFill>
          <a:ln>
            <a:solidFill>
              <a:srgbClr val="DC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746"/>
                </a:solidFill>
                <a:latin typeface="Aptos"/>
              </a:defRPr>
            </a:pPr>
            <a:r>
              <a:t>What I tested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Authentication and account validation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Application creation, editing, archiving and restoring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Search and filtering behaviour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Status tracking and transition rules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Document tracking and reusable versions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Interviews, follow-ups and dashboard behaviour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BF604274-96AC-D820-BFEB-8CC496F73ABE}"/>
              </a:ext>
            </a:extLst>
          </p:cNvPr>
          <p:cNvSpPr/>
          <p:nvPr/>
        </p:nvSpPr>
        <p:spPr>
          <a:xfrm>
            <a:off x="4754882" y="2971800"/>
            <a:ext cx="3703318" cy="2423160"/>
          </a:xfrm>
          <a:prstGeom prst="roundRect">
            <a:avLst/>
          </a:prstGeom>
          <a:solidFill>
            <a:srgbClr val="F4F5F8"/>
          </a:solidFill>
          <a:ln>
            <a:solidFill>
              <a:srgbClr val="DC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2746"/>
                </a:solidFill>
                <a:latin typeface="Aptos"/>
              </a:defRPr>
            </a:pPr>
            <a:r>
              <a:t>Testing approach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Used defined test scenarios with preconditions and test data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Compared actual behaviour against expected results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Covered positive, negative, security and workflow cases</a:t>
            </a:r>
          </a:p>
          <a:p>
            <a:pPr>
              <a:spcBef>
                <a:spcPts val="600"/>
              </a:spcBef>
              <a:defRPr sz="1220">
                <a:solidFill>
                  <a:srgbClr val="262746"/>
                </a:solidFill>
                <a:latin typeface="Aptos"/>
              </a:defRPr>
            </a:pPr>
            <a:r>
              <a:t>Recorded status, actual result, evidence and defect notes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0971EF-0E5F-5593-52E6-34966A7805E4}"/>
              </a:ext>
            </a:extLst>
          </p:cNvPr>
          <p:cNvSpPr txBox="1"/>
          <p:nvPr/>
        </p:nvSpPr>
        <p:spPr>
          <a:xfrm>
            <a:off x="822960" y="5715000"/>
            <a:ext cx="742569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238477"/>
                </a:solidFill>
                <a:latin typeface="Aptos"/>
              </a:defRPr>
            </a:pPr>
            <a:r>
              <a:rPr dirty="0"/>
              <a:t>Goal: verify that implemented features satisfy expected user behavior before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793445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F9077-0C87-A863-D215-BC256D71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le tag">
            <a:extLst>
              <a:ext uri="{FF2B5EF4-FFF2-40B4-BE49-F238E27FC236}">
                <a16:creationId xmlns:a16="http://schemas.microsoft.com/office/drawing/2014/main" id="{E223E6B5-1517-C522-71EF-90473E3DD451}"/>
              </a:ext>
            </a:extLst>
          </p:cNvPr>
          <p:cNvSpPr txBox="1"/>
          <p:nvPr/>
        </p:nvSpPr>
        <p:spPr>
          <a:xfrm>
            <a:off x="512064" y="384048"/>
            <a:ext cx="694944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238477"/>
                </a:solidFill>
                <a:latin typeface="Aptos"/>
              </a:defRPr>
            </a:pPr>
            <a:r>
              <a:rPr lang="fr-FR" sz="1100" dirty="0"/>
              <a:t>TESTER · PRINCE KUMAR SAH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ADDE3-F643-F9BC-AE0D-CD6A46B9AA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2063C-4F07-3091-7D14-E7DF4A88E5A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E994A-A6F6-A06B-3F9D-4C4D30EF9420}"/>
              </a:ext>
            </a:extLst>
          </p:cNvPr>
          <p:cNvSpPr txBox="1"/>
          <p:nvPr/>
        </p:nvSpPr>
        <p:spPr>
          <a:xfrm>
            <a:off x="411480" y="731520"/>
            <a:ext cx="637794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900">
                <a:solidFill>
                  <a:srgbClr val="262746"/>
                </a:solidFill>
                <a:latin typeface="Aptos Display"/>
              </a:defRPr>
            </a:pPr>
            <a:r>
              <a:rPr lang="en-US" sz="2800" dirty="0"/>
              <a:t>Testing Results and Evidence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388C5243-AB24-90A5-D202-DE0F8E694D30}"/>
              </a:ext>
            </a:extLst>
          </p:cNvPr>
          <p:cNvSpPr/>
          <p:nvPr/>
        </p:nvSpPr>
        <p:spPr>
          <a:xfrm>
            <a:off x="640080" y="5349240"/>
            <a:ext cx="7780020" cy="731520"/>
          </a:xfrm>
          <a:prstGeom prst="roundRect">
            <a:avLst/>
          </a:prstGeom>
          <a:solidFill>
            <a:srgbClr val="EB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8477"/>
                </a:solidFill>
                <a:latin typeface="Aptos"/>
              </a:defRPr>
            </a:pPr>
            <a:r>
              <a:t>TEST EVIDENCE   •   Screenshots   •   Test videos   •   Playwright traces   •   HTML reports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8C7544D6-1912-344B-62DE-DF79F078C3A5}"/>
              </a:ext>
            </a:extLst>
          </p:cNvPr>
          <p:cNvSpPr/>
          <p:nvPr/>
        </p:nvSpPr>
        <p:spPr>
          <a:xfrm>
            <a:off x="640081" y="1645920"/>
            <a:ext cx="3667506" cy="3326130"/>
          </a:xfrm>
          <a:prstGeom prst="roundRect">
            <a:avLst/>
          </a:prstGeom>
          <a:solidFill>
            <a:srgbClr val="F4F5F8"/>
          </a:solidFill>
          <a:ln>
            <a:solidFill>
              <a:srgbClr val="DC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746"/>
                </a:solidFill>
                <a:latin typeface="Aptos"/>
              </a:defRPr>
            </a:pPr>
            <a:r>
              <a:rPr dirty="0"/>
              <a:t>Key Testing Findings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Duplicate application data could cause locator conflicts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Broad UI locators could match multiple elements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Status workflow rules were verified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Invalid status transitions were correctly blocked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Duplicate document filenames were rejected by the system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Automation was updated with unique test data and specific locators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88FFC026-948A-C0F7-E24F-6878B8DE1805}"/>
              </a:ext>
            </a:extLst>
          </p:cNvPr>
          <p:cNvSpPr/>
          <p:nvPr/>
        </p:nvSpPr>
        <p:spPr>
          <a:xfrm>
            <a:off x="4924044" y="1554480"/>
            <a:ext cx="3667506" cy="3417570"/>
          </a:xfrm>
          <a:prstGeom prst="roundRect">
            <a:avLst/>
          </a:prstGeom>
          <a:solidFill>
            <a:srgbClr val="F4F5F8"/>
          </a:solidFill>
          <a:ln>
            <a:solidFill>
              <a:srgbClr val="DC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62746"/>
                </a:solidFill>
                <a:latin typeface="Aptos"/>
              </a:defRPr>
            </a:pPr>
            <a:r>
              <a:rPr dirty="0"/>
              <a:t>Test Evidence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Manual test results and screenshots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Playwright screenshots on failures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Playwright video recordings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Trace files for debugging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HTML test reports</a:t>
            </a:r>
          </a:p>
          <a:p>
            <a:pPr marL="285750" indent="-285750">
              <a:spcBef>
                <a:spcPts val="700"/>
              </a:spcBef>
              <a:buFont typeface="Arial" panose="020B0604020202020204" pitchFamily="34" charset="0"/>
              <a:buChar char="•"/>
              <a:defRPr sz="1300">
                <a:solidFill>
                  <a:srgbClr val="262746"/>
                </a:solidFill>
                <a:latin typeface="Aptos"/>
              </a:defRPr>
            </a:pPr>
            <a:r>
              <a:rPr dirty="0"/>
              <a:t>Retesting after fixes</a:t>
            </a:r>
          </a:p>
        </p:txBody>
      </p:sp>
    </p:spTree>
    <p:extLst>
      <p:ext uri="{BB962C8B-B14F-4D97-AF65-F5344CB8AC3E}">
        <p14:creationId xmlns:p14="http://schemas.microsoft.com/office/powerpoint/2010/main" val="1146520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Team Collaboration and the Mythical Man-Month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DEVELOPMENT PROCESSES · PRINCE KUMAR SAH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7973568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700" b="1" i="0">
                <a:solidFill>
                  <a:srgbClr val="B44E43"/>
                </a:solidFill>
                <a:latin typeface="Calibri"/>
              </a:rPr>
              <a:t>Brooks’s law: </a:t>
            </a:r>
            <a:r>
              <a:rPr sz="1700" b="1" i="0">
                <a:solidFill>
                  <a:srgbClr val="211B42"/>
                </a:solidFill>
                <a:latin typeface="Calibri"/>
              </a:rPr>
              <a:t>adding people to a late software project makes it later.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7784" y="2423160"/>
            <a:ext cx="7955279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Clear ownership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216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Hieu: Developer and DBA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Pooja: BA, Report and Data Analyst, QA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Prince: Tester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Small team, no late handovers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2" y="2651760"/>
            <a:ext cx="0" cy="3474719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Collaboration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91840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Weekly meetings with action items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BRD/SRS as single source of truth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Shared GitHub repository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43016" y="2651760"/>
            <a:ext cx="0" cy="3474719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98464" y="2606040"/>
            <a:ext cx="2514600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211B42"/>
                </a:solidFill>
                <a:latin typeface="Calibri"/>
              </a:rPr>
              <a:t>Adaptive practices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8464" y="3044952"/>
            <a:ext cx="2423160" cy="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98464" y="315468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Updated requirements to v2.0 as the build changed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97566"/>
                </a:solidFill>
                <a:latin typeface="Calibri"/>
              </a:rPr>
              <a:t>•  </a:t>
            </a:r>
            <a:r>
              <a:rPr sz="1300" b="0">
                <a:solidFill>
                  <a:srgbClr val="2B2D33"/>
                </a:solidFill>
                <a:latin typeface="Calibri"/>
              </a:rPr>
              <a:t>Unique test data and specific locators after test clashes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CONCLUSION · PRINCE KUMAR SAH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1737360"/>
            <a:ext cx="3886200" cy="1645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920240"/>
            <a:ext cx="3474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97566"/>
                </a:solidFill>
                <a:latin typeface="Calibri"/>
              </a:rPr>
              <a:t>One private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23160"/>
            <a:ext cx="347472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i="0">
                <a:solidFill>
                  <a:srgbClr val="2B2D33"/>
                </a:solidFill>
                <a:latin typeface="Calibri"/>
              </a:rPr>
              <a:t>Applications, interviews, follow-ups and documents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6864" y="1737360"/>
            <a:ext cx="3886200" cy="1645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55464" y="1920240"/>
            <a:ext cx="3474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97566"/>
                </a:solidFill>
                <a:latin typeface="Calibri"/>
              </a:rPr>
              <a:t>Secure and maintainable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423160"/>
            <a:ext cx="347472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i="0">
                <a:solidFill>
                  <a:srgbClr val="2B2D33"/>
                </a:solidFill>
                <a:latin typeface="Calibri"/>
              </a:rPr>
              <a:t>Layered architecture, server-side rules, hashed passwords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" y="3611879"/>
            <a:ext cx="3886200" cy="1645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794759"/>
            <a:ext cx="3474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97566"/>
                </a:solidFill>
                <a:latin typeface="Calibri"/>
              </a:rPr>
              <a:t>Tested and traceable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297679"/>
            <a:ext cx="347472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i="0">
                <a:solidFill>
                  <a:srgbClr val="2B2D33"/>
                </a:solidFill>
                <a:latin typeface="Calibri"/>
              </a:rPr>
              <a:t>34 requirements traced · 80 manual · 117 automated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3611879"/>
            <a:ext cx="3886200" cy="1645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55464" y="3794759"/>
            <a:ext cx="3474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97566"/>
                </a:solidFill>
                <a:latin typeface="Calibri"/>
              </a:rPr>
              <a:t>Built as a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4297679"/>
            <a:ext cx="3474720" cy="8229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i="0">
                <a:solidFill>
                  <a:srgbClr val="2B2D33"/>
                </a:solidFill>
                <a:latin typeface="Calibri"/>
              </a:rPr>
              <a:t>Agile sprints, clear roles, 207 commits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5486400"/>
            <a:ext cx="7955279" cy="3657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211B42"/>
                </a:solidFill>
                <a:latin typeface="Calibri"/>
              </a:rPr>
              <a:t>JobTrack is ready for continued development — and so is our team.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" y="5870448"/>
            <a:ext cx="7955279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 i="0">
                <a:solidFill>
                  <a:srgbClr val="197566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" y="813816"/>
            <a:ext cx="8092440" cy="640080"/>
          </a:xfrm>
        </p:spPr>
        <p:txBody>
          <a:bodyPr/>
          <a:lstStyle/>
          <a:p>
            <a:pPr algn="ctr"/>
            <a:r>
              <a:rPr sz="2800">
                <a:solidFill>
                  <a:srgbClr val="2B2D33"/>
                </a:solidFill>
                <a:latin typeface="Calibri"/>
              </a:rPr>
              <a:t>Live Demo</a:t>
            </a:r>
          </a:p>
        </p:txBody>
      </p:sp>
      <p:sp>
        <p:nvSpPr>
          <p:cNvPr id="3" name="Role tag"/>
          <p:cNvSpPr txBox="1"/>
          <p:nvPr/>
        </p:nvSpPr>
        <p:spPr>
          <a:xfrm>
            <a:off x="512064" y="384048"/>
            <a:ext cx="694944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 i="0">
                <a:solidFill>
                  <a:srgbClr val="197566"/>
                </a:solidFill>
                <a:latin typeface="Calibri"/>
              </a:rPr>
              <a:t>DEMO · TRINH HIEU TRAN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3BBBA-5B2E-87C2-2F38-B5349597D1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248650" y="6457950"/>
            <a:ext cx="342900" cy="228600"/>
          </a:xfrm>
        </p:spPr>
        <p:txBody>
          <a:bodyPr lIns="0" tIns="0" rIns="0" bIns="0">
            <a:noAutofit/>
          </a:bodyPr>
          <a:lstStyle/>
          <a:p>
            <a: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18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8663E-1BD3-96A6-7654-C5F8B560365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95625" y="6457950"/>
            <a:ext cx="2905125" cy="228600"/>
          </a:xfrm>
        </p:spPr>
        <p:txBody>
          <a:bodyPr lIns="0" tIns="0" rIns="0" bIns="0">
            <a:noAutofit/>
          </a:bodyPr>
          <a:lstStyle/>
          <a:p>
            <a: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PRT681 Software Practice · Group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8404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11B42"/>
                </a:solidFill>
                <a:latin typeface="Calibri"/>
              </a:rPr>
              <a:t>One application, start to finish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Register and 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98064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Add an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01568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01568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Move it to Interview; add an interview 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05072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05072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Add a follow-up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08576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08576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Check the dashboard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411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 i="0">
                <a:solidFill>
                  <a:srgbClr val="197566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12080"/>
            <a:ext cx="3383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50" b="0" i="0">
                <a:solidFill>
                  <a:srgbClr val="2B2D33"/>
                </a:solidFill>
                <a:latin typeface="Calibri"/>
              </a:rPr>
              <a:t>Record an offer, archive, restore</a:t>
            </a:r>
          </a:p>
        </p:txBody>
      </p:sp>
      <p:cxnSp>
        <p:nvCxnSpPr>
          <p:cNvPr id="19" name="Rule"/>
          <p:cNvCxnSpPr/>
          <p:nvPr/>
        </p:nvCxnSpPr>
        <p:spPr>
          <a:xfrm>
            <a:off x="4572000" y="1755648"/>
            <a:ext cx="0" cy="4206240"/>
          </a:xfrm>
          <a:prstGeom prst="line">
            <a:avLst/>
          </a:prstGeom>
          <a:ln w="15875">
            <a:solidFill>
              <a:srgbClr val="D9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03-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703320" cy="2331519"/>
          </a:xfrm>
          <a:prstGeom prst="rect">
            <a:avLst/>
          </a:prstGeom>
          <a:ln w="9525">
            <a:solidFill>
              <a:srgbClr val="D9DBE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1657</Words>
  <Application>Microsoft Office PowerPoint</Application>
  <DocSecurity>0</DocSecurity>
  <PresentationFormat>On-screen Show (4:3)</PresentationFormat>
  <Paragraphs>366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JobTrack</vt:lpstr>
      <vt:lpstr>Acknowledgements and Our Journey</vt:lpstr>
      <vt:lpstr>What JobTrack Is and How It Works</vt:lpstr>
      <vt:lpstr>Why Choose JobTrack?</vt:lpstr>
      <vt:lpstr>Requirements and Status Workflow</vt:lpstr>
      <vt:lpstr>System Architecture</vt:lpstr>
      <vt:lpstr>Technology Stack and Security</vt:lpstr>
      <vt:lpstr>Database Design</vt:lpstr>
      <vt:lpstr>Maintainability, Improvements and Future</vt:lpstr>
      <vt:lpstr>Development Process</vt:lpstr>
      <vt:lpstr>Sample Dataset and Power BI Model</vt:lpstr>
      <vt:lpstr>Status Transition and Traceability Matrices</vt:lpstr>
      <vt:lpstr>Automated Testing and Defects Found</vt:lpstr>
      <vt:lpstr>PowerPoint Presentation</vt:lpstr>
      <vt:lpstr>PowerPoint Presentation</vt:lpstr>
      <vt:lpstr>Team Collaboration and the Mythical Man-Month</vt:lpstr>
      <vt:lpstr>Summary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Pooja Tiwari</cp:lastModifiedBy>
  <cp:revision>25</cp:revision>
  <dcterms:created xsi:type="dcterms:W3CDTF">2026-09-25T11:33:40Z</dcterms:created>
  <dcterms:modified xsi:type="dcterms:W3CDTF">2026-10-13T04:45:25Z</dcterms:modified>
</cp:coreProperties>
</file>